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8"/>
  </p:notesMasterIdLst>
  <p:sldIdLst>
    <p:sldId id="256" r:id="rId3"/>
    <p:sldId id="257" r:id="rId4"/>
    <p:sldId id="258" r:id="rId5"/>
    <p:sldId id="259" r:id="rId6"/>
    <p:sldId id="260" r:id="rId7"/>
    <p:sldId id="261" r:id="rId8"/>
    <p:sldId id="262" r:id="rId9"/>
    <p:sldId id="264" r:id="rId10"/>
    <p:sldId id="263" r:id="rId11"/>
    <p:sldId id="265" r:id="rId12"/>
    <p:sldId id="266" r:id="rId13"/>
    <p:sldId id="267" r:id="rId14"/>
    <p:sldId id="269" r:id="rId15"/>
    <p:sldId id="268"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8" userDrawn="1">
          <p15:clr>
            <a:srgbClr val="A4A3A4"/>
          </p15:clr>
        </p15:guide>
        <p15:guide id="2" pos="37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EF7D"/>
    <a:srgbClr val="11998E"/>
    <a:srgbClr val="F37335"/>
    <a:srgbClr val="FDC830"/>
    <a:srgbClr val="752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37" autoAdjust="0"/>
    <p:restoredTop sz="88581"/>
  </p:normalViewPr>
  <p:slideViewPr>
    <p:cSldViewPr snapToGrid="0" snapToObjects="1" showGuides="1">
      <p:cViewPr varScale="1">
        <p:scale>
          <a:sx n="156" d="100"/>
          <a:sy n="156" d="100"/>
        </p:scale>
        <p:origin x="1032" y="192"/>
      </p:cViewPr>
      <p:guideLst>
        <p:guide orient="horz" pos="2038"/>
        <p:guide pos="377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DB9C57-9DE0-864D-8892-8E383CD10053}"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2230F-6A15-1C40-B7C8-A7F6E63A524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Rectangle 9"/>
          <p:cNvSpPr/>
          <p:nvPr userDrawn="1"/>
        </p:nvSpPr>
        <p:spPr>
          <a:xfrm>
            <a:off x="-24143" y="0"/>
            <a:ext cx="633743" cy="6858000"/>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flipV="1">
            <a:off x="-31247" y="0"/>
            <a:ext cx="633743" cy="6858000"/>
          </a:xfrm>
          <a:prstGeom prst="rect">
            <a:avLst/>
          </a:prstGeom>
          <a:blipFill>
            <a:blip r:embed="rId2"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userDrawn="1"/>
        </p:nvSpPr>
        <p:spPr>
          <a:xfrm rot="16200000">
            <a:off x="-1800908" y="4465666"/>
            <a:ext cx="4173065" cy="338554"/>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sp>
        <p:nvSpPr>
          <p:cNvPr id="2" name="Title 1"/>
          <p:cNvSpPr>
            <a:spLocks noGrp="1"/>
          </p:cNvSpPr>
          <p:nvPr>
            <p:ph type="ctrTitle"/>
          </p:nvPr>
        </p:nvSpPr>
        <p:spPr>
          <a:xfrm>
            <a:off x="1524000" y="1923591"/>
            <a:ext cx="9144000" cy="2387600"/>
          </a:xfrm>
          <a:prstGeom prst="roundRect">
            <a:avLst>
              <a:gd name="adj" fmla="val 3901"/>
            </a:avLst>
          </a:prstGeom>
          <a:noFill/>
          <a:ln w="25400">
            <a:gradFill>
              <a:gsLst>
                <a:gs pos="0">
                  <a:schemeClr val="accent3">
                    <a:lumMod val="75000"/>
                  </a:schemeClr>
                </a:gs>
                <a:gs pos="100000">
                  <a:schemeClr val="accent4">
                    <a:lumMod val="75000"/>
                  </a:schemeClr>
                </a:gs>
              </a:gsLst>
              <a:lin ang="5400000" scaled="1"/>
            </a:gradFill>
          </a:ln>
        </p:spPr>
        <p:txBody>
          <a:bodyPr anchor="ctr"/>
          <a:lstStyle>
            <a:lvl1pPr algn="ctr">
              <a:defRPr sz="6000" b="1">
                <a:gradFill flip="none" rotWithShape="1">
                  <a:gsLst>
                    <a:gs pos="0">
                      <a:srgbClr val="11998E"/>
                    </a:gs>
                    <a:gs pos="100000">
                      <a:srgbClr val="38EF7D"/>
                    </a:gs>
                  </a:gsLst>
                  <a:lin ang="16200000" scaled="1"/>
                  <a:tileRect/>
                </a:gradFill>
              </a:defRPr>
            </a:lvl1pPr>
          </a:lstStyle>
          <a:p>
            <a:r>
              <a:rPr lang="en-US" dirty="0"/>
              <a:t>Click to edit Master title style</a:t>
            </a:r>
            <a:endParaRPr lang="en-US" dirty="0"/>
          </a:p>
        </p:txBody>
      </p:sp>
      <p:sp>
        <p:nvSpPr>
          <p:cNvPr id="4" name="Date Placeholder 3"/>
          <p:cNvSpPr>
            <a:spLocks noGrp="1"/>
          </p:cNvSpPr>
          <p:nvPr>
            <p:ph type="dt" sz="half" idx="10"/>
          </p:nvPr>
        </p:nvSpPr>
        <p:spPr/>
        <p:txBody>
          <a:bodyPr/>
          <a:lstStyle/>
          <a:p>
            <a:fld id="{B2203D80-2A77-FF40-B2F3-C1B60766027B}" type="datetime3">
              <a:rPr lang="en-US" smtClean="0"/>
            </a:fld>
            <a:endParaRPr lang="en-US" dirty="0"/>
          </a:p>
        </p:txBody>
      </p:sp>
      <p:sp>
        <p:nvSpPr>
          <p:cNvPr id="5" name="Footer Placeholder 4"/>
          <p:cNvSpPr>
            <a:spLocks noGrp="1"/>
          </p:cNvSpPr>
          <p:nvPr>
            <p:ph type="ftr" sz="quarter" idx="11"/>
          </p:nvPr>
        </p:nvSpPr>
        <p:spPr/>
        <p:txBody>
          <a:bodyPr/>
          <a:lstStyle/>
          <a:p>
            <a:r>
              <a:rPr lang="en-US"/>
              <a:t>Copyrights 2024 CE-UIT. All Rights Reserved.</a:t>
            </a:r>
            <a:endParaRPr lang="en-US" dirty="0"/>
          </a:p>
        </p:txBody>
      </p:sp>
      <p:grpSp>
        <p:nvGrpSpPr>
          <p:cNvPr id="15" name="Group 14"/>
          <p:cNvGrpSpPr/>
          <p:nvPr userDrawn="1"/>
        </p:nvGrpSpPr>
        <p:grpSpPr>
          <a:xfrm>
            <a:off x="11508226" y="243069"/>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4" name="Oval 13"/>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p:cNvGrpSpPr/>
          <p:nvPr userDrawn="1"/>
        </p:nvGrpSpPr>
        <p:grpSpPr>
          <a:xfrm>
            <a:off x="4479985" y="131938"/>
            <a:ext cx="3232030" cy="768394"/>
            <a:chOff x="4280055" y="84406"/>
            <a:chExt cx="3631889" cy="863458"/>
          </a:xfrm>
        </p:grpSpPr>
        <p:sp>
          <p:nvSpPr>
            <p:cNvPr id="23" name="Rounded Rectangle 22"/>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20" name="Picture 19"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sp>
        <p:nvSpPr>
          <p:cNvPr id="49" name="Text Placeholder 48"/>
          <p:cNvSpPr>
            <a:spLocks noGrp="1"/>
          </p:cNvSpPr>
          <p:nvPr>
            <p:ph type="body" sz="quarter" idx="14" hasCustomPrompt="1"/>
          </p:nvPr>
        </p:nvSpPr>
        <p:spPr>
          <a:xfrm>
            <a:off x="1524000" y="5542055"/>
            <a:ext cx="9144000" cy="519113"/>
          </a:xfrm>
        </p:spPr>
        <p:txBody>
          <a:bodyPr anchor="ctr">
            <a:normAutofit/>
          </a:bodyPr>
          <a:lstStyle>
            <a:lvl1pPr marL="0" indent="0" algn="ctr">
              <a:buNone/>
              <a:defRPr sz="1800" i="1"/>
            </a:lvl1pPr>
          </a:lstStyle>
          <a:p>
            <a:pPr lvl="0"/>
            <a:r>
              <a:rPr lang="en-US" dirty="0"/>
              <a:t>Địa điểm, Ngày Tháng Năm</a:t>
            </a:r>
            <a:endParaRPr lang="en-US" dirty="0"/>
          </a:p>
        </p:txBody>
      </p:sp>
      <p:sp>
        <p:nvSpPr>
          <p:cNvPr id="51" name="Text Placeholder 50"/>
          <p:cNvSpPr>
            <a:spLocks noGrp="1"/>
          </p:cNvSpPr>
          <p:nvPr>
            <p:ph type="body" sz="quarter" idx="15" hasCustomPrompt="1"/>
          </p:nvPr>
        </p:nvSpPr>
        <p:spPr>
          <a:xfrm>
            <a:off x="3730283" y="1550070"/>
            <a:ext cx="2365717" cy="381000"/>
          </a:xfrm>
          <a:prstGeom prst="roundRect">
            <a:avLst>
              <a:gd name="adj" fmla="val 8146"/>
            </a:avLst>
          </a:prstGeom>
          <a:gradFill flip="none" rotWithShape="1">
            <a:gsLst>
              <a:gs pos="100000">
                <a:schemeClr val="accent3">
                  <a:lumMod val="75000"/>
                </a:schemeClr>
              </a:gs>
              <a:gs pos="0">
                <a:schemeClr val="accent4">
                  <a:lumMod val="75000"/>
                </a:schemeClr>
              </a:gs>
            </a:gsLst>
            <a:lin ang="2700000" scaled="1"/>
            <a:tileRect/>
          </a:gradFill>
          <a:effectLst>
            <a:innerShdw blurRad="127000">
              <a:schemeClr val="bg1">
                <a:alpha val="80000"/>
              </a:schemeClr>
            </a:innerShdw>
          </a:effectLst>
        </p:spPr>
        <p:txBody>
          <a:bodyPr vert="horz" lIns="91440" tIns="45720" rIns="91440" bIns="45720" rtlCol="0" anchor="ctr">
            <a:noAutofit/>
          </a:bodyPr>
          <a:lstStyle>
            <a:lvl1pPr>
              <a:defRPr lang="en-US" sz="1600" b="1" dirty="0">
                <a:solidFill>
                  <a:schemeClr val="bg1"/>
                </a:solidFill>
              </a:defRPr>
            </a:lvl1pPr>
          </a:lstStyle>
          <a:p>
            <a:pPr marL="0" lvl="0" indent="0">
              <a:buNone/>
            </a:pPr>
            <a:r>
              <a:rPr lang="en-US" dirty="0"/>
              <a:t>Loại trình bày</a:t>
            </a:r>
            <a:endParaRPr lang="en-US" dirty="0"/>
          </a:p>
        </p:txBody>
      </p:sp>
      <p:sp>
        <p:nvSpPr>
          <p:cNvPr id="52" name="Text Placeholder 50"/>
          <p:cNvSpPr>
            <a:spLocks noGrp="1"/>
          </p:cNvSpPr>
          <p:nvPr>
            <p:ph type="body" sz="quarter" idx="16" hasCustomPrompt="1"/>
          </p:nvPr>
        </p:nvSpPr>
        <p:spPr>
          <a:xfrm>
            <a:off x="6096000" y="4309683"/>
            <a:ext cx="3388242" cy="381000"/>
          </a:xfrm>
          <a:prstGeom prst="roundRect">
            <a:avLst>
              <a:gd name="adj" fmla="val 8146"/>
            </a:avLst>
          </a:prstGeom>
          <a:gradFill flip="none" rotWithShape="1">
            <a:gsLst>
              <a:gs pos="100000">
                <a:schemeClr val="accent3">
                  <a:lumMod val="75000"/>
                </a:schemeClr>
              </a:gs>
              <a:gs pos="0">
                <a:schemeClr val="accent4">
                  <a:lumMod val="75000"/>
                </a:schemeClr>
              </a:gs>
            </a:gsLst>
            <a:lin ang="2700000" scaled="1"/>
            <a:tileRect/>
          </a:gradFill>
          <a:effectLst>
            <a:innerShdw blurRad="127000">
              <a:schemeClr val="bg1">
                <a:alpha val="80000"/>
              </a:schemeClr>
            </a:innerShdw>
          </a:effectLst>
        </p:spPr>
        <p:txBody>
          <a:bodyPr vert="horz" lIns="91440" tIns="45720" rIns="91440" bIns="45720" rtlCol="0" anchor="ctr">
            <a:noAutofit/>
          </a:bodyPr>
          <a:lstStyle>
            <a:lvl1pPr>
              <a:defRPr lang="en-US" sz="1600" b="1" dirty="0">
                <a:solidFill>
                  <a:schemeClr val="bg1"/>
                </a:solidFill>
              </a:defRPr>
            </a:lvl1pPr>
          </a:lstStyle>
          <a:p>
            <a:pPr marL="0" lvl="0" indent="0">
              <a:buNone/>
            </a:pPr>
            <a:r>
              <a:rPr lang="en-US" dirty="0"/>
              <a:t>Trình bày: …</a:t>
            </a:r>
            <a:endParaRPr lang="en-US" dirty="0"/>
          </a:p>
        </p:txBody>
      </p:sp>
      <p:sp>
        <p:nvSpPr>
          <p:cNvPr id="6" name="Slide Number Placeholder 5"/>
          <p:cNvSpPr>
            <a:spLocks noGrp="1"/>
          </p:cNvSpPr>
          <p:nvPr>
            <p:ph type="sldNum" sz="quarter" idx="12"/>
          </p:nvPr>
        </p:nvSpPr>
        <p:spPr>
          <a:xfrm>
            <a:off x="10409692" y="333573"/>
            <a:ext cx="2743200" cy="365125"/>
          </a:xfrm>
        </p:spPr>
        <p:txBody>
          <a:bodyPr/>
          <a:lstStyle>
            <a:lvl1pPr algn="ctr">
              <a:defRPr b="1">
                <a:solidFill>
                  <a:schemeClr val="bg1"/>
                </a:solidFill>
              </a:defRPr>
            </a:lvl1pPr>
          </a:lstStyle>
          <a:p>
            <a:fld id="{48F63A3B-78C7-47BE-AE5E-E10140E04643}" type="slidenum">
              <a:rPr lang="en-US" smtClean="0"/>
            </a:fld>
            <a:endParaRPr lang="en-US" dirty="0"/>
          </a:p>
        </p:txBody>
      </p:sp>
      <p:sp>
        <p:nvSpPr>
          <p:cNvPr id="53" name="Freeform 52"/>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236403" y="6356350"/>
            <a:ext cx="2743200" cy="365125"/>
          </a:xfrm>
        </p:spPr>
        <p:txBody>
          <a:bodyPr/>
          <a:lstStyle/>
          <a:p>
            <a:fld id="{ACF17CAC-8297-FC4A-82FA-F61255D7A70E}" type="datetime3">
              <a:rPr lang="en-US" smtClean="0"/>
            </a:fld>
            <a:endParaRPr lang="en-US" dirty="0"/>
          </a:p>
        </p:txBody>
      </p:sp>
      <p:sp>
        <p:nvSpPr>
          <p:cNvPr id="5" name="Footer Placeholder 4"/>
          <p:cNvSpPr>
            <a:spLocks noGrp="1"/>
          </p:cNvSpPr>
          <p:nvPr>
            <p:ph type="ftr" sz="quarter" idx="11"/>
          </p:nvPr>
        </p:nvSpPr>
        <p:spPr>
          <a:xfrm>
            <a:off x="7232650" y="6356350"/>
            <a:ext cx="4114800" cy="365125"/>
          </a:xfrm>
        </p:spPr>
        <p:txBody>
          <a:bodyPr/>
          <a:lstStyle/>
          <a:p>
            <a:r>
              <a:rPr lang="en-US"/>
              <a:t>Copyrights 2024 CE-UIT. All Rights Reserved.</a:t>
            </a:r>
            <a:endParaRPr lang="en-US" dirty="0"/>
          </a:p>
        </p:txBody>
      </p:sp>
      <p:sp>
        <p:nvSpPr>
          <p:cNvPr id="7" name="Rectangle 6"/>
          <p:cNvSpPr/>
          <p:nvPr userDrawn="1"/>
        </p:nvSpPr>
        <p:spPr>
          <a:xfrm>
            <a:off x="-24143" y="0"/>
            <a:ext cx="4056393" cy="6858000"/>
          </a:xfrm>
          <a:prstGeom prst="rect">
            <a:avLst/>
          </a:prstGeom>
          <a:gradFill>
            <a:gsLst>
              <a:gs pos="0">
                <a:srgbClr val="38EF7D"/>
              </a:gs>
              <a:gs pos="100000">
                <a:srgbClr val="11998E"/>
              </a:gs>
            </a:gsLst>
            <a:lin ang="54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flipV="1">
            <a:off x="-31247" y="0"/>
            <a:ext cx="1804783" cy="6858000"/>
          </a:xfrm>
          <a:prstGeom prst="rect">
            <a:avLst/>
          </a:prstGeom>
          <a:blipFill>
            <a:blip r:embed="rId2"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rot="16200000">
            <a:off x="-1800908" y="4465666"/>
            <a:ext cx="4173065" cy="338554"/>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2" name="Group 11"/>
          <p:cNvGrpSpPr/>
          <p:nvPr userDrawn="1"/>
        </p:nvGrpSpPr>
        <p:grpSpPr>
          <a:xfrm>
            <a:off x="4479985" y="131938"/>
            <a:ext cx="3232030" cy="768394"/>
            <a:chOff x="4280055" y="84406"/>
            <a:chExt cx="3631889" cy="863458"/>
          </a:xfrm>
        </p:grpSpPr>
        <p:sp>
          <p:nvSpPr>
            <p:cNvPr id="13" name="Rounded Rectangle 12"/>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6" name="Picture 15"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8" name="Group 17"/>
          <p:cNvGrpSpPr/>
          <p:nvPr userDrawn="1"/>
        </p:nvGrpSpPr>
        <p:grpSpPr>
          <a:xfrm>
            <a:off x="11508226" y="243069"/>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9" name="Oval 18"/>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p:cNvSpPr>
            <a:spLocks noGrp="1"/>
          </p:cNvSpPr>
          <p:nvPr>
            <p:ph type="sldNum" sz="quarter" idx="12"/>
          </p:nvPr>
        </p:nvSpPr>
        <p:spPr>
          <a:xfrm>
            <a:off x="10409692" y="332284"/>
            <a:ext cx="2743200" cy="365125"/>
          </a:xfrm>
        </p:spPr>
        <p:txBody>
          <a:bodyPr/>
          <a:lstStyle>
            <a:lvl1pPr algn="ctr">
              <a:defRPr>
                <a:solidFill>
                  <a:schemeClr val="bg1"/>
                </a:solidFill>
              </a:defRPr>
            </a:lvl1pPr>
          </a:lstStyle>
          <a:p>
            <a:fld id="{48F63A3B-78C7-47BE-AE5E-E10140E04643}" type="slidenum">
              <a:rPr lang="en-US" smtClean="0"/>
            </a:fld>
            <a:endParaRPr lang="en-US" dirty="0"/>
          </a:p>
        </p:txBody>
      </p:sp>
      <p:sp>
        <p:nvSpPr>
          <p:cNvPr id="22" name="Rounded Rectangle 21"/>
          <p:cNvSpPr/>
          <p:nvPr userDrawn="1"/>
        </p:nvSpPr>
        <p:spPr>
          <a:xfrm>
            <a:off x="1136821" y="1450428"/>
            <a:ext cx="10210628" cy="4289654"/>
          </a:xfrm>
          <a:prstGeom prst="roundRect">
            <a:avLst>
              <a:gd name="adj" fmla="val 2701"/>
            </a:avLst>
          </a:prstGeom>
          <a:blipFill>
            <a:blip r:embed="rId5"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36821" y="1450428"/>
            <a:ext cx="10210628" cy="4289654"/>
          </a:xfrm>
          <a:prstGeom prst="roundRect">
            <a:avLst>
              <a:gd name="adj" fmla="val 2701"/>
            </a:avLst>
          </a:prstGeom>
          <a:gradFill>
            <a:gsLst>
              <a:gs pos="0">
                <a:srgbClr val="38EF7D">
                  <a:alpha val="40000"/>
                </a:srgbClr>
              </a:gs>
              <a:gs pos="100000">
                <a:srgbClr val="11998E">
                  <a:alpha val="40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53362" y="2425382"/>
            <a:ext cx="9177548" cy="1505953"/>
          </a:xfrm>
          <a:prstGeom prst="rect">
            <a:avLst/>
          </a:prstGeom>
          <a:noFill/>
          <a:ln w="12700">
            <a:noFill/>
          </a:ln>
          <a:effectLst/>
        </p:spPr>
        <p:txBody>
          <a:bodyPr anchor="ctr">
            <a:normAutofit/>
          </a:bodyPr>
          <a:lstStyle>
            <a:lvl1pPr>
              <a:defRPr sz="5400" b="1">
                <a:solidFill>
                  <a:schemeClr val="bg1"/>
                </a:solidFill>
              </a:defRPr>
            </a:lvl1pPr>
          </a:lstStyle>
          <a:p>
            <a:r>
              <a:rPr lang="en-US" dirty="0"/>
              <a:t>Click to edit Master title style</a:t>
            </a:r>
            <a:endParaRPr lang="en-US" dirty="0"/>
          </a:p>
        </p:txBody>
      </p:sp>
      <p:sp>
        <p:nvSpPr>
          <p:cNvPr id="3" name="Text Placeholder 2"/>
          <p:cNvSpPr>
            <a:spLocks noGrp="1"/>
          </p:cNvSpPr>
          <p:nvPr>
            <p:ph type="body" idx="1"/>
          </p:nvPr>
        </p:nvSpPr>
        <p:spPr>
          <a:xfrm>
            <a:off x="1653362" y="4108231"/>
            <a:ext cx="5564835" cy="741925"/>
          </a:xfrm>
        </p:spPr>
        <p:txBody>
          <a:bodyPr/>
          <a:lstStyle>
            <a:lvl1pPr marL="0" indent="0" algn="l">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25" name="Content Placeholder 24"/>
          <p:cNvSpPr>
            <a:spLocks noGrp="1"/>
          </p:cNvSpPr>
          <p:nvPr>
            <p:ph sz="quarter" idx="13" hasCustomPrompt="1"/>
          </p:nvPr>
        </p:nvSpPr>
        <p:spPr>
          <a:xfrm>
            <a:off x="1653362" y="561276"/>
            <a:ext cx="2052637" cy="1785937"/>
          </a:xfrm>
        </p:spPr>
        <p:txBody>
          <a:bodyPr>
            <a:noAutofit/>
          </a:bodyPr>
          <a:lstStyle>
            <a:lvl1pPr marL="0" indent="0">
              <a:buNone/>
              <a:defRPr sz="11500" b="1">
                <a:solidFill>
                  <a:schemeClr val="bg1">
                    <a:alpha val="65236"/>
                  </a:schemeClr>
                </a:solidFill>
                <a:effectLst>
                  <a:outerShdw blurRad="63500" sx="102000" sy="102000" algn="ctr" rotWithShape="0">
                    <a:prstClr val="black">
                      <a:alpha val="40000"/>
                    </a:prstClr>
                  </a:outerShdw>
                </a:effectLst>
              </a:defRPr>
            </a:lvl1pPr>
          </a:lstStyle>
          <a:p>
            <a:pPr lvl="0"/>
            <a:r>
              <a:rPr lang="en-US" dirty="0"/>
              <a:t>01</a:t>
            </a:r>
            <a:endParaRPr lang="en-US" dirty="0"/>
          </a:p>
        </p:txBody>
      </p:sp>
      <p:sp>
        <p:nvSpPr>
          <p:cNvPr id="10" name="Freeform 9"/>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endParaRPr lang="en-US" dirty="0"/>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5400000" flipV="1">
            <a:off x="578022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0" name="Group 9"/>
          <p:cNvGrpSpPr/>
          <p:nvPr userDrawn="1"/>
        </p:nvGrpSpPr>
        <p:grpSpPr>
          <a:xfrm>
            <a:off x="4479985" y="241694"/>
            <a:ext cx="3232030" cy="768394"/>
            <a:chOff x="4280055" y="84406"/>
            <a:chExt cx="3631889" cy="863458"/>
          </a:xfrm>
        </p:grpSpPr>
        <p:sp>
          <p:nvSpPr>
            <p:cNvPr id="11" name="Rounded Rectangle 10"/>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4" name="Picture 13"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9" name="Group 18"/>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fld>
            <a:endParaRPr lang="en-US" dirty="0"/>
          </a:p>
        </p:txBody>
      </p:sp>
      <p:sp>
        <p:nvSpPr>
          <p:cNvPr id="24" name="Freeform 23"/>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endParaRPr lang="en-US" dirty="0"/>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5400000" flipV="1">
            <a:off x="578022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0" name="Group 9"/>
          <p:cNvGrpSpPr/>
          <p:nvPr userDrawn="1"/>
        </p:nvGrpSpPr>
        <p:grpSpPr>
          <a:xfrm>
            <a:off x="4479985" y="241694"/>
            <a:ext cx="3232030" cy="768394"/>
            <a:chOff x="4280055" y="84406"/>
            <a:chExt cx="3631889" cy="863458"/>
          </a:xfrm>
        </p:grpSpPr>
        <p:sp>
          <p:nvSpPr>
            <p:cNvPr id="11" name="Rounded Rectangle 10"/>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4" name="Picture 13"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9" name="Group 18"/>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fld>
            <a:endParaRPr lang="en-US" dirty="0"/>
          </a:p>
        </p:txBody>
      </p:sp>
      <p:sp>
        <p:nvSpPr>
          <p:cNvPr id="24" name="Freeform 23"/>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endParaRPr lang="en-US" dirty="0"/>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5400000" flipV="1">
            <a:off x="578022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0" name="Group 9"/>
          <p:cNvGrpSpPr/>
          <p:nvPr userDrawn="1"/>
        </p:nvGrpSpPr>
        <p:grpSpPr>
          <a:xfrm>
            <a:off x="4479985" y="241694"/>
            <a:ext cx="3232030" cy="768394"/>
            <a:chOff x="4280055" y="84406"/>
            <a:chExt cx="3631889" cy="863458"/>
          </a:xfrm>
        </p:grpSpPr>
        <p:sp>
          <p:nvSpPr>
            <p:cNvPr id="11" name="Rounded Rectangle 10"/>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4" name="Picture 13"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9" name="Group 18"/>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fld>
            <a:endParaRPr lang="en-US" dirty="0"/>
          </a:p>
        </p:txBody>
      </p:sp>
      <p:sp>
        <p:nvSpPr>
          <p:cNvPr id="24" name="Freeform 23"/>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endParaRPr lang="en-US" dirty="0"/>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5400000" flipV="1">
            <a:off x="578022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0" name="Group 9"/>
          <p:cNvGrpSpPr/>
          <p:nvPr userDrawn="1"/>
        </p:nvGrpSpPr>
        <p:grpSpPr>
          <a:xfrm>
            <a:off x="4479985" y="241694"/>
            <a:ext cx="3232030" cy="768394"/>
            <a:chOff x="4280055" y="84406"/>
            <a:chExt cx="3631889" cy="863458"/>
          </a:xfrm>
        </p:grpSpPr>
        <p:sp>
          <p:nvSpPr>
            <p:cNvPr id="11" name="Rounded Rectangle 10"/>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4" name="Picture 13"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9" name="Group 18"/>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fld>
            <a:endParaRPr lang="en-US" dirty="0"/>
          </a:p>
        </p:txBody>
      </p:sp>
      <p:sp>
        <p:nvSpPr>
          <p:cNvPr id="24" name="Freeform 23"/>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dirty="0"/>
              <a:t>Click to edit Master title style</a:t>
            </a:r>
            <a:endParaRPr lang="en-US" dirty="0"/>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fld>
            <a:endParaRPr lang="en-US" dirty="0"/>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endParaRPr lang="en-US" dirty="0"/>
          </a:p>
        </p:txBody>
      </p:sp>
      <p:sp>
        <p:nvSpPr>
          <p:cNvPr id="7" name="Rectangle 6"/>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5400000" flipV="1">
            <a:off x="578022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0" name="Group 9"/>
          <p:cNvGrpSpPr/>
          <p:nvPr userDrawn="1"/>
        </p:nvGrpSpPr>
        <p:grpSpPr>
          <a:xfrm>
            <a:off x="4479985" y="241694"/>
            <a:ext cx="3232030" cy="768394"/>
            <a:chOff x="4280055" y="84406"/>
            <a:chExt cx="3631889" cy="863458"/>
          </a:xfrm>
        </p:grpSpPr>
        <p:sp>
          <p:nvSpPr>
            <p:cNvPr id="11" name="Rounded Rectangle 10"/>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4" name="Picture 13"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9" name="Group 18"/>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fld>
            <a:endParaRPr lang="en-US" dirty="0"/>
          </a:p>
        </p:txBody>
      </p:sp>
      <p:sp>
        <p:nvSpPr>
          <p:cNvPr id="24" name="Freeform 23"/>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898975"/>
            <a:ext cx="10980000" cy="841231"/>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endParaRPr lang="en-US" dirty="0"/>
          </a:p>
        </p:txBody>
      </p:sp>
      <p:sp>
        <p:nvSpPr>
          <p:cNvPr id="3" name="Content Placeholder 2"/>
          <p:cNvSpPr>
            <a:spLocks noGrp="1"/>
          </p:cNvSpPr>
          <p:nvPr>
            <p:ph sz="half" idx="1"/>
          </p:nvPr>
        </p:nvSpPr>
        <p:spPr>
          <a:xfrm>
            <a:off x="616856" y="2006210"/>
            <a:ext cx="5310000" cy="417075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76000" y="2006210"/>
            <a:ext cx="5310000" cy="417075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04E05FC-80DB-0148-874D-D86DE9D2ADC5}" type="datetime3">
              <a:rPr lang="en-US" smtClean="0"/>
            </a:fld>
            <a:endParaRPr lang="en-US" dirty="0"/>
          </a:p>
        </p:txBody>
      </p:sp>
      <p:sp>
        <p:nvSpPr>
          <p:cNvPr id="6" name="Footer Placeholder 5"/>
          <p:cNvSpPr>
            <a:spLocks noGrp="1"/>
          </p:cNvSpPr>
          <p:nvPr>
            <p:ph type="ftr" sz="quarter" idx="11"/>
          </p:nvPr>
        </p:nvSpPr>
        <p:spPr/>
        <p:txBody>
          <a:bodyPr/>
          <a:lstStyle/>
          <a:p>
            <a:r>
              <a:rPr lang="en-US"/>
              <a:t>Copyrights 2024 CE-UIT. All Rights Reserved.</a:t>
            </a:r>
            <a:endParaRPr lang="en-US" dirty="0"/>
          </a:p>
        </p:txBody>
      </p:sp>
      <p:sp>
        <p:nvSpPr>
          <p:cNvPr id="8" name="Rectangle 7"/>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5400000" flipV="1">
            <a:off x="577898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1" name="Group 10"/>
          <p:cNvGrpSpPr/>
          <p:nvPr userDrawn="1"/>
        </p:nvGrpSpPr>
        <p:grpSpPr>
          <a:xfrm>
            <a:off x="4479985" y="241694"/>
            <a:ext cx="3232030" cy="768394"/>
            <a:chOff x="4280055" y="84406"/>
            <a:chExt cx="3631889" cy="863458"/>
          </a:xfrm>
        </p:grpSpPr>
        <p:sp>
          <p:nvSpPr>
            <p:cNvPr id="12" name="Rounded Rectangle 11"/>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5" name="Picture 14"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6" name="Group 15"/>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Freeform 18"/>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6000" y="891895"/>
            <a:ext cx="10980000" cy="989289"/>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endParaRPr lang="en-US" dirty="0"/>
          </a:p>
        </p:txBody>
      </p:sp>
      <p:sp>
        <p:nvSpPr>
          <p:cNvPr id="3" name="Text Placeholder 2"/>
          <p:cNvSpPr>
            <a:spLocks noGrp="1"/>
          </p:cNvSpPr>
          <p:nvPr>
            <p:ph type="body" idx="1"/>
          </p:nvPr>
        </p:nvSpPr>
        <p:spPr>
          <a:xfrm>
            <a:off x="606001" y="1992588"/>
            <a:ext cx="5310000" cy="643036"/>
          </a:xfrm>
        </p:spPr>
        <p:txBody>
          <a:bodyPr anchor="ctr"/>
          <a:lstStyle>
            <a:lvl1pPr marL="0" indent="0">
              <a:buNone/>
              <a:defRPr sz="2400" b="1">
                <a:gradFill flip="none" rotWithShape="1">
                  <a:gsLst>
                    <a:gs pos="0">
                      <a:schemeClr val="accent6"/>
                    </a:gs>
                    <a:gs pos="100000">
                      <a:schemeClr val="accent5"/>
                    </a:gs>
                  </a:gsLst>
                  <a:lin ang="2700000" scaled="1"/>
                  <a:tileRect/>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06001" y="2747028"/>
            <a:ext cx="5310000" cy="344263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76000" y="1992588"/>
            <a:ext cx="5310000" cy="643036"/>
          </a:xfrm>
        </p:spPr>
        <p:txBody>
          <a:bodyPr anchor="ctr">
            <a:normAutofit/>
          </a:bodyPr>
          <a:lstStyle>
            <a:lvl1pPr marL="0" indent="0">
              <a:buNone/>
              <a:defRPr lang="en-US" sz="2400" b="1" kern="1200" dirty="0">
                <a:gradFill flip="none" rotWithShape="1">
                  <a:gsLst>
                    <a:gs pos="0">
                      <a:schemeClr val="accent6"/>
                    </a:gs>
                    <a:gs pos="100000">
                      <a:schemeClr val="accent5"/>
                    </a:gs>
                  </a:gsLst>
                  <a:lin ang="2700000" scaled="1"/>
                  <a:tileRect/>
                </a:gra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endParaRPr lang="en-US" dirty="0"/>
          </a:p>
        </p:txBody>
      </p:sp>
      <p:sp>
        <p:nvSpPr>
          <p:cNvPr id="6" name="Content Placeholder 5"/>
          <p:cNvSpPr>
            <a:spLocks noGrp="1"/>
          </p:cNvSpPr>
          <p:nvPr>
            <p:ph sz="quarter" idx="4"/>
          </p:nvPr>
        </p:nvSpPr>
        <p:spPr>
          <a:xfrm>
            <a:off x="6276000" y="2747028"/>
            <a:ext cx="5310000" cy="344263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EA5D97B-A544-724E-B7AA-E954CECFEC59}" type="datetime3">
              <a:rPr lang="en-US" smtClean="0"/>
            </a:fld>
            <a:endParaRPr lang="en-US" dirty="0"/>
          </a:p>
        </p:txBody>
      </p:sp>
      <p:sp>
        <p:nvSpPr>
          <p:cNvPr id="8" name="Footer Placeholder 7"/>
          <p:cNvSpPr>
            <a:spLocks noGrp="1"/>
          </p:cNvSpPr>
          <p:nvPr>
            <p:ph type="ftr" sz="quarter" idx="11"/>
          </p:nvPr>
        </p:nvSpPr>
        <p:spPr/>
        <p:txBody>
          <a:bodyPr/>
          <a:lstStyle/>
          <a:p>
            <a:r>
              <a:rPr lang="en-US"/>
              <a:t>Copyrights 2024 CE-UIT. All Rights Reserved.</a:t>
            </a:r>
            <a:endParaRPr lang="en-US" dirty="0"/>
          </a:p>
        </p:txBody>
      </p:sp>
      <p:sp>
        <p:nvSpPr>
          <p:cNvPr id="10" name="Rectangle 9"/>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rot="5400000" flipV="1">
            <a:off x="577898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3" name="Group 12"/>
          <p:cNvGrpSpPr/>
          <p:nvPr userDrawn="1"/>
        </p:nvGrpSpPr>
        <p:grpSpPr>
          <a:xfrm>
            <a:off x="4479985" y="241694"/>
            <a:ext cx="3232030" cy="768394"/>
            <a:chOff x="4280055" y="84406"/>
            <a:chExt cx="3631889" cy="863458"/>
          </a:xfrm>
        </p:grpSpPr>
        <p:sp>
          <p:nvSpPr>
            <p:cNvPr id="14" name="Rounded Rectangle 13"/>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7" name="Picture 16"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8" name="Group 17"/>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9" name="Oval 18"/>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Freeform 20"/>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lide Number Placeholder 8"/>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6000" y="977990"/>
            <a:ext cx="10980000" cy="986400"/>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endParaRPr lang="en-US" dirty="0"/>
          </a:p>
        </p:txBody>
      </p:sp>
      <p:sp>
        <p:nvSpPr>
          <p:cNvPr id="3" name="Date Placeholder 2"/>
          <p:cNvSpPr>
            <a:spLocks noGrp="1"/>
          </p:cNvSpPr>
          <p:nvPr>
            <p:ph type="dt" sz="half" idx="10"/>
          </p:nvPr>
        </p:nvSpPr>
        <p:spPr/>
        <p:txBody>
          <a:bodyPr/>
          <a:lstStyle/>
          <a:p>
            <a:fld id="{81720595-1D13-FB4B-A345-0906822BCC7D}" type="datetime3">
              <a:rPr lang="en-US" smtClean="0"/>
            </a:fld>
            <a:endParaRPr lang="en-US" dirty="0"/>
          </a:p>
        </p:txBody>
      </p:sp>
      <p:sp>
        <p:nvSpPr>
          <p:cNvPr id="4" name="Footer Placeholder 3"/>
          <p:cNvSpPr>
            <a:spLocks noGrp="1"/>
          </p:cNvSpPr>
          <p:nvPr>
            <p:ph type="ftr" sz="quarter" idx="11"/>
          </p:nvPr>
        </p:nvSpPr>
        <p:spPr/>
        <p:txBody>
          <a:bodyPr/>
          <a:lstStyle/>
          <a:p>
            <a:r>
              <a:rPr lang="en-US"/>
              <a:t>Copyrights 2024 CE-UIT. All Rights Reserved.</a:t>
            </a:r>
            <a:endParaRPr lang="en-US" dirty="0"/>
          </a:p>
        </p:txBody>
      </p:sp>
      <p:sp>
        <p:nvSpPr>
          <p:cNvPr id="6" name="Rectangle 5"/>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rot="5400000" flipV="1">
            <a:off x="577898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9" name="Group 8"/>
          <p:cNvGrpSpPr/>
          <p:nvPr userDrawn="1"/>
        </p:nvGrpSpPr>
        <p:grpSpPr>
          <a:xfrm>
            <a:off x="4479985" y="241694"/>
            <a:ext cx="3232030" cy="768394"/>
            <a:chOff x="4280055" y="84406"/>
            <a:chExt cx="3631889" cy="863458"/>
          </a:xfrm>
        </p:grpSpPr>
        <p:sp>
          <p:nvSpPr>
            <p:cNvPr id="10" name="Rounded Rectangle 9"/>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3" name="Picture 12"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4" name="Group 13"/>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5" name="Oval 14"/>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Freeform 16"/>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4"/>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fld>
            <a:endParaRPr lang="en-US" dirty="0"/>
          </a:p>
        </p:txBody>
      </p:sp>
      <p:sp>
        <p:nvSpPr>
          <p:cNvPr id="3" name="Footer Placeholder 2"/>
          <p:cNvSpPr>
            <a:spLocks noGrp="1"/>
          </p:cNvSpPr>
          <p:nvPr>
            <p:ph type="ftr" sz="quarter" idx="11"/>
          </p:nvPr>
        </p:nvSpPr>
        <p:spPr/>
        <p:txBody>
          <a:bodyPr/>
          <a:lstStyle/>
          <a:p>
            <a:r>
              <a:rPr lang="en-US"/>
              <a:t>Copyrights 2024 CE-UIT. All Rights Reserved.</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fld>
            <a:endParaRPr lang="en-US" dirty="0"/>
          </a:p>
        </p:txBody>
      </p:sp>
      <p:sp>
        <p:nvSpPr>
          <p:cNvPr id="3" name="Footer Placeholder 2"/>
          <p:cNvSpPr>
            <a:spLocks noGrp="1"/>
          </p:cNvSpPr>
          <p:nvPr>
            <p:ph type="ftr" sz="quarter" idx="11"/>
          </p:nvPr>
        </p:nvSpPr>
        <p:spPr/>
        <p:txBody>
          <a:bodyPr/>
          <a:lstStyle/>
          <a:p>
            <a:r>
              <a:rPr lang="en-US"/>
              <a:t>Copyrights 2024 CE-UIT. All Rights Reserved.</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fld>
            <a:endParaRPr lang="en-US" dirty="0"/>
          </a:p>
        </p:txBody>
      </p:sp>
      <p:sp>
        <p:nvSpPr>
          <p:cNvPr id="3" name="Footer Placeholder 2"/>
          <p:cNvSpPr>
            <a:spLocks noGrp="1"/>
          </p:cNvSpPr>
          <p:nvPr>
            <p:ph type="ftr" sz="quarter" idx="11"/>
          </p:nvPr>
        </p:nvSpPr>
        <p:spPr/>
        <p:txBody>
          <a:bodyPr/>
          <a:lstStyle/>
          <a:p>
            <a:r>
              <a:rPr lang="en-US"/>
              <a:t>Copyrights 2024 CE-UIT. All Rights Reserved.</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7226" y="1248198"/>
            <a:ext cx="4114799" cy="1399587"/>
          </a:xfrm>
        </p:spPr>
        <p:txBody>
          <a:bodyPr anchor="ctr">
            <a:noAutofit/>
          </a:bodyPr>
          <a:lstStyle>
            <a:lvl1pPr marL="0" indent="0" algn="l" defTabSz="914400" rtl="0" eaLnBrk="1" latinLnBrk="0" hangingPunct="1">
              <a:lnSpc>
                <a:spcPct val="90000"/>
              </a:lnSpc>
              <a:spcBef>
                <a:spcPct val="0"/>
              </a:spcBef>
              <a:buFont typeface="+mj-lt"/>
              <a:buNone/>
              <a:defRPr lang="en-US" sz="40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endParaRPr lang="en-US" dirty="0"/>
          </a:p>
        </p:txBody>
      </p:sp>
      <p:sp>
        <p:nvSpPr>
          <p:cNvPr id="3" name="Content Placeholder 2"/>
          <p:cNvSpPr>
            <a:spLocks noGrp="1"/>
          </p:cNvSpPr>
          <p:nvPr>
            <p:ph idx="1"/>
          </p:nvPr>
        </p:nvSpPr>
        <p:spPr>
          <a:xfrm>
            <a:off x="5183188" y="1247490"/>
            <a:ext cx="6325038" cy="47885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57226" y="2777068"/>
            <a:ext cx="4114799" cy="32669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0AC5163-90AE-AD4E-90CC-EF8132230884}" type="datetime3">
              <a:rPr lang="en-US" smtClean="0"/>
            </a:fld>
            <a:endParaRPr lang="en-US" dirty="0"/>
          </a:p>
        </p:txBody>
      </p:sp>
      <p:sp>
        <p:nvSpPr>
          <p:cNvPr id="6" name="Footer Placeholder 5"/>
          <p:cNvSpPr>
            <a:spLocks noGrp="1"/>
          </p:cNvSpPr>
          <p:nvPr>
            <p:ph type="ftr" sz="quarter" idx="11"/>
          </p:nvPr>
        </p:nvSpPr>
        <p:spPr/>
        <p:txBody>
          <a:bodyPr/>
          <a:lstStyle/>
          <a:p>
            <a:r>
              <a:rPr lang="en-US"/>
              <a:t>Copyrights 2024 CE-UIT. All Rights Reserved.</a:t>
            </a:r>
            <a:endParaRPr lang="en-US" dirty="0"/>
          </a:p>
        </p:txBody>
      </p:sp>
      <p:sp>
        <p:nvSpPr>
          <p:cNvPr id="8" name="Rectangle 7"/>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5400000" flipV="1">
            <a:off x="577898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1" name="Group 10"/>
          <p:cNvGrpSpPr/>
          <p:nvPr userDrawn="1"/>
        </p:nvGrpSpPr>
        <p:grpSpPr>
          <a:xfrm>
            <a:off x="4479985" y="241694"/>
            <a:ext cx="3232030" cy="768394"/>
            <a:chOff x="4280055" y="84406"/>
            <a:chExt cx="3631889" cy="863458"/>
          </a:xfrm>
        </p:grpSpPr>
        <p:sp>
          <p:nvSpPr>
            <p:cNvPr id="12" name="Rounded Rectangle 11"/>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5" name="Picture 14"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6" name="Group 15"/>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Freeform 18"/>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7226" y="1270699"/>
            <a:ext cx="4114799" cy="1162180"/>
          </a:xfrm>
        </p:spPr>
        <p:txBody>
          <a:bodyPr anchor="ctr">
            <a:noAutofit/>
          </a:bodyPr>
          <a:lstStyle>
            <a:lvl1pPr marL="0" indent="0" algn="l" defTabSz="914400" rtl="0" eaLnBrk="1" latinLnBrk="0" hangingPunct="1">
              <a:lnSpc>
                <a:spcPct val="90000"/>
              </a:lnSpc>
              <a:spcBef>
                <a:spcPct val="0"/>
              </a:spcBef>
              <a:buFont typeface="+mj-lt"/>
              <a:buNone/>
              <a:defRPr lang="en-US" sz="40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endParaRPr lang="en-US" dirty="0"/>
          </a:p>
        </p:txBody>
      </p:sp>
      <p:sp>
        <p:nvSpPr>
          <p:cNvPr id="3" name="Picture Placeholder 2"/>
          <p:cNvSpPr>
            <a:spLocks noGrp="1" noChangeAspect="1"/>
          </p:cNvSpPr>
          <p:nvPr>
            <p:ph type="pic" idx="1"/>
          </p:nvPr>
        </p:nvSpPr>
        <p:spPr>
          <a:xfrm>
            <a:off x="5183188" y="1270699"/>
            <a:ext cx="6325038" cy="479649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57226" y="2561454"/>
            <a:ext cx="4114799" cy="35057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CD3818E-E997-CB43-BA3A-7A12F66A1845}" type="datetime3">
              <a:rPr lang="en-US" smtClean="0"/>
            </a:fld>
            <a:endParaRPr lang="en-US" dirty="0"/>
          </a:p>
        </p:txBody>
      </p:sp>
      <p:sp>
        <p:nvSpPr>
          <p:cNvPr id="6" name="Footer Placeholder 5"/>
          <p:cNvSpPr>
            <a:spLocks noGrp="1"/>
          </p:cNvSpPr>
          <p:nvPr>
            <p:ph type="ftr" sz="quarter" idx="11"/>
          </p:nvPr>
        </p:nvSpPr>
        <p:spPr/>
        <p:txBody>
          <a:bodyPr/>
          <a:lstStyle/>
          <a:p>
            <a:r>
              <a:rPr lang="en-US"/>
              <a:t>Copyrights 2024 CE-UIT. All Rights Reserved.</a:t>
            </a:r>
            <a:endParaRPr lang="en-US" dirty="0"/>
          </a:p>
        </p:txBody>
      </p:sp>
      <p:sp>
        <p:nvSpPr>
          <p:cNvPr id="8" name="Rectangle 7"/>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rot="5400000" flipV="1">
            <a:off x="577898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1" name="Group 10"/>
          <p:cNvGrpSpPr/>
          <p:nvPr userDrawn="1"/>
        </p:nvGrpSpPr>
        <p:grpSpPr>
          <a:xfrm>
            <a:off x="4479985" y="241694"/>
            <a:ext cx="3232030" cy="768394"/>
            <a:chOff x="4280055" y="84406"/>
            <a:chExt cx="3631889" cy="863458"/>
          </a:xfrm>
        </p:grpSpPr>
        <p:sp>
          <p:nvSpPr>
            <p:cNvPr id="12" name="Rounded Rectangle 11"/>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5" name="Picture 14"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6" name="Group 15"/>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Freeform 18"/>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929761"/>
            <a:ext cx="10515600" cy="776548"/>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a:xfrm>
            <a:off x="838200" y="1792404"/>
            <a:ext cx="10515600" cy="438455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46C75B1-5554-9E4B-9A38-5905F72F5940}" type="datetime3">
              <a:rPr lang="en-US" smtClean="0"/>
            </a:fld>
            <a:endParaRPr lang="en-US" dirty="0"/>
          </a:p>
        </p:txBody>
      </p:sp>
      <p:sp>
        <p:nvSpPr>
          <p:cNvPr id="5" name="Footer Placeholder 4"/>
          <p:cNvSpPr>
            <a:spLocks noGrp="1"/>
          </p:cNvSpPr>
          <p:nvPr>
            <p:ph type="ftr" sz="quarter" idx="11"/>
          </p:nvPr>
        </p:nvSpPr>
        <p:spPr/>
        <p:txBody>
          <a:bodyPr/>
          <a:lstStyle/>
          <a:p>
            <a:r>
              <a:rPr lang="en-US"/>
              <a:t>Copyrights 2024 CE-UIT. All Rights Reserved.</a:t>
            </a:r>
            <a:endParaRPr lang="en-US" dirty="0"/>
          </a:p>
        </p:txBody>
      </p:sp>
      <p:sp>
        <p:nvSpPr>
          <p:cNvPr id="7" name="Rectangle 6"/>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5400000" flipV="1">
            <a:off x="577898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0" name="Group 9"/>
          <p:cNvGrpSpPr/>
          <p:nvPr userDrawn="1"/>
        </p:nvGrpSpPr>
        <p:grpSpPr>
          <a:xfrm>
            <a:off x="4479985" y="241694"/>
            <a:ext cx="3232030" cy="768394"/>
            <a:chOff x="4280055" y="84406"/>
            <a:chExt cx="3631889" cy="863458"/>
          </a:xfrm>
        </p:grpSpPr>
        <p:sp>
          <p:nvSpPr>
            <p:cNvPr id="11" name="Rounded Rectangle 10"/>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4" name="Picture 13"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5" name="Group 14"/>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6" name="Oval 15"/>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Freeform 17"/>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038421"/>
            <a:ext cx="2628900" cy="5138542"/>
          </a:xfrm>
        </p:spPr>
        <p:txBody>
          <a:bodyPr vert="eaVert">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a:xfrm>
            <a:off x="838200" y="1038421"/>
            <a:ext cx="7734300" cy="513854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EB64986-AD58-F748-BD5B-19DAFB14C4B2}" type="datetime3">
              <a:rPr lang="en-US" smtClean="0"/>
            </a:fld>
            <a:endParaRPr lang="en-US" dirty="0"/>
          </a:p>
        </p:txBody>
      </p:sp>
      <p:sp>
        <p:nvSpPr>
          <p:cNvPr id="5" name="Footer Placeholder 4"/>
          <p:cNvSpPr>
            <a:spLocks noGrp="1"/>
          </p:cNvSpPr>
          <p:nvPr>
            <p:ph type="ftr" sz="quarter" idx="11"/>
          </p:nvPr>
        </p:nvSpPr>
        <p:spPr/>
        <p:txBody>
          <a:bodyPr/>
          <a:lstStyle/>
          <a:p>
            <a:r>
              <a:rPr lang="en-US"/>
              <a:t>Copyrights 2024 CE-UIT. All Rights Reserved.</a:t>
            </a:r>
            <a:endParaRPr lang="en-US" dirty="0"/>
          </a:p>
        </p:txBody>
      </p:sp>
      <p:sp>
        <p:nvSpPr>
          <p:cNvPr id="7" name="Rectangle 6"/>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5400000" flipV="1">
            <a:off x="5778984" y="-5781463"/>
            <a:ext cx="631552" cy="12194479"/>
          </a:xfrm>
          <a:prstGeom prst="rect">
            <a:avLst/>
          </a:prstGeom>
          <a:blipFill>
            <a:blip r:embed="rId2" cstate="print"/>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240281" y="141423"/>
            <a:ext cx="7420291" cy="337383"/>
          </a:xfrm>
          <a:prstGeom prst="rect">
            <a:avLst/>
          </a:prstGeom>
          <a:noFill/>
        </p:spPr>
        <p:txBody>
          <a:bodyPr wrap="none" rtlCol="0">
            <a:spAutoFit/>
          </a:bodyPr>
          <a:lstStyle/>
          <a:p>
            <a:r>
              <a:rPr lang="en-US" sz="1600" b="1" dirty="0">
                <a:solidFill>
                  <a:schemeClr val="bg1"/>
                </a:solidFill>
              </a:rPr>
              <a:t>FACULTY OF COMPUTER ENGINEERING</a:t>
            </a:r>
            <a:endParaRPr lang="en-US" sz="1600" b="1" dirty="0">
              <a:solidFill>
                <a:schemeClr val="bg1"/>
              </a:solidFill>
            </a:endParaRPr>
          </a:p>
        </p:txBody>
      </p:sp>
      <p:grpSp>
        <p:nvGrpSpPr>
          <p:cNvPr id="10" name="Group 9"/>
          <p:cNvGrpSpPr/>
          <p:nvPr userDrawn="1"/>
        </p:nvGrpSpPr>
        <p:grpSpPr>
          <a:xfrm>
            <a:off x="4479985" y="241694"/>
            <a:ext cx="3232030" cy="768394"/>
            <a:chOff x="4280055" y="84406"/>
            <a:chExt cx="3631889" cy="863458"/>
          </a:xfrm>
        </p:grpSpPr>
        <p:sp>
          <p:nvSpPr>
            <p:cNvPr id="11" name="Rounded Rectangle 10"/>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Icon&#10;&#10;Description automatically generated with medium confidence"/>
            <p:cNvPicPr>
              <a:picLocks noChangeAspect="1"/>
            </p:cNvPicPr>
            <p:nvPr userDrawn="1"/>
          </p:nvPicPr>
          <p:blipFill>
            <a:blip r:embed="rId3" cstate="print"/>
            <a:stretch>
              <a:fillRect/>
            </a:stretch>
          </p:blipFill>
          <p:spPr>
            <a:xfrm>
              <a:off x="6315084" y="84406"/>
              <a:ext cx="871486" cy="863458"/>
            </a:xfrm>
            <a:prstGeom prst="rect">
              <a:avLst/>
            </a:prstGeom>
          </p:spPr>
        </p:pic>
        <p:pic>
          <p:nvPicPr>
            <p:cNvPr id="14" name="Picture 13" descr="A picture containing clipart, vector graphics&#10;&#10;Description automatically generated"/>
            <p:cNvPicPr>
              <a:picLocks noChangeAspect="1"/>
            </p:cNvPicPr>
            <p:nvPr userDrawn="1"/>
          </p:nvPicPr>
          <p:blipFill>
            <a:blip r:embed="rId4" cstate="print"/>
            <a:stretch>
              <a:fillRect/>
            </a:stretch>
          </p:blipFill>
          <p:spPr>
            <a:xfrm>
              <a:off x="5005430" y="111027"/>
              <a:ext cx="979518" cy="810216"/>
            </a:xfrm>
            <a:prstGeom prst="rect">
              <a:avLst/>
            </a:prstGeom>
          </p:spPr>
        </p:pic>
      </p:grpSp>
      <p:grpSp>
        <p:nvGrpSpPr>
          <p:cNvPr id="15" name="Group 14"/>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6" name="Oval 15"/>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Freeform 17"/>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9Slide.vn - 2019"/>
          <p:cNvSpPr txBox="1"/>
          <p:nvPr userDrawn="1"/>
        </p:nvSpPr>
        <p:spPr>
          <a:xfrm>
            <a:off x="0" y="-1543110"/>
            <a:ext cx="12192000" cy="400110"/>
          </a:xfrm>
          <a:prstGeom prst="rect">
            <a:avLst/>
          </a:prstGeom>
          <a:noFill/>
        </p:spPr>
        <p:txBody>
          <a:bodyPr vert="horz" rtlCol="0">
            <a:spAutoFit/>
          </a:bodyPr>
          <a:lstStyle/>
          <a:p>
            <a:pPr algn="ctr"/>
            <a:r>
              <a:rPr lang="en-US" sz="2000">
                <a:solidFill>
                  <a:srgbClr val="C3C3C3"/>
                </a:solidFill>
              </a:rPr>
              <a:t>www.9slide.vn</a:t>
            </a:r>
            <a:endParaRPr lang="en-US" sz="2000">
              <a:solidFill>
                <a:srgbClr val="C3C3C3"/>
              </a:solidFill>
            </a:endParaRP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7EE0CA-0453-9B47-838C-B39080F57770}" type="datetime3">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Copyrights 2024 CE-UIT. All Rights Reserved.</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19" name="Freeform 18"/>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3.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91081"/>
            <a:ext cx="9144000" cy="1837919"/>
          </a:xfrm>
        </p:spPr>
        <p:txBody>
          <a:bodyPr>
            <a:normAutofit/>
          </a:bodyPr>
          <a:lstStyle/>
          <a:p>
            <a:pPr>
              <a:defRPr sz="2300" b="1">
                <a:solidFill>
                  <a:srgbClr val="1F4E79"/>
                </a:solidFill>
                <a:latin typeface="Arial" panose="020B0604020202020204"/>
              </a:defRPr>
            </a:pPr>
            <a:r>
              <a:t>NGHIÊN CỨU VÀ ỨNG DỤNG LỚP TÍCH CHẬP LƯỢNG TỬ (QUANVOLUTION)</a:t>
            </a:r>
          </a:p>
          <a:p>
            <a:pPr>
              <a:spcBef>
                <a:spcPts val="400"/>
              </a:spcBef>
              <a:defRPr sz="2100" b="1">
                <a:solidFill>
                  <a:srgbClr val="2E75B6"/>
                </a:solidFill>
                <a:latin typeface="Arial" panose="020B0604020202020204"/>
              </a:defRPr>
            </a:pPr>
            <a:r>
              <a:t>TRONG PHÂN LOẠI ẢNH Y TẾ MEDMNIST</a:t>
            </a:r>
          </a:p>
        </p:txBody>
      </p:sp>
      <p:sp>
        <p:nvSpPr>
          <p:cNvPr id="3" name="Text Placeholder 2"/>
          <p:cNvSpPr>
            <a:spLocks noGrp="1"/>
          </p:cNvSpPr>
          <p:nvPr>
            <p:ph type="body" sz="quarter" idx="14"/>
          </p:nvPr>
        </p:nvSpPr>
        <p:spPr>
          <a:xfrm>
            <a:off x="1524000" y="6005193"/>
            <a:ext cx="9144000" cy="519113"/>
          </a:xfrm>
        </p:spPr>
        <p:txBody>
          <a:bodyPr/>
          <a:lstStyle/>
          <a:p>
            <a:r>
              <a:rPr lang="en-US"/>
              <a:t>TP.HCM, ngày 6 tháng 9 năm 2026</a:t>
            </a:r>
            <a:endParaRPr lang="en-US"/>
          </a:p>
        </p:txBody>
      </p:sp>
      <p:sp>
        <p:nvSpPr>
          <p:cNvPr id="4" name="Text Placeholder 3"/>
          <p:cNvSpPr>
            <a:spLocks noGrp="1"/>
          </p:cNvSpPr>
          <p:nvPr>
            <p:ph type="body" sz="quarter" idx="15"/>
          </p:nvPr>
        </p:nvSpPr>
        <p:spPr>
          <a:xfrm>
            <a:off x="3730283" y="1217560"/>
            <a:ext cx="2365717" cy="381000"/>
          </a:xfrm>
        </p:spPr>
        <p:txBody>
          <a:bodyPr/>
          <a:lstStyle/>
          <a:p>
            <a:pPr marL="0" indent="0">
              <a:buNone/>
            </a:pPr>
            <a:r>
              <a:rPr lang="en-US" sz="1200" dirty="0"/>
              <a:t>KHÓA LUẬN TỐT NGHIỆP</a:t>
            </a:r>
            <a:endParaRPr lang="en-US" sz="1200" dirty="0"/>
          </a:p>
        </p:txBody>
      </p:sp>
      <p:sp>
        <p:nvSpPr>
          <p:cNvPr id="8" name="TextBox 7"/>
          <p:cNvSpPr txBox="1"/>
          <p:nvPr/>
        </p:nvSpPr>
        <p:spPr>
          <a:xfrm>
            <a:off x="1524000" y="3681095"/>
            <a:ext cx="9144000" cy="647700"/>
          </a:xfrm>
          <a:prstGeom prst="rect">
            <a:avLst/>
          </a:prstGeom>
          <a:noFill/>
        </p:spPr>
        <p:txBody>
          <a:bodyPr wrap="square" rtlCol="0">
            <a:noAutofit/>
          </a:bodyPr>
          <a:lstStyle/>
          <a:p>
            <a:pPr algn="l">
              <a:lnSpc>
                <a:spcPct val="130000"/>
              </a:lnSpc>
              <a:spcBef>
                <a:spcPts val="300"/>
              </a:spcBef>
              <a:spcAft>
                <a:spcPts val="300"/>
              </a:spcAft>
              <a:defRPr sz="1300" b="1">
                <a:solidFill>
                  <a:srgbClr val="1E1E1E"/>
                </a:solidFill>
                <a:latin typeface="Arial" panose="020B0604020202020204"/>
              </a:defRPr>
            </a:pPr>
            <a:r>
              <a:t>CÁN BỘ HƯỚNG DẪN:  T</a:t>
            </a:r>
            <a:r>
              <a:rPr lang="en-US"/>
              <a:t>h</a:t>
            </a:r>
            <a:r>
              <a:t>S. NGUYỄN DUY XUÂN BÁCH</a:t>
            </a:r>
          </a:p>
          <a:p>
            <a:pPr>
              <a:spcBef>
                <a:spcPts val="400"/>
              </a:spcBef>
              <a:defRPr sz="1300" b="1">
                <a:solidFill>
                  <a:srgbClr val="1E1E1E"/>
                </a:solidFill>
                <a:latin typeface="Arial" panose="020B0604020202020204"/>
              </a:defRPr>
            </a:pPr>
            <a:r>
              <a:t>SINH VIÊN THỰC HIỆN:  NGUYỄN H</a:t>
            </a:r>
            <a:r>
              <a:rPr lang="en-US"/>
              <a:t>OÀNG</a:t>
            </a:r>
            <a:r>
              <a:t> NAM  —  MSSV: </a:t>
            </a:r>
            <a:r>
              <a:rPr lang="en-US"/>
              <a:t>22520916</a:t>
            </a:r>
            <a:endParaRPr lang="en-US"/>
          </a:p>
          <a:p>
            <a:pPr>
              <a:spcBef>
                <a:spcPts val="400"/>
              </a:spcBef>
              <a:defRPr sz="1100">
                <a:solidFill>
                  <a:srgbClr val="5A646E"/>
                </a:solidFill>
                <a:latin typeface="Arial" panose="020B0604020202020204"/>
              </a:defRPr>
            </a:pPr>
          </a:p>
        </p:txBody>
      </p:sp>
      <p:sp>
        <p:nvSpPr>
          <p:cNvPr id="9" name="Rounded Rectangle 8"/>
          <p:cNvSpPr/>
          <p:nvPr/>
        </p:nvSpPr>
        <p:spPr>
          <a:xfrm>
            <a:off x="1527048" y="5440680"/>
            <a:ext cx="8961120" cy="384048"/>
          </a:xfrm>
          <a:prstGeom prst="roundRect">
            <a:avLst/>
          </a:prstGeom>
          <a:solidFill>
            <a:srgbClr val="EBF7EE"/>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B5E20"/>
                </a:solidFill>
                <a:latin typeface="Arial" panose="020B0604020202020204"/>
              </a:defRPr>
            </a:pPr>
            <a:r>
              <a:t> BÀI BÁO ĐÃ NỘP &amp; ĐANG BÌNH DUYỆT TẠI SOICT 2026 (SPRINGER CCIS)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Nội dung báo cáo</a:t>
            </a:r>
            <a:endParaRPr lang="en-US" dirty="0"/>
          </a:p>
        </p:txBody>
      </p:sp>
      <p:sp>
        <p:nvSpPr>
          <p:cNvPr id="4" name="Footer Placeholder 3"/>
          <p:cNvSpPr>
            <a:spLocks noGrp="1"/>
          </p:cNvSpPr>
          <p:nvPr>
            <p:ph type="ftr" sz="quarter" idx="11"/>
          </p:nvPr>
        </p:nvSpPr>
        <p:spPr>
          <a:xfrm rot="16200000">
            <a:off x="9932860" y="3850428"/>
            <a:ext cx="4114800" cy="365125"/>
          </a:xfrm>
        </p:spPr>
        <p:txBody>
          <a:bodyPr/>
          <a:lstStyle/>
          <a:p>
            <a:r>
              <a:rPr lang="en-US"/>
              <a:t>Copyrights 2024 CE-UIT. All Rights Reserved.</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grpSp>
        <p:nvGrpSpPr>
          <p:cNvPr id="6" name="Group 5"/>
          <p:cNvGrpSpPr/>
          <p:nvPr/>
        </p:nvGrpSpPr>
        <p:grpSpPr>
          <a:xfrm>
            <a:off x="1033164" y="2094865"/>
            <a:ext cx="7770177" cy="948373"/>
            <a:chOff x="1033164" y="2094865"/>
            <a:chExt cx="7770177" cy="948373"/>
          </a:xfrm>
        </p:grpSpPr>
        <p:sp>
          <p:nvSpPr>
            <p:cNvPr id="7" name="Rounded Rectangle 6"/>
            <p:cNvSpPr/>
            <p:nvPr/>
          </p:nvSpPr>
          <p:spPr>
            <a:xfrm>
              <a:off x="1033164" y="2094865"/>
              <a:ext cx="7770177" cy="948373"/>
            </a:xfrm>
            <a:prstGeom prst="roundRect">
              <a:avLst>
                <a:gd name="adj" fmla="val 6767"/>
              </a:avLst>
            </a:prstGeom>
            <a:solidFill>
              <a:srgbClr val="F2F6FC"/>
            </a:solidFill>
            <a:ln w="19050">
              <a:solidFill>
                <a:srgbClr val="2E75B6"/>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200">
                <a:solidFill>
                  <a:sysClr val="windowText" lastClr="000000"/>
                </a:solidFill>
              </a:endParaRPr>
            </a:p>
          </p:txBody>
        </p:sp>
        <p:sp>
          <p:nvSpPr>
            <p:cNvPr id="8" name="Oval 7"/>
            <p:cNvSpPr/>
            <p:nvPr/>
          </p:nvSpPr>
          <p:spPr>
            <a:xfrm>
              <a:off x="1193006" y="2265441"/>
              <a:ext cx="607219" cy="607219"/>
            </a:xfrm>
            <a:prstGeom prst="ellipse">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sz="1800" b="1">
                  <a:solidFill>
                    <a:srgbClr val="FFFFFF"/>
                  </a:solidFill>
                  <a:latin typeface="Arial" panose="020B0604020202020204"/>
                </a:defRPr>
              </a:pPr>
              <a:r>
                <a:rPr lang="en-US" sz="2800" b="1">
                  <a:solidFill>
                    <a:schemeClr val="bg1"/>
                  </a:solidFill>
                  <a:latin typeface="Times New Roman" panose="02020603050405020304" pitchFamily="18" charset="0"/>
                  <a:cs typeface="Times New Roman" panose="02020603050405020304" pitchFamily="18" charset="0"/>
                </a:rPr>
                <a:t>1</a:t>
              </a:r>
              <a:endParaRPr lang="en-US" sz="2800" b="1">
                <a:solidFill>
                  <a:schemeClr val="bg1"/>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862399" y="2338218"/>
              <a:ext cx="6940941" cy="461665"/>
            </a:xfrm>
            <a:prstGeom prst="rect">
              <a:avLst/>
            </a:prstGeom>
            <a:noFill/>
          </p:spPr>
          <p:txBody>
            <a:bodyPr wrap="square" rtlCol="0" anchor="ctr">
              <a:spAutoFit/>
            </a:bodyPr>
            <a:lstStyle/>
            <a:p>
              <a:pPr>
                <a:defRPr sz="1600" b="1">
                  <a:solidFill>
                    <a:srgbClr val="1F4E79"/>
                  </a:solidFill>
                  <a:latin typeface="Arial" panose="020B0604020202020204"/>
                </a:defRPr>
              </a:pPr>
              <a:r>
                <a:t>Tổng quan đề tài &amp; Động lực nghiên cứu</a:t>
              </a:r>
              <a:endParaRPr lang="en-US" sz="2400" dirty="0"/>
            </a:p>
          </p:txBody>
        </p:sp>
      </p:grpSp>
      <p:grpSp>
        <p:nvGrpSpPr>
          <p:cNvPr id="10" name="Group 9"/>
          <p:cNvGrpSpPr/>
          <p:nvPr/>
        </p:nvGrpSpPr>
        <p:grpSpPr>
          <a:xfrm>
            <a:off x="1033164" y="3255196"/>
            <a:ext cx="7770177" cy="948373"/>
            <a:chOff x="1033164" y="3239499"/>
            <a:chExt cx="7770177" cy="948373"/>
          </a:xfrm>
        </p:grpSpPr>
        <p:sp>
          <p:nvSpPr>
            <p:cNvPr id="11" name="Rounded Rectangle 10"/>
            <p:cNvSpPr/>
            <p:nvPr/>
          </p:nvSpPr>
          <p:spPr>
            <a:xfrm>
              <a:off x="1033164" y="3239499"/>
              <a:ext cx="7770177" cy="948373"/>
            </a:xfrm>
            <a:prstGeom prst="roundRect">
              <a:avLst>
                <a:gd name="adj" fmla="val 6767"/>
              </a:avLst>
            </a:prstGeom>
            <a:solidFill>
              <a:srgbClr val="F2F6FC"/>
            </a:solidFill>
            <a:ln w="19050">
              <a:solidFill>
                <a:srgbClr val="2E75B6"/>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200">
                <a:solidFill>
                  <a:schemeClr val="bg1"/>
                </a:solidFill>
              </a:endParaRPr>
            </a:p>
          </p:txBody>
        </p:sp>
        <p:sp>
          <p:nvSpPr>
            <p:cNvPr id="12" name="Oval 11"/>
            <p:cNvSpPr/>
            <p:nvPr/>
          </p:nvSpPr>
          <p:spPr>
            <a:xfrm>
              <a:off x="1193005" y="3410075"/>
              <a:ext cx="607219" cy="607219"/>
            </a:xfrm>
            <a:prstGeom prst="ellipse">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sz="1800" b="1">
                  <a:solidFill>
                    <a:srgbClr val="FFFFFF"/>
                  </a:solidFill>
                  <a:latin typeface="Arial" panose="020B0604020202020204"/>
                </a:defRPr>
              </a:pPr>
              <a:r>
                <a:rPr lang="en-US" sz="2800" b="1">
                  <a:solidFill>
                    <a:schemeClr val="bg1"/>
                  </a:solidFill>
                  <a:latin typeface="Times New Roman" panose="02020603050405020304" pitchFamily="18" charset="0"/>
                  <a:cs typeface="Times New Roman" panose="02020603050405020304" pitchFamily="18" charset="0"/>
                </a:rPr>
                <a:t>2</a:t>
              </a:r>
              <a:endParaRPr lang="en-US" sz="2800" b="1">
                <a:solidFill>
                  <a:schemeClr val="bg1"/>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862399" y="3482851"/>
              <a:ext cx="6609248" cy="461665"/>
            </a:xfrm>
            <a:prstGeom prst="rect">
              <a:avLst/>
            </a:prstGeom>
            <a:noFill/>
          </p:spPr>
          <p:txBody>
            <a:bodyPr wrap="square" rtlCol="0" anchor="ctr">
              <a:spAutoFit/>
            </a:bodyPr>
            <a:lstStyle/>
            <a:p>
              <a:pPr>
                <a:defRPr sz="1600" b="1">
                  <a:solidFill>
                    <a:srgbClr val="1F4E79"/>
                  </a:solidFill>
                  <a:latin typeface="Arial" panose="020B0604020202020204"/>
                </a:defRPr>
              </a:pPr>
              <a:r>
                <a:t>Phương pháp nghiên cứu &amp; Kiến trúc giải pháp</a:t>
              </a:r>
              <a:endParaRPr lang="en-US" sz="2400" dirty="0">
                <a:solidFill>
                  <a:schemeClr val="bg1"/>
                </a:solidFill>
              </a:endParaRPr>
            </a:p>
          </p:txBody>
        </p:sp>
      </p:grpSp>
      <p:grpSp>
        <p:nvGrpSpPr>
          <p:cNvPr id="14" name="Group 13"/>
          <p:cNvGrpSpPr/>
          <p:nvPr/>
        </p:nvGrpSpPr>
        <p:grpSpPr>
          <a:xfrm>
            <a:off x="1033164" y="4415527"/>
            <a:ext cx="7770177" cy="948373"/>
            <a:chOff x="1033164" y="4431224"/>
            <a:chExt cx="7770177" cy="948373"/>
          </a:xfrm>
        </p:grpSpPr>
        <p:sp>
          <p:nvSpPr>
            <p:cNvPr id="15" name="Rounded Rectangle 6"/>
            <p:cNvSpPr/>
            <p:nvPr/>
          </p:nvSpPr>
          <p:spPr>
            <a:xfrm>
              <a:off x="1033164" y="4431224"/>
              <a:ext cx="7770177" cy="948373"/>
            </a:xfrm>
            <a:prstGeom prst="roundRect">
              <a:avLst>
                <a:gd name="adj" fmla="val 6767"/>
              </a:avLst>
            </a:prstGeom>
            <a:solidFill>
              <a:srgbClr val="F2F6FC"/>
            </a:solidFill>
            <a:ln w="19050">
              <a:solidFill>
                <a:srgbClr val="2E75B6"/>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200">
                <a:solidFill>
                  <a:sysClr val="windowText" lastClr="000000"/>
                </a:solidFill>
              </a:endParaRPr>
            </a:p>
          </p:txBody>
        </p:sp>
        <p:sp>
          <p:nvSpPr>
            <p:cNvPr id="16" name="Oval 15"/>
            <p:cNvSpPr/>
            <p:nvPr/>
          </p:nvSpPr>
          <p:spPr>
            <a:xfrm>
              <a:off x="1193006" y="4601800"/>
              <a:ext cx="607219" cy="607219"/>
            </a:xfrm>
            <a:prstGeom prst="ellipse">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sz="1800" b="1">
                  <a:solidFill>
                    <a:srgbClr val="FFFFFF"/>
                  </a:solidFill>
                  <a:latin typeface="Arial" panose="020B0604020202020204"/>
                </a:defRPr>
              </a:pPr>
              <a:r>
                <a:rPr lang="en-US" sz="2800" b="1">
                  <a:solidFill>
                    <a:schemeClr val="bg1"/>
                  </a:solidFill>
                  <a:latin typeface="Times New Roman" panose="02020603050405020304" pitchFamily="18" charset="0"/>
                  <a:cs typeface="Times New Roman" panose="02020603050405020304" pitchFamily="18" charset="0"/>
                </a:rPr>
                <a:t>3</a:t>
              </a:r>
              <a:endParaRPr lang="en-US" sz="2800" b="1">
                <a:solidFill>
                  <a:schemeClr val="bg1"/>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1862400" y="4674577"/>
              <a:ext cx="6609248" cy="461665"/>
            </a:xfrm>
            <a:prstGeom prst="rect">
              <a:avLst/>
            </a:prstGeom>
            <a:noFill/>
          </p:spPr>
          <p:txBody>
            <a:bodyPr wrap="square" rtlCol="0" anchor="ctr">
              <a:spAutoFit/>
            </a:bodyPr>
            <a:lstStyle/>
            <a:p>
              <a:pPr>
                <a:defRPr sz="1600" b="1">
                  <a:solidFill>
                    <a:srgbClr val="1F4E79"/>
                  </a:solidFill>
                  <a:latin typeface="Arial" panose="020B0604020202020204"/>
                </a:defRPr>
              </a:pPr>
              <a:r>
                <a:t>Kết quả thực nghiệm &amp; Đánh giá thống kê</a:t>
              </a:r>
              <a:endParaRPr lang="en-US" sz="2400" dirty="0"/>
            </a:p>
          </p:txBody>
        </p:sp>
      </p:grpSp>
      <p:grpSp>
        <p:nvGrpSpPr>
          <p:cNvPr id="18" name="Group 17"/>
          <p:cNvGrpSpPr/>
          <p:nvPr/>
        </p:nvGrpSpPr>
        <p:grpSpPr>
          <a:xfrm>
            <a:off x="1033164" y="5575858"/>
            <a:ext cx="7770177" cy="948373"/>
            <a:chOff x="1033164" y="5575858"/>
            <a:chExt cx="7770177" cy="948373"/>
          </a:xfrm>
        </p:grpSpPr>
        <p:sp>
          <p:nvSpPr>
            <p:cNvPr id="19" name="Rounded Rectangle 9"/>
            <p:cNvSpPr/>
            <p:nvPr/>
          </p:nvSpPr>
          <p:spPr>
            <a:xfrm>
              <a:off x="1033164" y="5575858"/>
              <a:ext cx="7770177" cy="948373"/>
            </a:xfrm>
            <a:prstGeom prst="roundRect">
              <a:avLst>
                <a:gd name="adj" fmla="val 6767"/>
              </a:avLst>
            </a:prstGeom>
            <a:solidFill>
              <a:srgbClr val="F2F6FC"/>
            </a:solidFill>
            <a:ln w="19050">
              <a:solidFill>
                <a:srgbClr val="2E75B6"/>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200">
                <a:solidFill>
                  <a:schemeClr val="bg1"/>
                </a:solidFill>
              </a:endParaRPr>
            </a:p>
          </p:txBody>
        </p:sp>
        <p:sp>
          <p:nvSpPr>
            <p:cNvPr id="20" name="Oval 19"/>
            <p:cNvSpPr/>
            <p:nvPr/>
          </p:nvSpPr>
          <p:spPr>
            <a:xfrm>
              <a:off x="1193005" y="5746434"/>
              <a:ext cx="607219" cy="607219"/>
            </a:xfrm>
            <a:prstGeom prst="ellipse">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sz="1800" b="1">
                  <a:solidFill>
                    <a:srgbClr val="FFFFFF"/>
                  </a:solidFill>
                  <a:latin typeface="Arial" panose="020B0604020202020204"/>
                </a:defRPr>
              </a:pPr>
              <a:r>
                <a:rPr lang="en-US" sz="2800" b="1">
                  <a:solidFill>
                    <a:schemeClr val="bg1"/>
                  </a:solidFill>
                  <a:latin typeface="Times New Roman" panose="02020603050405020304" pitchFamily="18" charset="0"/>
                  <a:cs typeface="Times New Roman" panose="02020603050405020304" pitchFamily="18" charset="0"/>
                </a:rPr>
                <a:t>4</a:t>
              </a:r>
              <a:endParaRPr lang="en-US" sz="2800" b="1">
                <a:solidFill>
                  <a:schemeClr val="bg1"/>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1862399" y="5819210"/>
              <a:ext cx="6609248" cy="461665"/>
            </a:xfrm>
            <a:prstGeom prst="rect">
              <a:avLst/>
            </a:prstGeom>
            <a:noFill/>
          </p:spPr>
          <p:txBody>
            <a:bodyPr wrap="square" rtlCol="0" anchor="ctr">
              <a:spAutoFit/>
            </a:bodyPr>
            <a:lstStyle/>
            <a:p>
              <a:pPr>
                <a:defRPr sz="1600" b="1">
                  <a:solidFill>
                    <a:srgbClr val="1F4E79"/>
                  </a:solidFill>
                  <a:latin typeface="Arial" panose="020B0604020202020204"/>
                </a:defRPr>
              </a:pPr>
              <a:r>
                <a:t>Kết luận, Đóng góp &amp; Hướng phát triển</a:t>
              </a:r>
              <a:endParaRPr lang="en-US" sz="2400" dirty="0">
                <a:solidFill>
                  <a:schemeClr val="bg1"/>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p:cNvSpPr>
            <a:spLocks noGrp="1"/>
          </p:cNvSpPr>
          <p:nvPr>
            <p:ph type="sldNum" sz="quarter" idx="12"/>
          </p:nvPr>
        </p:nvSpPr>
        <p:spPr/>
        <p:txBody>
          <a:bodyPr/>
          <a:lstStyle/>
          <a:p>
            <a:fld id="{48F63A3B-78C7-47BE-AE5E-E10140E04643}" type="slidenum">
              <a:rPr lang="en-US" smtClean="0"/>
            </a:fld>
            <a:endParaRPr lang="en-US" dirty="0"/>
          </a:p>
        </p:txBody>
      </p:sp>
      <p:sp>
        <p:nvSpPr>
          <p:cNvPr id="4" name="Title 3"/>
          <p:cNvSpPr>
            <a:spLocks noGrp="1"/>
          </p:cNvSpPr>
          <p:nvPr>
            <p:ph type="title"/>
          </p:nvPr>
        </p:nvSpPr>
        <p:spPr/>
        <p:txBody>
          <a:bodyPr>
            <a:normAutofit/>
          </a:bodyPr>
          <a:lstStyle/>
          <a:p>
            <a:r>
              <a:rPr lang="en-US" dirty="0"/>
              <a:t>TỔNG QUAN</a:t>
            </a:r>
            <a:endParaRPr lang="en-US" dirty="0"/>
          </a:p>
        </p:txBody>
      </p:sp>
      <p:sp>
        <p:nvSpPr>
          <p:cNvPr id="5" name="Text Placeholder 4"/>
          <p:cNvSpPr>
            <a:spLocks noGrp="1"/>
          </p:cNvSpPr>
          <p:nvPr>
            <p:ph type="body" idx="1"/>
          </p:nvPr>
        </p:nvSpPr>
        <p:spPr/>
        <p:txBody>
          <a:bodyPr/>
          <a:lstStyle/>
          <a:p>
            <a:endParaRPr lang="en-US"/>
          </a:p>
        </p:txBody>
      </p:sp>
      <p:sp>
        <p:nvSpPr>
          <p:cNvPr id="6" name="Content Placeholder 5"/>
          <p:cNvSpPr>
            <a:spLocks noGrp="1"/>
          </p:cNvSpPr>
          <p:nvPr>
            <p:ph sz="quarter" idx="13"/>
          </p:nvPr>
        </p:nvSpPr>
        <p:spPr/>
        <p:txBody>
          <a:bodyPr/>
          <a:lstStyle/>
          <a:p>
            <a:r>
              <a:rPr lang="en-US" dirty="0"/>
              <a:t>01</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790" y="1036955"/>
            <a:ext cx="11339830" cy="890905"/>
          </a:xfrm>
        </p:spPr>
        <p:txBody>
          <a:bodyPr>
            <a:normAutofit/>
          </a:bodyPr>
          <a:lstStyle/>
          <a:p>
            <a:r>
              <a:rPr sz="3890"/>
              <a:t>1. Bối cảnh Nghiên cứu</a:t>
            </a:r>
            <a:endParaRPr sz="3890"/>
          </a:p>
        </p:txBody>
      </p:sp>
      <p:sp>
        <p:nvSpPr>
          <p:cNvPr id="3" name="Rounded Rectangle 2"/>
          <p:cNvSpPr/>
          <p:nvPr/>
        </p:nvSpPr>
        <p:spPr>
          <a:xfrm>
            <a:off x="694690" y="1920240"/>
            <a:ext cx="2011680" cy="104267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7461" y="2292477"/>
            <a:ext cx="1865376" cy="299085"/>
          </a:xfrm>
          <a:prstGeom prst="rect">
            <a:avLst/>
          </a:prstGeom>
          <a:noFill/>
        </p:spPr>
        <p:txBody>
          <a:bodyPr wrap="square">
            <a:spAutoFit/>
          </a:bodyPr>
          <a:lstStyle/>
          <a:p>
            <a:pPr algn="ctr">
              <a:defRPr sz="1350" b="1">
                <a:solidFill>
                  <a:srgbClr val="FFFFFF"/>
                </a:solidFill>
                <a:latin typeface="Arial" panose="020B0604020202020204"/>
              </a:defRPr>
            </a:pPr>
            <a:r>
              <a:t>THỰC TRẠNG</a:t>
            </a:r>
          </a:p>
        </p:txBody>
      </p:sp>
      <p:sp>
        <p:nvSpPr>
          <p:cNvPr id="5" name="Rounded Rectangle 4"/>
          <p:cNvSpPr/>
          <p:nvPr/>
        </p:nvSpPr>
        <p:spPr>
          <a:xfrm>
            <a:off x="2797810" y="1920240"/>
            <a:ext cx="8686800" cy="1042670"/>
          </a:xfrm>
          <a:prstGeom prst="roundRect">
            <a:avLst/>
          </a:prstGeom>
          <a:solidFill>
            <a:srgbClr val="FFF5F5"/>
          </a:solidFill>
          <a:ln w="17780">
            <a:solidFill>
              <a:srgbClr val="EF9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80944" y="1993392"/>
            <a:ext cx="2682240" cy="763270"/>
          </a:xfrm>
          <a:prstGeom prst="rect">
            <a:avLst/>
          </a:prstGeom>
          <a:noFill/>
        </p:spPr>
        <p:txBody>
          <a:bodyPr wrap="square">
            <a:spAutoFit/>
          </a:bodyPr>
          <a:lstStyle/>
          <a:p>
            <a:pPr>
              <a:defRPr sz="1050" b="1">
                <a:solidFill>
                  <a:srgbClr val="C62828"/>
                </a:solidFill>
                <a:latin typeface="Arial" panose="020B0604020202020204"/>
              </a:defRPr>
            </a:pPr>
            <a:r>
              <a:t>• So sánh chưa công bằng:</a:t>
            </a:r>
          </a:p>
          <a:p>
            <a:pPr>
              <a:spcBef>
                <a:spcPts val="200"/>
              </a:spcBef>
              <a:defRPr sz="950">
                <a:solidFill>
                  <a:srgbClr val="232323"/>
                </a:solidFill>
                <a:latin typeface="Arial" panose="020B0604020202020204"/>
              </a:defRPr>
            </a:pPr>
            <a:r>
              <a:rPr sz="1050"/>
              <a:t>Các bài báo trước thường so sánh mô hình lượng tử với CNN tùy tiện, chênh lệch hàng nghìn tham số .</a:t>
            </a:r>
            <a:endParaRPr sz="1050"/>
          </a:p>
        </p:txBody>
      </p:sp>
      <p:sp>
        <p:nvSpPr>
          <p:cNvPr id="7" name="TextBox 6"/>
          <p:cNvSpPr txBox="1"/>
          <p:nvPr/>
        </p:nvSpPr>
        <p:spPr>
          <a:xfrm>
            <a:off x="5754624" y="1993392"/>
            <a:ext cx="2682240" cy="763270"/>
          </a:xfrm>
          <a:prstGeom prst="rect">
            <a:avLst/>
          </a:prstGeom>
          <a:noFill/>
        </p:spPr>
        <p:txBody>
          <a:bodyPr wrap="square">
            <a:spAutoFit/>
          </a:bodyPr>
          <a:lstStyle/>
          <a:p>
            <a:pPr>
              <a:defRPr sz="1050" b="1">
                <a:solidFill>
                  <a:srgbClr val="C62828"/>
                </a:solidFill>
                <a:latin typeface="Arial" panose="020B0604020202020204"/>
              </a:defRPr>
            </a:pPr>
            <a:r>
              <a:t>• Đánh giá thiếu tin cậy:</a:t>
            </a:r>
          </a:p>
          <a:p>
            <a:pPr>
              <a:spcBef>
                <a:spcPts val="200"/>
              </a:spcBef>
              <a:defRPr sz="950">
                <a:solidFill>
                  <a:srgbClr val="232323"/>
                </a:solidFill>
                <a:latin typeface="Arial" panose="020B0604020202020204"/>
              </a:defRPr>
            </a:pPr>
            <a:r>
              <a:rPr sz="1050"/>
              <a:t>Nhiều nghiên cứu chỉ chạy thử 1–2 lần ngẫu nhiên rồi vội kết luận 'lượng tử vượt trội', dễ do yếu tố may mắn.</a:t>
            </a:r>
            <a:endParaRPr sz="1050"/>
          </a:p>
        </p:txBody>
      </p:sp>
      <p:sp>
        <p:nvSpPr>
          <p:cNvPr id="8" name="TextBox 7"/>
          <p:cNvSpPr txBox="1"/>
          <p:nvPr/>
        </p:nvSpPr>
        <p:spPr>
          <a:xfrm>
            <a:off x="8528304" y="1993392"/>
            <a:ext cx="2682240" cy="763270"/>
          </a:xfrm>
          <a:prstGeom prst="rect">
            <a:avLst/>
          </a:prstGeom>
          <a:noFill/>
        </p:spPr>
        <p:txBody>
          <a:bodyPr wrap="square">
            <a:spAutoFit/>
          </a:bodyPr>
          <a:lstStyle/>
          <a:p>
            <a:pPr>
              <a:defRPr sz="1050" b="1">
                <a:solidFill>
                  <a:srgbClr val="C62828"/>
                </a:solidFill>
                <a:latin typeface="Arial" panose="020B0604020202020204"/>
              </a:defRPr>
            </a:pPr>
            <a:r>
              <a:t>• Mơ hồ về tự học:</a:t>
            </a:r>
          </a:p>
          <a:p>
            <a:pPr>
              <a:spcBef>
                <a:spcPts val="200"/>
              </a:spcBef>
              <a:defRPr sz="950">
                <a:solidFill>
                  <a:srgbClr val="232323"/>
                </a:solidFill>
                <a:latin typeface="Arial" panose="020B0604020202020204"/>
              </a:defRPr>
            </a:pPr>
            <a:r>
              <a:rPr sz="1050"/>
              <a:t>Chưa rõ việc cho các cổng lượng tử tự học (tối ưu góc) có thực sự đáng tiền so với việc cố định góc quay ngẫu nhiên.</a:t>
            </a:r>
            <a:endParaRPr sz="1050"/>
          </a:p>
        </p:txBody>
      </p:sp>
      <p:sp>
        <p:nvSpPr>
          <p:cNvPr id="9" name="Rounded Rectangle 8"/>
          <p:cNvSpPr/>
          <p:nvPr/>
        </p:nvSpPr>
        <p:spPr>
          <a:xfrm>
            <a:off x="694690" y="3346450"/>
            <a:ext cx="2011680" cy="1033145"/>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3718306"/>
            <a:ext cx="1865376" cy="299085"/>
          </a:xfrm>
          <a:prstGeom prst="rect">
            <a:avLst/>
          </a:prstGeom>
          <a:noFill/>
        </p:spPr>
        <p:txBody>
          <a:bodyPr wrap="square">
            <a:spAutoFit/>
          </a:bodyPr>
          <a:lstStyle/>
          <a:p>
            <a:pPr algn="ctr">
              <a:defRPr sz="1350" b="1">
                <a:solidFill>
                  <a:srgbClr val="FFFFFF"/>
                </a:solidFill>
                <a:latin typeface="Arial" panose="020B0604020202020204"/>
              </a:defRPr>
            </a:pPr>
            <a:r>
              <a:t>CÁCH XỬ LÝ</a:t>
            </a:r>
          </a:p>
        </p:txBody>
      </p:sp>
      <p:sp>
        <p:nvSpPr>
          <p:cNvPr id="11" name="Rounded Rectangle 10"/>
          <p:cNvSpPr/>
          <p:nvPr/>
        </p:nvSpPr>
        <p:spPr>
          <a:xfrm>
            <a:off x="2797810" y="3346450"/>
            <a:ext cx="8686800" cy="1011555"/>
          </a:xfrm>
          <a:prstGeom prst="roundRect">
            <a:avLst/>
          </a:prstGeom>
          <a:solidFill>
            <a:srgbClr val="F2F6FC"/>
          </a:solidFill>
          <a:ln w="17780">
            <a:solidFill>
              <a:srgbClr val="BBD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80944" y="3419856"/>
            <a:ext cx="2682240" cy="763270"/>
          </a:xfrm>
          <a:prstGeom prst="rect">
            <a:avLst/>
          </a:prstGeom>
          <a:noFill/>
        </p:spPr>
        <p:txBody>
          <a:bodyPr wrap="square">
            <a:spAutoFit/>
          </a:bodyPr>
          <a:lstStyle/>
          <a:p>
            <a:pPr>
              <a:defRPr sz="1050" b="1">
                <a:solidFill>
                  <a:srgbClr val="1F4E79"/>
                </a:solidFill>
                <a:latin typeface="Arial" panose="020B0604020202020204"/>
              </a:defRPr>
            </a:pPr>
            <a:r>
              <a:t>• Thiết kế đối xứng 1:1:</a:t>
            </a:r>
          </a:p>
          <a:p>
            <a:pPr>
              <a:spcBef>
                <a:spcPts val="200"/>
              </a:spcBef>
              <a:defRPr sz="950">
                <a:solidFill>
                  <a:srgbClr val="232323"/>
                </a:solidFill>
                <a:latin typeface="Arial" panose="020B0604020202020204"/>
              </a:defRPr>
            </a:pPr>
            <a:r>
              <a:rPr sz="1050"/>
              <a:t>Giữ nguyên 100% phần phân loại, chỉ khác đúng bộ trích xuất đặc trưng (chênh đúng 20 tham số chuẩn đối sánh).</a:t>
            </a:r>
            <a:endParaRPr sz="1050"/>
          </a:p>
        </p:txBody>
      </p:sp>
      <p:sp>
        <p:nvSpPr>
          <p:cNvPr id="13" name="TextBox 12"/>
          <p:cNvSpPr txBox="1"/>
          <p:nvPr/>
        </p:nvSpPr>
        <p:spPr>
          <a:xfrm>
            <a:off x="5754370" y="3420110"/>
            <a:ext cx="2773680" cy="763270"/>
          </a:xfrm>
          <a:prstGeom prst="rect">
            <a:avLst/>
          </a:prstGeom>
          <a:noFill/>
        </p:spPr>
        <p:txBody>
          <a:bodyPr wrap="square">
            <a:spAutoFit/>
          </a:bodyPr>
          <a:lstStyle/>
          <a:p>
            <a:pPr>
              <a:defRPr sz="1050" b="1">
                <a:solidFill>
                  <a:srgbClr val="1F4E79"/>
                </a:solidFill>
                <a:latin typeface="Arial" panose="020B0604020202020204"/>
              </a:defRPr>
            </a:pPr>
            <a:r>
              <a:t>• Thực nghiệm 10 seeds:</a:t>
            </a:r>
          </a:p>
          <a:p>
            <a:pPr>
              <a:spcBef>
                <a:spcPts val="200"/>
              </a:spcBef>
              <a:defRPr sz="950">
                <a:solidFill>
                  <a:srgbClr val="232323"/>
                </a:solidFill>
                <a:latin typeface="Arial" panose="020B0604020202020204"/>
              </a:defRPr>
            </a:pPr>
            <a:r>
              <a:rPr sz="1050"/>
              <a:t>Chạy lặp độc lập 10 lần cố định trên từng tập dữ liệu, tính độ lệch chuẩn và kiểm định thống kê y khoa (Paired t-test, Wilcoxon).</a:t>
            </a:r>
            <a:endParaRPr sz="1050"/>
          </a:p>
        </p:txBody>
      </p:sp>
      <p:sp>
        <p:nvSpPr>
          <p:cNvPr id="14" name="TextBox 13"/>
          <p:cNvSpPr txBox="1"/>
          <p:nvPr/>
        </p:nvSpPr>
        <p:spPr>
          <a:xfrm>
            <a:off x="8528050" y="3420110"/>
            <a:ext cx="2951480" cy="763270"/>
          </a:xfrm>
          <a:prstGeom prst="rect">
            <a:avLst/>
          </a:prstGeom>
          <a:noFill/>
        </p:spPr>
        <p:txBody>
          <a:bodyPr wrap="square">
            <a:spAutoFit/>
          </a:bodyPr>
          <a:lstStyle/>
          <a:p>
            <a:pPr>
              <a:defRPr sz="1050" b="1">
                <a:solidFill>
                  <a:srgbClr val="1F4E79"/>
                </a:solidFill>
                <a:latin typeface="Arial" panose="020B0604020202020204"/>
              </a:defRPr>
            </a:pPr>
            <a:r>
              <a:t>• Khảo sát đa cấu trúc:</a:t>
            </a:r>
          </a:p>
          <a:p>
            <a:pPr>
              <a:spcBef>
                <a:spcPts val="200"/>
              </a:spcBef>
              <a:defRPr sz="950">
                <a:solidFill>
                  <a:srgbClr val="232323"/>
                </a:solidFill>
                <a:latin typeface="Arial" panose="020B0604020202020204"/>
              </a:defRPr>
            </a:pPr>
            <a:r>
              <a:rPr sz="1050"/>
              <a:t>So sánh trực tiếp 3 mô hình: CNN Cổ Điển vs Lượng Tử Cố Định (Frozen) vs Lượng Tử Tự Học (Trainable), đo chính xác thời gian.</a:t>
            </a:r>
            <a:endParaRPr sz="1050"/>
          </a:p>
        </p:txBody>
      </p:sp>
      <p:sp>
        <p:nvSpPr>
          <p:cNvPr id="15" name="Rounded Rectangle 14"/>
          <p:cNvSpPr/>
          <p:nvPr/>
        </p:nvSpPr>
        <p:spPr>
          <a:xfrm>
            <a:off x="694690" y="4773295"/>
            <a:ext cx="2011680" cy="1009015"/>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350" y="5144770"/>
            <a:ext cx="1865630" cy="298450"/>
          </a:xfrm>
          <a:prstGeom prst="rect">
            <a:avLst/>
          </a:prstGeom>
          <a:noFill/>
        </p:spPr>
        <p:txBody>
          <a:bodyPr wrap="square">
            <a:noAutofit/>
          </a:bodyPr>
          <a:lstStyle/>
          <a:p>
            <a:pPr algn="ctr">
              <a:defRPr sz="1350" b="1">
                <a:solidFill>
                  <a:srgbClr val="FFFFFF"/>
                </a:solidFill>
                <a:latin typeface="Arial" panose="020B0604020202020204"/>
              </a:defRPr>
            </a:pPr>
            <a:r>
              <a:t>KẾT QUẢ</a:t>
            </a:r>
          </a:p>
          <a:p>
            <a:pPr algn="ctr">
              <a:spcBef>
                <a:spcPts val="400"/>
              </a:spcBef>
              <a:defRPr sz="1000">
                <a:solidFill>
                  <a:srgbClr val="FFFFFF"/>
                </a:solidFill>
                <a:latin typeface="Arial" panose="020B0604020202020204"/>
              </a:defRPr>
            </a:pPr>
          </a:p>
        </p:txBody>
      </p:sp>
      <p:sp>
        <p:nvSpPr>
          <p:cNvPr id="17" name="Rounded Rectangle 16"/>
          <p:cNvSpPr/>
          <p:nvPr/>
        </p:nvSpPr>
        <p:spPr>
          <a:xfrm>
            <a:off x="2797810" y="4773295"/>
            <a:ext cx="8686800" cy="1017905"/>
          </a:xfrm>
          <a:prstGeom prst="roundRect">
            <a:avLst/>
          </a:prstGeom>
          <a:solidFill>
            <a:srgbClr val="F1F8F2"/>
          </a:solidFill>
          <a:ln w="1778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80690" y="4846320"/>
            <a:ext cx="2773680" cy="763270"/>
          </a:xfrm>
          <a:prstGeom prst="rect">
            <a:avLst/>
          </a:prstGeom>
          <a:noFill/>
        </p:spPr>
        <p:txBody>
          <a:bodyPr wrap="square">
            <a:spAutoFit/>
          </a:bodyPr>
          <a:lstStyle/>
          <a:p>
            <a:pPr>
              <a:defRPr sz="1050" b="1">
                <a:solidFill>
                  <a:srgbClr val="2E7D32"/>
                </a:solidFill>
                <a:latin typeface="Arial" panose="020B0604020202020204"/>
              </a:defRPr>
            </a:pPr>
            <a:r>
              <a:t>• Chứng minh tính vượt trội:</a:t>
            </a:r>
          </a:p>
          <a:p>
            <a:pPr>
              <a:spcBef>
                <a:spcPts val="200"/>
              </a:spcBef>
              <a:defRPr sz="950">
                <a:solidFill>
                  <a:srgbClr val="232323"/>
                </a:solidFill>
                <a:latin typeface="Arial" panose="020B0604020202020204"/>
              </a:defRPr>
            </a:pPr>
            <a:r>
              <a:rPr sz="1050"/>
              <a:t>Đo lường chính xác xem mạch lượng tử có thực sự trích xuất ảnh tốt hơn</a:t>
            </a:r>
            <a:r>
              <a:rPr lang="en-US" sz="1050"/>
              <a:t> (</a:t>
            </a:r>
            <a:r>
              <a:rPr sz="1050"/>
              <a:t>ROC-AUC đạt 0.8521 trên dữ liệu nhỏ BreastMNIST</a:t>
            </a:r>
            <a:r>
              <a:rPr lang="en-US" sz="1050"/>
              <a:t>)</a:t>
            </a:r>
            <a:r>
              <a:rPr sz="1050"/>
              <a:t>.</a:t>
            </a:r>
            <a:endParaRPr sz="1050"/>
          </a:p>
        </p:txBody>
      </p:sp>
      <p:sp>
        <p:nvSpPr>
          <p:cNvPr id="19" name="TextBox 18"/>
          <p:cNvSpPr txBox="1"/>
          <p:nvPr/>
        </p:nvSpPr>
        <p:spPr>
          <a:xfrm>
            <a:off x="5754624" y="4846320"/>
            <a:ext cx="2682240" cy="763270"/>
          </a:xfrm>
          <a:prstGeom prst="rect">
            <a:avLst/>
          </a:prstGeom>
          <a:noFill/>
        </p:spPr>
        <p:txBody>
          <a:bodyPr wrap="square">
            <a:spAutoFit/>
          </a:bodyPr>
          <a:lstStyle/>
          <a:p>
            <a:pPr>
              <a:defRPr sz="1050" b="1">
                <a:solidFill>
                  <a:srgbClr val="2E7D32"/>
                </a:solidFill>
                <a:latin typeface="Arial" panose="020B0604020202020204"/>
              </a:defRPr>
            </a:pPr>
            <a:r>
              <a:t>• Khẳng định căn cứ khoa học:</a:t>
            </a:r>
          </a:p>
          <a:p>
            <a:pPr>
              <a:spcBef>
                <a:spcPts val="200"/>
              </a:spcBef>
              <a:defRPr sz="950">
                <a:solidFill>
                  <a:srgbClr val="232323"/>
                </a:solidFill>
                <a:latin typeface="Arial" panose="020B0604020202020204"/>
              </a:defRPr>
            </a:pPr>
            <a:r>
              <a:rPr sz="1050"/>
              <a:t>Kết luận đưa ra là vững chắc, có ý nghĩa thống kê y khoa (p &lt; 0.05), loại trừ khả năng kết luận chỉ dựa trên may rủi.</a:t>
            </a:r>
            <a:endParaRPr sz="1050"/>
          </a:p>
        </p:txBody>
      </p:sp>
      <p:sp>
        <p:nvSpPr>
          <p:cNvPr id="20" name="TextBox 19"/>
          <p:cNvSpPr txBox="1"/>
          <p:nvPr/>
        </p:nvSpPr>
        <p:spPr>
          <a:xfrm>
            <a:off x="8528304" y="4846320"/>
            <a:ext cx="2682240" cy="763270"/>
          </a:xfrm>
          <a:prstGeom prst="rect">
            <a:avLst/>
          </a:prstGeom>
          <a:noFill/>
        </p:spPr>
        <p:txBody>
          <a:bodyPr wrap="square">
            <a:spAutoFit/>
          </a:bodyPr>
          <a:lstStyle/>
          <a:p>
            <a:pPr>
              <a:defRPr sz="1050" b="1">
                <a:solidFill>
                  <a:srgbClr val="2E7D32"/>
                </a:solidFill>
                <a:latin typeface="Arial" panose="020B0604020202020204"/>
              </a:defRPr>
            </a:pPr>
            <a:r>
              <a:t>• Tối ưu hóa tài nguyên:</a:t>
            </a:r>
          </a:p>
          <a:p>
            <a:pPr>
              <a:spcBef>
                <a:spcPts val="200"/>
              </a:spcBef>
              <a:defRPr sz="950">
                <a:solidFill>
                  <a:srgbClr val="232323"/>
                </a:solidFill>
                <a:latin typeface="Arial" panose="020B0604020202020204"/>
              </a:defRPr>
            </a:pPr>
            <a:r>
              <a:rPr sz="1050"/>
              <a:t>Chỉ rõ khi nào nên dùng mạch tĩnh ngẫu nhiên (tiết kiệm thời gian, 0 cần train) và khi nào cần mạch lượng tử tự học.</a:t>
            </a:r>
            <a:endParaRPr sz="10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p:cNvSpPr>
            <a:spLocks noGrp="1"/>
          </p:cNvSpPr>
          <p:nvPr>
            <p:ph type="sldNum" sz="quarter" idx="12"/>
          </p:nvPr>
        </p:nvSpPr>
        <p:spPr/>
        <p:txBody>
          <a:bodyPr/>
          <a:lstStyle/>
          <a:p>
            <a:fld id="{48F63A3B-78C7-47BE-AE5E-E10140E04643}" type="slidenum">
              <a:rPr lang="en-US" smtClean="0"/>
            </a:fld>
            <a:endParaRPr lang="en-US" dirty="0"/>
          </a:p>
        </p:txBody>
      </p:sp>
      <p:sp>
        <p:nvSpPr>
          <p:cNvPr id="4" name="Title 3"/>
          <p:cNvSpPr>
            <a:spLocks noGrp="1"/>
          </p:cNvSpPr>
          <p:nvPr>
            <p:ph type="title"/>
          </p:nvPr>
        </p:nvSpPr>
        <p:spPr/>
        <p:txBody>
          <a:bodyPr>
            <a:normAutofit/>
          </a:bodyPr>
          <a:lstStyle/>
          <a:p>
            <a:r>
              <a:rPr lang="en-US" dirty="0"/>
              <a:t>GIẢI PHÁP ĐỀ XUẤT</a:t>
            </a:r>
            <a:endParaRPr lang="en-US" dirty="0"/>
          </a:p>
        </p:txBody>
      </p:sp>
      <p:sp>
        <p:nvSpPr>
          <p:cNvPr id="5" name="Text Placeholder 4"/>
          <p:cNvSpPr>
            <a:spLocks noGrp="1"/>
          </p:cNvSpPr>
          <p:nvPr>
            <p:ph type="body" idx="1"/>
          </p:nvPr>
        </p:nvSpPr>
        <p:spPr/>
        <p:txBody>
          <a:bodyPr/>
          <a:lstStyle/>
          <a:p>
            <a:endParaRPr lang="en-US"/>
          </a:p>
        </p:txBody>
      </p:sp>
      <p:sp>
        <p:nvSpPr>
          <p:cNvPr id="6" name="Content Placeholder 5"/>
          <p:cNvSpPr>
            <a:spLocks noGrp="1"/>
          </p:cNvSpPr>
          <p:nvPr>
            <p:ph sz="quarter" idx="13"/>
          </p:nvPr>
        </p:nvSpPr>
        <p:spPr/>
        <p:txBody>
          <a:bodyPr/>
          <a:lstStyle/>
          <a:p>
            <a:r>
              <a:rPr lang="en-US" dirty="0"/>
              <a:t>02</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790" y="1036955"/>
            <a:ext cx="11263630" cy="890905"/>
          </a:xfrm>
        </p:spPr>
        <p:txBody>
          <a:bodyPr>
            <a:normAutofit/>
          </a:bodyPr>
          <a:lstStyle/>
          <a:p>
            <a:r>
              <a:rPr sz="3890"/>
              <a:t>2. </a:t>
            </a:r>
            <a:r>
              <a:rPr sz="3890"/>
              <a:t>Nguyên lý Hoạt động: </a:t>
            </a:r>
            <a:endParaRPr sz="3890"/>
          </a:p>
        </p:txBody>
      </p:sp>
      <p:sp>
        <p:nvSpPr>
          <p:cNvPr id="4" name="Footer Placeholder 3"/>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pic>
        <p:nvPicPr>
          <p:cNvPr id="6" name="Picture 5" descr="Fig2_features_slide_simplified.png"/>
          <p:cNvPicPr>
            <a:picLocks noChangeAspect="1"/>
          </p:cNvPicPr>
          <p:nvPr/>
        </p:nvPicPr>
        <p:blipFill>
          <a:blip r:embed="rId1"/>
          <a:stretch>
            <a:fillRect/>
          </a:stretch>
        </p:blipFill>
        <p:spPr>
          <a:xfrm>
            <a:off x="694944" y="1965960"/>
            <a:ext cx="10789920" cy="2514600"/>
          </a:xfrm>
          <a:prstGeom prst="rect">
            <a:avLst/>
          </a:prstGeom>
        </p:spPr>
      </p:pic>
      <p:sp>
        <p:nvSpPr>
          <p:cNvPr id="12" name="TextBox 11"/>
          <p:cNvSpPr txBox="1"/>
          <p:nvPr/>
        </p:nvSpPr>
        <p:spPr>
          <a:xfrm>
            <a:off x="694690" y="4718050"/>
            <a:ext cx="10878185" cy="1266825"/>
          </a:xfrm>
          <a:prstGeom prst="rect">
            <a:avLst/>
          </a:prstGeom>
          <a:noFill/>
        </p:spPr>
        <p:txBody>
          <a:bodyPr wrap="square" lIns="0" tIns="0" rIns="0" bIns="0">
            <a:spAutoFit/>
          </a:bodyPr>
          <a:lstStyle/>
          <a:p>
            <a:pPr>
              <a:defRPr sz="1200" b="1">
                <a:solidFill>
                  <a:srgbClr val="1F4E79"/>
                </a:solidFill>
                <a:latin typeface="Arial" panose="020B0604020202020204"/>
              </a:defRPr>
            </a:pPr>
            <a:r>
              <a:rPr sz="1600"/>
              <a:t>Ba Cấu Trúc Mạch Lượng Tử</a:t>
            </a:r>
            <a:r>
              <a:rPr lang="en-US" sz="1600"/>
              <a:t> Được</a:t>
            </a:r>
            <a:r>
              <a:rPr sz="1600"/>
              <a:t> Khảo Sát</a:t>
            </a:r>
            <a:endParaRPr sz="1600"/>
          </a:p>
          <a:p>
            <a:pPr>
              <a:spcBef>
                <a:spcPts val="600"/>
              </a:spcBef>
              <a:spcAft>
                <a:spcPts val="200"/>
              </a:spcAft>
            </a:pPr>
            <a:r>
              <a:rPr sz="1600" b="1">
                <a:solidFill>
                  <a:srgbClr val="1E1E1E"/>
                </a:solidFill>
                <a:latin typeface="Arial" panose="020B0604020202020204"/>
              </a:rPr>
              <a:t>• Mạch Basic (Cơ bản): </a:t>
            </a:r>
            <a:r>
              <a:rPr sz="1600">
                <a:solidFill>
                  <a:srgbClr val="1E1E1E"/>
                </a:solidFill>
                <a:latin typeface="Arial" panose="020B0604020202020204"/>
              </a:rPr>
              <a:t>Xoay góc nhẹ và kết nối các qubit liền kề (gọn nhẹ, nhanh).</a:t>
            </a:r>
            <a:endParaRPr sz="1600">
              <a:solidFill>
                <a:srgbClr val="1E1E1E"/>
              </a:solidFill>
              <a:latin typeface="Arial" panose="020B0604020202020204"/>
            </a:endParaRPr>
          </a:p>
          <a:p>
            <a:pPr>
              <a:spcBef>
                <a:spcPts val="600"/>
              </a:spcBef>
              <a:spcAft>
                <a:spcPts val="200"/>
              </a:spcAft>
            </a:pPr>
            <a:r>
              <a:rPr sz="1600" b="1">
                <a:solidFill>
                  <a:srgbClr val="1E1E1E"/>
                </a:solidFill>
                <a:latin typeface="Arial" panose="020B0604020202020204"/>
              </a:rPr>
              <a:t>• Mạch Strongly (Vướng víu cao): </a:t>
            </a:r>
            <a:r>
              <a:rPr sz="1600">
                <a:solidFill>
                  <a:srgbClr val="1E1E1E"/>
                </a:solidFill>
                <a:latin typeface="Arial" panose="020B0604020202020204"/>
              </a:rPr>
              <a:t>Xoay đa chiều và kết nối chéo toàn bộ qubit (độ biểu đạt mạnh nhất).</a:t>
            </a:r>
            <a:endParaRPr sz="1600">
              <a:solidFill>
                <a:srgbClr val="1E1E1E"/>
              </a:solidFill>
              <a:latin typeface="Arial" panose="020B0604020202020204"/>
            </a:endParaRPr>
          </a:p>
          <a:p>
            <a:pPr>
              <a:spcBef>
                <a:spcPts val="600"/>
              </a:spcBef>
              <a:spcAft>
                <a:spcPts val="200"/>
              </a:spcAft>
            </a:pPr>
            <a:r>
              <a:rPr sz="1600" b="1">
                <a:solidFill>
                  <a:srgbClr val="1E1E1E"/>
                </a:solidFill>
                <a:latin typeface="Arial" panose="020B0604020202020204"/>
              </a:rPr>
              <a:t>• Mạch Random (Ngẫu nhiên): </a:t>
            </a:r>
            <a:r>
              <a:rPr sz="1600">
                <a:solidFill>
                  <a:srgbClr val="1E1E1E"/>
                </a:solidFill>
                <a:latin typeface="Arial" panose="020B0604020202020204"/>
              </a:rPr>
              <a:t>Góc xoay ngẫu nhiên cố định sẵn (0 cần học, tính </a:t>
            </a:r>
            <a:r>
              <a:rPr sz="1600">
                <a:solidFill>
                  <a:srgbClr val="1E1E1E"/>
                </a:solidFill>
                <a:latin typeface="Arial" panose="020B0604020202020204"/>
              </a:rPr>
              <a:t>cực nhanh).</a:t>
            </a:r>
            <a:endParaRPr sz="1600">
              <a:solidFill>
                <a:srgbClr val="1E1E1E"/>
              </a:solidFill>
              <a:latin typeface="Arial" panose="020B0604020202020204"/>
            </a:endParaRPr>
          </a:p>
          <a:p>
            <a:pPr>
              <a:spcBef>
                <a:spcPts val="800"/>
              </a:spcBef>
            </a:pPr>
            <a:r>
              <a:rPr sz="1300" b="1">
                <a:solidFill>
                  <a:srgbClr val="1F4E79"/>
                </a:solidFill>
                <a:latin typeface="Arial" panose="020B0604020202020204"/>
              </a:rPr>
              <a:t>Tham số/tầng: Basic 4L · Strongly 12L · Random 0 (đóng băng)</a:t>
            </a:r>
            <a:endParaRPr sz="1300" b="1">
              <a:solidFill>
                <a:srgbClr val="1F4E79"/>
              </a:solidFill>
              <a:latin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790" y="1036955"/>
            <a:ext cx="11294110" cy="890905"/>
          </a:xfrm>
        </p:spPr>
        <p:txBody>
          <a:bodyPr>
            <a:noAutofit/>
          </a:bodyPr>
          <a:lstStyle/>
          <a:p>
            <a:r>
              <a:rPr sz="3500"/>
              <a:t>2. Thiết kế Mô hình</a:t>
            </a:r>
            <a:r>
              <a:rPr lang="en-US" sz="3500"/>
              <a:t>:</a:t>
            </a:r>
            <a:endParaRPr lang="en-US" sz="3500"/>
          </a:p>
        </p:txBody>
      </p:sp>
      <p:sp>
        <p:nvSpPr>
          <p:cNvPr id="4" name="Footer Placeholder 3"/>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pic>
        <p:nvPicPr>
          <p:cNvPr id="6" name="Picture 5" descr="Fig1_pipeline_slide_simplified.png"/>
          <p:cNvPicPr>
            <a:picLocks noChangeAspect="1"/>
          </p:cNvPicPr>
          <p:nvPr/>
        </p:nvPicPr>
        <p:blipFill>
          <a:blip r:embed="rId4"/>
          <a:stretch>
            <a:fillRect/>
          </a:stretch>
        </p:blipFill>
        <p:spPr>
          <a:xfrm>
            <a:off x="1298448" y="1691640"/>
            <a:ext cx="9601200" cy="1344168"/>
          </a:xfrm>
          <a:prstGeom prst="rect">
            <a:avLst/>
          </a:prstGeom>
        </p:spPr>
      </p:pic>
      <p:pic>
        <p:nvPicPr>
          <p:cNvPr id="7" name="Picture 6" descr="image.png"/>
          <p:cNvPicPr>
            <a:picLocks noChangeAspect="1"/>
          </p:cNvPicPr>
          <p:nvPr/>
        </p:nvPicPr>
        <p:blipFill>
          <a:blip r:embed="rId2"/>
          <a:stretch>
            <a:fillRect/>
          </a:stretch>
        </p:blipFill>
        <p:spPr>
          <a:xfrm>
            <a:off x="2212848" y="3154680"/>
            <a:ext cx="7772400" cy="31363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p:cNvSpPr>
            <a:spLocks noGrp="1"/>
          </p:cNvSpPr>
          <p:nvPr>
            <p:ph type="sldNum" sz="quarter" idx="12"/>
          </p:nvPr>
        </p:nvSpPr>
        <p:spPr/>
        <p:txBody>
          <a:bodyPr/>
          <a:lstStyle/>
          <a:p>
            <a:fld id="{48F63A3B-78C7-47BE-AE5E-E10140E04643}" type="slidenum">
              <a:rPr lang="en-US" smtClean="0"/>
            </a:fld>
            <a:endParaRPr lang="en-US" dirty="0"/>
          </a:p>
        </p:txBody>
      </p:sp>
      <p:sp>
        <p:nvSpPr>
          <p:cNvPr id="4" name="Title 3"/>
          <p:cNvSpPr>
            <a:spLocks noGrp="1"/>
          </p:cNvSpPr>
          <p:nvPr>
            <p:ph type="title"/>
          </p:nvPr>
        </p:nvSpPr>
        <p:spPr/>
        <p:txBody>
          <a:bodyPr>
            <a:normAutofit/>
          </a:bodyPr>
          <a:lstStyle/>
          <a:p>
            <a:r>
              <a:rPr lang="en-US" dirty="0"/>
              <a:t>KẾT QUẢ </a:t>
            </a:r>
            <a:endParaRPr lang="en-US" dirty="0"/>
          </a:p>
        </p:txBody>
      </p:sp>
      <p:sp>
        <p:nvSpPr>
          <p:cNvPr id="5" name="Text Placeholder 4"/>
          <p:cNvSpPr>
            <a:spLocks noGrp="1"/>
          </p:cNvSpPr>
          <p:nvPr>
            <p:ph type="body" idx="1"/>
          </p:nvPr>
        </p:nvSpPr>
        <p:spPr/>
        <p:txBody>
          <a:bodyPr/>
          <a:lstStyle/>
          <a:p>
            <a:endParaRPr lang="en-US"/>
          </a:p>
        </p:txBody>
      </p:sp>
      <p:sp>
        <p:nvSpPr>
          <p:cNvPr id="6" name="Content Placeholder 5"/>
          <p:cNvSpPr>
            <a:spLocks noGrp="1"/>
          </p:cNvSpPr>
          <p:nvPr>
            <p:ph sz="quarter" idx="13"/>
          </p:nvPr>
        </p:nvSpPr>
        <p:spPr/>
        <p:txBody>
          <a:bodyPr/>
          <a:lstStyle/>
          <a:p>
            <a:r>
              <a:rPr lang="en-US" dirty="0"/>
              <a:t>03</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sz="3500"/>
              <a:t>3. Thử nghiệm</a:t>
            </a:r>
            <a:r>
              <a:rPr lang="en-US" sz="3500"/>
              <a:t> trên</a:t>
            </a:r>
            <a:r>
              <a:rPr sz="3500"/>
              <a:t> BreastMNIST</a:t>
            </a:r>
            <a:r>
              <a:rPr lang="en-US" sz="3500"/>
              <a:t>*</a:t>
            </a:r>
            <a:endParaRPr sz="3500"/>
          </a:p>
        </p:txBody>
      </p:sp>
      <p:sp>
        <p:nvSpPr>
          <p:cNvPr id="4" name="Footer Placeholder 3"/>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graphicFrame>
        <p:nvGraphicFramePr>
          <p:cNvPr id="6" name="Table 5"/>
          <p:cNvGraphicFramePr>
            <a:graphicFrameLocks noGrp="1"/>
          </p:cNvGraphicFramePr>
          <p:nvPr/>
        </p:nvGraphicFramePr>
        <p:xfrm>
          <a:off x="694944" y="1974850"/>
          <a:ext cx="5943600" cy="2240280"/>
        </p:xfrm>
        <a:graphic>
          <a:graphicData uri="http://schemas.openxmlformats.org/drawingml/2006/table">
            <a:tbl>
              <a:tblPr firstRow="1" bandRow="1">
                <a:tableStyleId>{5C22544A-7EE6-4342-B048-85BDC9FD1C3A}</a:tableStyleId>
              </a:tblPr>
              <a:tblGrid>
                <a:gridCol w="2011680"/>
                <a:gridCol w="1005840"/>
                <a:gridCol w="1188720"/>
                <a:gridCol w="1097280"/>
                <a:gridCol w="640080"/>
              </a:tblGrid>
              <a:tr h="373380">
                <a:tc>
                  <a:txBody>
                    <a:bodyPr/>
                    <a:lstStyle/>
                    <a:p>
                      <a:pPr algn="ctr">
                        <a:defRPr sz="1000" b="1">
                          <a:solidFill>
                            <a:srgbClr val="FFFFFF"/>
                          </a:solidFill>
                          <a:latin typeface="Arial" panose="020B0604020202020204"/>
                        </a:defRPr>
                      </a:pPr>
                      <a:r>
                        <a:t>Mô hình</a:t>
                      </a:r>
                    </a:p>
                  </a:txBody>
                  <a:tcPr anchor="ctr">
                    <a:solidFill>
                      <a:srgbClr val="1F4E79"/>
                    </a:solidFill>
                  </a:tcPr>
                </a:tc>
                <a:tc>
                  <a:txBody>
                    <a:bodyPr/>
                    <a:lstStyle/>
                    <a:p>
                      <a:pPr algn="ctr">
                        <a:defRPr sz="1000" b="1">
                          <a:solidFill>
                            <a:srgbClr val="FFFFFF"/>
                          </a:solidFill>
                          <a:latin typeface="Arial" panose="020B0604020202020204"/>
                        </a:defRPr>
                      </a:pPr>
                      <a:r>
                        <a:t>Tham số Kernel</a:t>
                      </a:r>
                    </a:p>
                  </a:txBody>
                  <a:tcPr anchor="ctr">
                    <a:solidFill>
                      <a:srgbClr val="1F4E79"/>
                    </a:solidFill>
                  </a:tcPr>
                </a:tc>
                <a:tc>
                  <a:txBody>
                    <a:bodyPr/>
                    <a:lstStyle/>
                    <a:p>
                      <a:pPr algn="ctr">
                        <a:defRPr sz="1000" b="1">
                          <a:solidFill>
                            <a:srgbClr val="FFFFFF"/>
                          </a:solidFill>
                          <a:latin typeface="Arial" panose="020B0604020202020204"/>
                        </a:defRPr>
                      </a:pPr>
                      <a:r>
                        <a:t>ROC-AUC (Khả năng xếp hạng)</a:t>
                      </a:r>
                    </a:p>
                  </a:txBody>
                  <a:tcPr anchor="ctr">
                    <a:solidFill>
                      <a:srgbClr val="1F4E79"/>
                    </a:solidFill>
                  </a:tcPr>
                </a:tc>
                <a:tc>
                  <a:txBody>
                    <a:bodyPr/>
                    <a:lstStyle/>
                    <a:p>
                      <a:pPr algn="ctr">
                        <a:defRPr sz="1000" b="1">
                          <a:solidFill>
                            <a:srgbClr val="FFFFFF"/>
                          </a:solidFill>
                          <a:latin typeface="Arial" panose="020B0604020202020204"/>
                        </a:defRPr>
                      </a:pPr>
                      <a:r>
                        <a:t>PR-AUC (Bắt ca bệnh)</a:t>
                      </a:r>
                    </a:p>
                  </a:txBody>
                  <a:tcPr anchor="ctr">
                    <a:solidFill>
                      <a:srgbClr val="1F4E79"/>
                    </a:solidFill>
                  </a:tcPr>
                </a:tc>
                <a:tc>
                  <a:txBody>
                    <a:bodyPr/>
                    <a:lstStyle/>
                    <a:p>
                      <a:pPr algn="ctr">
                        <a:defRPr sz="1000" b="1">
                          <a:solidFill>
                            <a:srgbClr val="FFFFFF"/>
                          </a:solidFill>
                          <a:latin typeface="Arial" panose="020B0604020202020204"/>
                        </a:defRPr>
                      </a:pPr>
                      <a:r>
                        <a:t>Độ ổn định</a:t>
                      </a:r>
                    </a:p>
                  </a:txBody>
                  <a:tcPr anchor="ctr">
                    <a:solidFill>
                      <a:srgbClr val="1F4E79"/>
                    </a:solidFill>
                  </a:tcPr>
                </a:tc>
              </a:tr>
              <a:tr h="373380">
                <a:tc>
                  <a:txBody>
                    <a:bodyPr/>
                    <a:lstStyle/>
                    <a:p>
                      <a:pPr algn="l">
                        <a:defRPr sz="950">
                          <a:solidFill>
                            <a:srgbClr val="1E1E1E"/>
                          </a:solidFill>
                          <a:latin typeface="Arial" panose="020B0604020202020204"/>
                        </a:defRPr>
                      </a:pPr>
                      <a:r>
                        <a:t>CNN Cổ Điển (Chuẩn)</a:t>
                      </a:r>
                    </a:p>
                  </a:txBody>
                  <a:tcPr anchor="ctr">
                    <a:solidFill>
                      <a:srgbClr val="FFFFFF"/>
                    </a:solidFill>
                  </a:tcPr>
                </a:tc>
                <a:tc>
                  <a:txBody>
                    <a:bodyPr/>
                    <a:lstStyle/>
                    <a:p>
                      <a:pPr algn="ctr">
                        <a:defRPr sz="950">
                          <a:solidFill>
                            <a:srgbClr val="1E1E1E"/>
                          </a:solidFill>
                          <a:latin typeface="Arial" panose="020B0604020202020204"/>
                        </a:defRPr>
                      </a:pPr>
                      <a:r>
                        <a:t>20 tham số</a:t>
                      </a:r>
                    </a:p>
                  </a:txBody>
                  <a:tcPr anchor="ctr">
                    <a:solidFill>
                      <a:srgbClr val="FFFFFF"/>
                    </a:solidFill>
                  </a:tcPr>
                </a:tc>
                <a:tc>
                  <a:txBody>
                    <a:bodyPr/>
                    <a:lstStyle/>
                    <a:p>
                      <a:pPr algn="ctr">
                        <a:defRPr sz="950">
                          <a:solidFill>
                            <a:srgbClr val="1E1E1E"/>
                          </a:solidFill>
                          <a:latin typeface="Arial" panose="020B0604020202020204"/>
                        </a:defRPr>
                      </a:pPr>
                      <a:r>
                        <a:t>0.8336 ± 0.0259</a:t>
                      </a:r>
                    </a:p>
                  </a:txBody>
                  <a:tcPr anchor="ctr">
                    <a:solidFill>
                      <a:srgbClr val="FFFFFF"/>
                    </a:solidFill>
                  </a:tcPr>
                </a:tc>
                <a:tc>
                  <a:txBody>
                    <a:bodyPr/>
                    <a:lstStyle/>
                    <a:p>
                      <a:pPr algn="ctr">
                        <a:defRPr sz="950">
                          <a:solidFill>
                            <a:srgbClr val="1E1E1E"/>
                          </a:solidFill>
                          <a:latin typeface="Arial" panose="020B0604020202020204"/>
                        </a:defRPr>
                      </a:pPr>
                      <a:r>
                        <a:t>0.9041 ± 0.0100</a:t>
                      </a:r>
                    </a:p>
                  </a:txBody>
                  <a:tcPr anchor="ctr">
                    <a:solidFill>
                      <a:srgbClr val="FFFFFF"/>
                    </a:solidFill>
                  </a:tcPr>
                </a:tc>
                <a:tc>
                  <a:txBody>
                    <a:bodyPr/>
                    <a:lstStyle/>
                    <a:p>
                      <a:pPr algn="ctr">
                        <a:defRPr sz="950">
                          <a:solidFill>
                            <a:srgbClr val="1E1E1E"/>
                          </a:solidFill>
                          <a:latin typeface="Arial" panose="020B0604020202020204"/>
                        </a:defRPr>
                      </a:pPr>
                      <a:r>
                        <a:t>Phân tán cao</a:t>
                      </a:r>
                    </a:p>
                  </a:txBody>
                  <a:tcPr anchor="ctr">
                    <a:solidFill>
                      <a:srgbClr val="FFFFFF"/>
                    </a:solidFill>
                  </a:tcPr>
                </a:tc>
              </a:tr>
              <a:tr h="373380">
                <a:tc>
                  <a:txBody>
                    <a:bodyPr/>
                    <a:lstStyle/>
                    <a:p>
                      <a:pPr algn="l">
                        <a:defRPr sz="950" b="1">
                          <a:solidFill>
                            <a:srgbClr val="1F4E79"/>
                          </a:solidFill>
                          <a:latin typeface="Arial" panose="020B0604020202020204"/>
                        </a:defRPr>
                      </a:pPr>
                      <a:r>
                        <a:t>Mạch Lượng Tử Basic (Tĩnh)</a:t>
                      </a:r>
                    </a:p>
                  </a:txBody>
                  <a:tcPr anchor="ctr">
                    <a:solidFill>
                      <a:srgbClr val="E9F3FF"/>
                    </a:solidFill>
                  </a:tcPr>
                </a:tc>
                <a:tc>
                  <a:txBody>
                    <a:bodyPr/>
                    <a:lstStyle/>
                    <a:p>
                      <a:pPr algn="ctr">
                        <a:defRPr sz="950" b="1">
                          <a:solidFill>
                            <a:srgbClr val="1F4E79"/>
                          </a:solidFill>
                          <a:latin typeface="Arial" panose="020B0604020202020204"/>
                        </a:defRPr>
                      </a:pPr>
                      <a:r>
                        <a:t>0 tham số (khóa)</a:t>
                      </a:r>
                    </a:p>
                  </a:txBody>
                  <a:tcPr anchor="ctr">
                    <a:solidFill>
                      <a:srgbClr val="E9F3FF"/>
                    </a:solidFill>
                  </a:tcPr>
                </a:tc>
                <a:tc>
                  <a:txBody>
                    <a:bodyPr/>
                    <a:lstStyle/>
                    <a:p>
                      <a:pPr algn="ctr">
                        <a:defRPr sz="950" b="1">
                          <a:solidFill>
                            <a:srgbClr val="1F4E79"/>
                          </a:solidFill>
                          <a:latin typeface="Arial" panose="020B0604020202020204"/>
                        </a:defRPr>
                      </a:pPr>
                      <a:r>
                        <a:t>0.8521 ± 0.0095 ★</a:t>
                      </a:r>
                    </a:p>
                  </a:txBody>
                  <a:tcPr anchor="ctr">
                    <a:solidFill>
                      <a:srgbClr val="E9F3FF"/>
                    </a:solidFill>
                  </a:tcPr>
                </a:tc>
                <a:tc>
                  <a:txBody>
                    <a:bodyPr/>
                    <a:lstStyle/>
                    <a:p>
                      <a:pPr algn="ctr">
                        <a:defRPr sz="950" b="1">
                          <a:solidFill>
                            <a:srgbClr val="1F4E79"/>
                          </a:solidFill>
                          <a:latin typeface="Arial" panose="020B0604020202020204"/>
                        </a:defRPr>
                      </a:pPr>
                      <a:r>
                        <a:t>0.9110 ± 0.0051</a:t>
                      </a:r>
                    </a:p>
                  </a:txBody>
                  <a:tcPr anchor="ctr">
                    <a:solidFill>
                      <a:srgbClr val="E9F3FF"/>
                    </a:solidFill>
                  </a:tcPr>
                </a:tc>
                <a:tc>
                  <a:txBody>
                    <a:bodyPr/>
                    <a:lstStyle/>
                    <a:p>
                      <a:pPr algn="ctr">
                        <a:defRPr sz="950" b="1">
                          <a:solidFill>
                            <a:srgbClr val="1F4E79"/>
                          </a:solidFill>
                          <a:latin typeface="Arial" panose="020B0604020202020204"/>
                        </a:defRPr>
                      </a:pPr>
                      <a:r>
                        <a:t>Ổn định gấp 2.7 lần</a:t>
                      </a:r>
                    </a:p>
                  </a:txBody>
                  <a:tcPr anchor="ctr">
                    <a:solidFill>
                      <a:srgbClr val="E9F3FF"/>
                    </a:solidFill>
                  </a:tcPr>
                </a:tc>
              </a:tr>
              <a:tr h="373380">
                <a:tc>
                  <a:txBody>
                    <a:bodyPr/>
                    <a:lstStyle/>
                    <a:p>
                      <a:pPr algn="l">
                        <a:defRPr sz="950">
                          <a:solidFill>
                            <a:srgbClr val="1E1E1E"/>
                          </a:solidFill>
                          <a:latin typeface="Arial" panose="020B0604020202020204"/>
                        </a:defRPr>
                      </a:pPr>
                      <a:r>
                        <a:t>Mạch Lượng Tử Strongly (Tĩnh)</a:t>
                      </a:r>
                    </a:p>
                  </a:txBody>
                  <a:tcPr anchor="ctr">
                    <a:solidFill>
                      <a:srgbClr val="FFFFFF"/>
                    </a:solidFill>
                  </a:tcPr>
                </a:tc>
                <a:tc>
                  <a:txBody>
                    <a:bodyPr/>
                    <a:lstStyle/>
                    <a:p>
                      <a:pPr algn="ctr">
                        <a:defRPr sz="950">
                          <a:solidFill>
                            <a:srgbClr val="1E1E1E"/>
                          </a:solidFill>
                          <a:latin typeface="Arial" panose="020B0604020202020204"/>
                        </a:defRPr>
                      </a:pPr>
                      <a:r>
                        <a:t>0 tham số (khóa)</a:t>
                      </a:r>
                    </a:p>
                  </a:txBody>
                  <a:tcPr anchor="ctr">
                    <a:solidFill>
                      <a:srgbClr val="FFFFFF"/>
                    </a:solidFill>
                  </a:tcPr>
                </a:tc>
                <a:tc>
                  <a:txBody>
                    <a:bodyPr/>
                    <a:lstStyle/>
                    <a:p>
                      <a:pPr algn="ctr">
                        <a:defRPr sz="950">
                          <a:solidFill>
                            <a:srgbClr val="1E1E1E"/>
                          </a:solidFill>
                          <a:latin typeface="Arial" panose="020B0604020202020204"/>
                        </a:defRPr>
                      </a:pPr>
                      <a:r>
                        <a:t>0.8139 ± 0.0150</a:t>
                      </a:r>
                    </a:p>
                  </a:txBody>
                  <a:tcPr anchor="ctr">
                    <a:solidFill>
                      <a:srgbClr val="FFFFFF"/>
                    </a:solidFill>
                  </a:tcPr>
                </a:tc>
                <a:tc>
                  <a:txBody>
                    <a:bodyPr/>
                    <a:lstStyle/>
                    <a:p>
                      <a:pPr algn="ctr">
                        <a:defRPr sz="950">
                          <a:solidFill>
                            <a:srgbClr val="1E1E1E"/>
                          </a:solidFill>
                          <a:latin typeface="Arial" panose="020B0604020202020204"/>
                        </a:defRPr>
                      </a:pPr>
                      <a:r>
                        <a:t>0.9182 ± 0.0071 ★</a:t>
                      </a:r>
                    </a:p>
                  </a:txBody>
                  <a:tcPr anchor="ctr">
                    <a:solidFill>
                      <a:srgbClr val="FFFFFF"/>
                    </a:solidFill>
                  </a:tcPr>
                </a:tc>
                <a:tc>
                  <a:txBody>
                    <a:bodyPr/>
                    <a:lstStyle/>
                    <a:p>
                      <a:pPr algn="ctr">
                        <a:defRPr sz="950">
                          <a:solidFill>
                            <a:srgbClr val="1E1E1E"/>
                          </a:solidFill>
                          <a:latin typeface="Arial" panose="020B0604020202020204"/>
                        </a:defRPr>
                      </a:pPr>
                      <a:r>
                        <a:t>Bắt bệnh hiếm tốt nhất</a:t>
                      </a:r>
                    </a:p>
                  </a:txBody>
                  <a:tcPr anchor="ctr">
                    <a:solidFill>
                      <a:srgbClr val="FFFFFF"/>
                    </a:solidFill>
                  </a:tcPr>
                </a:tc>
              </a:tr>
              <a:tr h="373380">
                <a:tc>
                  <a:txBody>
                    <a:bodyPr/>
                    <a:lstStyle/>
                    <a:p>
                      <a:pPr algn="l">
                        <a:defRPr sz="950">
                          <a:solidFill>
                            <a:srgbClr val="1E1E1E"/>
                          </a:solidFill>
                          <a:latin typeface="Arial" panose="020B0604020202020204"/>
                        </a:defRPr>
                      </a:pPr>
                      <a:r>
                        <a:t>Mạch Lượng Tử Basic (Tự học)</a:t>
                      </a:r>
                    </a:p>
                  </a:txBody>
                  <a:tcPr anchor="ctr">
                    <a:solidFill>
                      <a:srgbClr val="F8FAFD"/>
                    </a:solidFill>
                  </a:tcPr>
                </a:tc>
                <a:tc>
                  <a:txBody>
                    <a:bodyPr/>
                    <a:lstStyle/>
                    <a:p>
                      <a:pPr algn="ctr">
                        <a:defRPr sz="950">
                          <a:solidFill>
                            <a:srgbClr val="1E1E1E"/>
                          </a:solidFill>
                          <a:latin typeface="Arial" panose="020B0604020202020204"/>
                        </a:defRPr>
                      </a:pPr>
                      <a:r>
                        <a:t>8 tham số</a:t>
                      </a:r>
                    </a:p>
                  </a:txBody>
                  <a:tcPr anchor="ctr">
                    <a:solidFill>
                      <a:srgbClr val="F8FAFD"/>
                    </a:solidFill>
                  </a:tcPr>
                </a:tc>
                <a:tc>
                  <a:txBody>
                    <a:bodyPr/>
                    <a:lstStyle/>
                    <a:p>
                      <a:pPr algn="ctr">
                        <a:defRPr sz="950">
                          <a:solidFill>
                            <a:srgbClr val="1E1E1E"/>
                          </a:solidFill>
                          <a:latin typeface="Arial" panose="020B0604020202020204"/>
                        </a:defRPr>
                      </a:pPr>
                      <a:r>
                        <a:t>0.8406 ± 0.0252</a:t>
                      </a:r>
                    </a:p>
                  </a:txBody>
                  <a:tcPr anchor="ctr">
                    <a:solidFill>
                      <a:srgbClr val="F8FAFD"/>
                    </a:solidFill>
                  </a:tcPr>
                </a:tc>
                <a:tc>
                  <a:txBody>
                    <a:bodyPr/>
                    <a:lstStyle/>
                    <a:p>
                      <a:pPr algn="ctr">
                        <a:defRPr sz="950">
                          <a:solidFill>
                            <a:srgbClr val="1E1E1E"/>
                          </a:solidFill>
                          <a:latin typeface="Arial" panose="020B0604020202020204"/>
                        </a:defRPr>
                      </a:pPr>
                      <a:r>
                        <a:t>0.9173 ± 0.0194</a:t>
                      </a:r>
                    </a:p>
                  </a:txBody>
                  <a:tcPr anchor="ctr">
                    <a:solidFill>
                      <a:srgbClr val="F8FAFD"/>
                    </a:solidFill>
                  </a:tcPr>
                </a:tc>
                <a:tc>
                  <a:txBody>
                    <a:bodyPr/>
                    <a:lstStyle/>
                    <a:p>
                      <a:pPr algn="ctr">
                        <a:defRPr sz="950">
                          <a:solidFill>
                            <a:srgbClr val="1E1E1E"/>
                          </a:solidFill>
                          <a:latin typeface="Arial" panose="020B0604020202020204"/>
                        </a:defRPr>
                      </a:pPr>
                      <a:r>
                        <a:t>Khá tốt</a:t>
                      </a:r>
                    </a:p>
                  </a:txBody>
                  <a:tcPr anchor="ctr">
                    <a:solidFill>
                      <a:srgbClr val="F8FAFD"/>
                    </a:solidFill>
                  </a:tcPr>
                </a:tc>
              </a:tr>
              <a:tr h="373380">
                <a:tc>
                  <a:txBody>
                    <a:bodyPr/>
                    <a:lstStyle/>
                    <a:p>
                      <a:pPr algn="l">
                        <a:defRPr sz="950">
                          <a:solidFill>
                            <a:srgbClr val="1E1E1E"/>
                          </a:solidFill>
                          <a:latin typeface="Arial" panose="020B0604020202020204"/>
                        </a:defRPr>
                      </a:pPr>
                      <a:r>
                        <a:t>Mạch Lượng Tử Strongly (Tự học)</a:t>
                      </a:r>
                    </a:p>
                  </a:txBody>
                  <a:tcPr anchor="ctr">
                    <a:solidFill>
                      <a:srgbClr val="FFFFFF"/>
                    </a:solidFill>
                  </a:tcPr>
                </a:tc>
                <a:tc>
                  <a:txBody>
                    <a:bodyPr/>
                    <a:lstStyle/>
                    <a:p>
                      <a:pPr algn="ctr">
                        <a:defRPr sz="950">
                          <a:solidFill>
                            <a:srgbClr val="1E1E1E"/>
                          </a:solidFill>
                          <a:latin typeface="Arial" panose="020B0604020202020204"/>
                        </a:defRPr>
                      </a:pPr>
                      <a:r>
                        <a:t>24 tham số</a:t>
                      </a:r>
                    </a:p>
                  </a:txBody>
                  <a:tcPr anchor="ctr">
                    <a:solidFill>
                      <a:srgbClr val="FFFFFF"/>
                    </a:solidFill>
                  </a:tcPr>
                </a:tc>
                <a:tc>
                  <a:txBody>
                    <a:bodyPr/>
                    <a:lstStyle/>
                    <a:p>
                      <a:pPr algn="ctr">
                        <a:defRPr sz="950">
                          <a:solidFill>
                            <a:srgbClr val="1E1E1E"/>
                          </a:solidFill>
                          <a:latin typeface="Arial" panose="020B0604020202020204"/>
                        </a:defRPr>
                      </a:pPr>
                      <a:r>
                        <a:t>0.8306 ± 0.0294</a:t>
                      </a:r>
                    </a:p>
                  </a:txBody>
                  <a:tcPr anchor="ctr">
                    <a:solidFill>
                      <a:srgbClr val="FFFFFF"/>
                    </a:solidFill>
                  </a:tcPr>
                </a:tc>
                <a:tc>
                  <a:txBody>
                    <a:bodyPr/>
                    <a:lstStyle/>
                    <a:p>
                      <a:pPr algn="ctr">
                        <a:defRPr sz="950">
                          <a:solidFill>
                            <a:srgbClr val="1E1E1E"/>
                          </a:solidFill>
                          <a:latin typeface="Arial" panose="020B0604020202020204"/>
                        </a:defRPr>
                      </a:pPr>
                      <a:r>
                        <a:t>0.9167 ± 0.0166</a:t>
                      </a:r>
                    </a:p>
                  </a:txBody>
                  <a:tcPr anchor="ctr">
                    <a:solidFill>
                      <a:srgbClr val="FFFFFF"/>
                    </a:solidFill>
                  </a:tcPr>
                </a:tc>
                <a:tc>
                  <a:txBody>
                    <a:bodyPr/>
                    <a:lstStyle/>
                    <a:p>
                      <a:pPr algn="ctr">
                        <a:defRPr sz="950">
                          <a:solidFill>
                            <a:srgbClr val="1E1E1E"/>
                          </a:solidFill>
                          <a:latin typeface="Arial" panose="020B0604020202020204"/>
                        </a:defRPr>
                      </a:pPr>
                      <a:r>
                        <a:t>Trung bình</a:t>
                      </a:r>
                    </a:p>
                  </a:txBody>
                  <a:tcPr anchor="ctr">
                    <a:solidFill>
                      <a:srgbClr val="FFFFFF"/>
                    </a:solidFill>
                  </a:tcPr>
                </a:tc>
              </a:tr>
            </a:tbl>
          </a:graphicData>
        </a:graphic>
      </p:graphicFrame>
      <p:sp>
        <p:nvSpPr>
          <p:cNvPr id="8" name="TextBox 7"/>
          <p:cNvSpPr txBox="1"/>
          <p:nvPr/>
        </p:nvSpPr>
        <p:spPr>
          <a:xfrm>
            <a:off x="767715" y="5164455"/>
            <a:ext cx="1728470" cy="775970"/>
          </a:xfrm>
          <a:prstGeom prst="rect">
            <a:avLst/>
          </a:prstGeom>
          <a:noFill/>
        </p:spPr>
        <p:txBody>
          <a:bodyPr wrap="square" lIns="0" tIns="0" rIns="0" bIns="0">
            <a:noAutofit/>
          </a:bodyPr>
          <a:lstStyle/>
          <a:p>
            <a:pPr algn="ctr">
              <a:defRPr sz="2300" b="1">
                <a:solidFill>
                  <a:srgbClr val="2E75B6"/>
                </a:solidFill>
                <a:latin typeface="Arial" panose="020B0604020202020204"/>
              </a:defRPr>
            </a:pPr>
            <a:r>
              <a:t>0.8521</a:t>
            </a:r>
          </a:p>
          <a:p>
            <a:pPr algn="ctr">
              <a:spcBef>
                <a:spcPts val="300"/>
              </a:spcBef>
              <a:defRPr sz="1100" b="1">
                <a:solidFill>
                  <a:srgbClr val="1E1E1E"/>
                </a:solidFill>
                <a:latin typeface="Arial" panose="020B0604020202020204"/>
              </a:defRPr>
            </a:pPr>
            <a:r>
              <a:t>Mạch Basic Tĩnh</a:t>
            </a:r>
          </a:p>
          <a:p>
            <a:pPr algn="ctr">
              <a:spcBef>
                <a:spcPts val="200"/>
              </a:spcBef>
              <a:defRPr sz="950">
                <a:solidFill>
                  <a:srgbClr val="5A646E"/>
                </a:solidFill>
                <a:latin typeface="Arial" panose="020B0604020202020204"/>
              </a:defRPr>
            </a:pPr>
            <a:r>
              <a:t>Quán quân phân loại (±0.0095)</a:t>
            </a:r>
          </a:p>
        </p:txBody>
      </p:sp>
      <p:sp>
        <p:nvSpPr>
          <p:cNvPr id="10" name="TextBox 9"/>
          <p:cNvSpPr txBox="1"/>
          <p:nvPr/>
        </p:nvSpPr>
        <p:spPr>
          <a:xfrm>
            <a:off x="2600960" y="5164455"/>
            <a:ext cx="1728470" cy="884555"/>
          </a:xfrm>
          <a:prstGeom prst="rect">
            <a:avLst/>
          </a:prstGeom>
          <a:noFill/>
        </p:spPr>
        <p:txBody>
          <a:bodyPr wrap="square" lIns="0" tIns="0" rIns="0" bIns="0">
            <a:noAutofit/>
          </a:bodyPr>
          <a:lstStyle/>
          <a:p>
            <a:pPr algn="ctr">
              <a:defRPr sz="2300" b="1">
                <a:solidFill>
                  <a:srgbClr val="2E7D32"/>
                </a:solidFill>
                <a:latin typeface="Arial" panose="020B0604020202020204"/>
              </a:defRPr>
            </a:pPr>
            <a:r>
              <a:t>0.9182</a:t>
            </a:r>
          </a:p>
          <a:p>
            <a:pPr algn="ctr">
              <a:spcBef>
                <a:spcPts val="300"/>
              </a:spcBef>
              <a:defRPr sz="1100" b="1">
                <a:solidFill>
                  <a:srgbClr val="1E1E1E"/>
                </a:solidFill>
                <a:latin typeface="Arial" panose="020B0604020202020204"/>
              </a:defRPr>
            </a:pPr>
            <a:r>
              <a:t>Mạch Strongly Tĩnh</a:t>
            </a:r>
          </a:p>
          <a:p>
            <a:pPr algn="ctr">
              <a:spcBef>
                <a:spcPts val="200"/>
              </a:spcBef>
              <a:defRPr sz="950">
                <a:solidFill>
                  <a:srgbClr val="5A646E"/>
                </a:solidFill>
                <a:latin typeface="Arial" panose="020B0604020202020204"/>
              </a:defRPr>
            </a:pPr>
            <a:r>
              <a:t>Bắt ca bệnh hiếm chuẩn nhất</a:t>
            </a:r>
          </a:p>
        </p:txBody>
      </p:sp>
      <p:sp>
        <p:nvSpPr>
          <p:cNvPr id="12" name="TextBox 11"/>
          <p:cNvSpPr txBox="1"/>
          <p:nvPr/>
        </p:nvSpPr>
        <p:spPr>
          <a:xfrm>
            <a:off x="4469765" y="5165090"/>
            <a:ext cx="1728470" cy="929640"/>
          </a:xfrm>
          <a:prstGeom prst="rect">
            <a:avLst/>
          </a:prstGeom>
          <a:noFill/>
        </p:spPr>
        <p:txBody>
          <a:bodyPr wrap="square" lIns="0" tIns="0" rIns="0" bIns="0">
            <a:noAutofit/>
          </a:bodyPr>
          <a:lstStyle/>
          <a:p>
            <a:pPr algn="ctr">
              <a:defRPr sz="2300" b="1">
                <a:solidFill>
                  <a:srgbClr val="1F4E79"/>
                </a:solidFill>
                <a:latin typeface="Arial" panose="020B0604020202020204"/>
              </a:defRPr>
            </a:pPr>
            <a:r>
              <a:t>~2.7 Lần</a:t>
            </a:r>
          </a:p>
          <a:p>
            <a:pPr algn="ctr">
              <a:spcBef>
                <a:spcPts val="300"/>
              </a:spcBef>
              <a:defRPr sz="1100" b="1">
                <a:solidFill>
                  <a:srgbClr val="1E1E1E"/>
                </a:solidFill>
                <a:latin typeface="Arial" panose="020B0604020202020204"/>
              </a:defRPr>
            </a:pPr>
            <a:r>
              <a:t>Ổn Định Vượt Trội</a:t>
            </a:r>
          </a:p>
          <a:p>
            <a:pPr algn="ctr">
              <a:spcBef>
                <a:spcPts val="200"/>
              </a:spcBef>
              <a:defRPr sz="950">
                <a:solidFill>
                  <a:srgbClr val="5A646E"/>
                </a:solidFill>
                <a:latin typeface="Arial" panose="020B0604020202020204"/>
              </a:defRPr>
            </a:pPr>
            <a:r>
              <a:t>Ít bị biến thiên hơn CNN cổ điển</a:t>
            </a:r>
          </a:p>
        </p:txBody>
      </p:sp>
      <p:pic>
        <p:nvPicPr>
          <p:cNvPr id="13" name="Picture 12" descr="Fig3_breastmnist_benchmark.png"/>
          <p:cNvPicPr>
            <a:picLocks noChangeAspect="1"/>
          </p:cNvPicPr>
          <p:nvPr/>
        </p:nvPicPr>
        <p:blipFill>
          <a:blip r:embed="rId1"/>
          <a:stretch>
            <a:fillRect/>
          </a:stretch>
        </p:blipFill>
        <p:spPr>
          <a:xfrm>
            <a:off x="6812280" y="2011680"/>
            <a:ext cx="4663440" cy="2606040"/>
          </a:xfrm>
          <a:prstGeom prst="rect">
            <a:avLst/>
          </a:prstGeom>
        </p:spPr>
      </p:pic>
      <p:sp>
        <p:nvSpPr>
          <p:cNvPr id="14" name="Rounded Rectangle 13"/>
          <p:cNvSpPr/>
          <p:nvPr/>
        </p:nvSpPr>
        <p:spPr>
          <a:xfrm>
            <a:off x="6812280" y="4874895"/>
            <a:ext cx="4663440" cy="1250315"/>
          </a:xfrm>
          <a:prstGeom prst="roundRect">
            <a:avLst/>
          </a:prstGeom>
          <a:solidFill>
            <a:srgbClr val="F8FAFD"/>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just">
              <a:spcBef>
                <a:spcPts val="300"/>
              </a:spcBef>
              <a:defRPr sz="950">
                <a:solidFill>
                  <a:srgbClr val="1E1E1E"/>
                </a:solidFill>
                <a:latin typeface="Arial" panose="020B0604020202020204"/>
              </a:defRPr>
            </a:pPr>
            <a:r>
              <a:rPr sz="1300"/>
              <a:t>Khi dữ liệu y tế ít (chỉ vài trăm ảnh) và lệch lớp, mạng CNN cổ điển rất dễ bị 'học vẹt' (overfitting). Mạch lượng tử cố định đóng vai trò như một bộ nẹp cấu trúc vững chắc, giúp mô hình học ổn định và chính xác hơn hẳn.</a:t>
            </a:r>
            <a:endParaRPr sz="1300"/>
          </a:p>
        </p:txBody>
      </p:sp>
      <p:sp>
        <p:nvSpPr>
          <p:cNvPr id="15" name="TextBox 14"/>
          <p:cNvSpPr txBox="1"/>
          <p:nvPr/>
        </p:nvSpPr>
        <p:spPr>
          <a:xfrm>
            <a:off x="713232" y="6144768"/>
            <a:ext cx="4307840" cy="252730"/>
          </a:xfrm>
          <a:prstGeom prst="rect">
            <a:avLst/>
          </a:prstGeom>
          <a:noFill/>
        </p:spPr>
        <p:txBody>
          <a:bodyPr wrap="none">
            <a:spAutoFit/>
          </a:bodyPr>
          <a:lstStyle/>
          <a:p>
            <a:pPr algn="l"/>
            <a:r>
              <a:rPr lang="en-US" sz="1050">
                <a:sym typeface="+mn-ea"/>
              </a:rPr>
              <a:t>*: </a:t>
            </a:r>
            <a:r>
              <a:rPr sz="1050">
                <a:solidFill>
                  <a:srgbClr val="6B6B6B"/>
                </a:solidFill>
                <a:latin typeface="Arial" panose="020B0604020202020204"/>
              </a:rPr>
              <a:t>Số liệu: 10 seeds · mean ± std (ddof=1) · Nguồn: Bảng 4.1 luận văn</a:t>
            </a:r>
            <a:endParaRPr sz="1050">
              <a:solidFill>
                <a:srgbClr val="6B6B6B"/>
              </a:solidFill>
              <a:latin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500"/>
              <a:t>3. Thử nghiệm</a:t>
            </a:r>
            <a:r>
              <a:rPr lang="en-US" sz="3500"/>
              <a:t> trên</a:t>
            </a:r>
            <a:r>
              <a:rPr sz="3500"/>
              <a:t> OCTMNIST</a:t>
            </a:r>
            <a:r>
              <a:rPr lang="en-US" sz="3500"/>
              <a:t>*</a:t>
            </a:r>
            <a:endParaRPr sz="3500"/>
          </a:p>
        </p:txBody>
      </p:sp>
      <p:sp>
        <p:nvSpPr>
          <p:cNvPr id="4" name="Footer Placeholder 3"/>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graphicFrame>
        <p:nvGraphicFramePr>
          <p:cNvPr id="6" name="Table 5"/>
          <p:cNvGraphicFramePr>
            <a:graphicFrameLocks noGrp="1"/>
          </p:cNvGraphicFramePr>
          <p:nvPr/>
        </p:nvGraphicFramePr>
        <p:xfrm>
          <a:off x="694944" y="2011680"/>
          <a:ext cx="5943600" cy="2613660"/>
        </p:xfrm>
        <a:graphic>
          <a:graphicData uri="http://schemas.openxmlformats.org/drawingml/2006/table">
            <a:tbl>
              <a:tblPr firstRow="1" bandRow="1">
                <a:tableStyleId>{5C22544A-7EE6-4342-B048-85BDC9FD1C3A}</a:tableStyleId>
              </a:tblPr>
              <a:tblGrid>
                <a:gridCol w="2011680"/>
                <a:gridCol w="1005840"/>
                <a:gridCol w="1188720"/>
                <a:gridCol w="1097280"/>
                <a:gridCol w="640080"/>
              </a:tblGrid>
              <a:tr h="373380">
                <a:tc>
                  <a:txBody>
                    <a:bodyPr/>
                    <a:lstStyle/>
                    <a:p>
                      <a:pPr algn="ctr">
                        <a:defRPr sz="1000" b="1">
                          <a:solidFill>
                            <a:srgbClr val="FFFFFF"/>
                          </a:solidFill>
                          <a:latin typeface="Arial" panose="020B0604020202020204"/>
                        </a:defRPr>
                      </a:pPr>
                      <a:r>
                        <a:t>Mô hình</a:t>
                      </a:r>
                    </a:p>
                  </a:txBody>
                  <a:tcPr anchor="ctr">
                    <a:solidFill>
                      <a:srgbClr val="1F4E79"/>
                    </a:solidFill>
                  </a:tcPr>
                </a:tc>
                <a:tc>
                  <a:txBody>
                    <a:bodyPr/>
                    <a:lstStyle/>
                    <a:p>
                      <a:pPr algn="ctr">
                        <a:defRPr sz="1000" b="1">
                          <a:solidFill>
                            <a:srgbClr val="FFFFFF"/>
                          </a:solidFill>
                          <a:latin typeface="Arial" panose="020B0604020202020204"/>
                        </a:defRPr>
                      </a:pPr>
                      <a:r>
                        <a:t>Tham số Kernel</a:t>
                      </a:r>
                    </a:p>
                  </a:txBody>
                  <a:tcPr anchor="ctr">
                    <a:solidFill>
                      <a:srgbClr val="1F4E79"/>
                    </a:solidFill>
                  </a:tcPr>
                </a:tc>
                <a:tc>
                  <a:txBody>
                    <a:bodyPr/>
                    <a:lstStyle/>
                    <a:p>
                      <a:pPr algn="ctr">
                        <a:defRPr sz="1000" b="1">
                          <a:solidFill>
                            <a:srgbClr val="FFFFFF"/>
                          </a:solidFill>
                          <a:latin typeface="Arial" panose="020B0604020202020204"/>
                        </a:defRPr>
                      </a:pPr>
                      <a:r>
                        <a:t>ROC-AUC (Toàn diện)</a:t>
                      </a:r>
                    </a:p>
                  </a:txBody>
                  <a:tcPr anchor="ctr">
                    <a:solidFill>
                      <a:srgbClr val="1F4E79"/>
                    </a:solidFill>
                  </a:tcPr>
                </a:tc>
                <a:tc>
                  <a:txBody>
                    <a:bodyPr/>
                    <a:lstStyle/>
                    <a:p>
                      <a:pPr algn="ctr">
                        <a:defRPr sz="1000" b="1">
                          <a:solidFill>
                            <a:srgbClr val="FFFFFF"/>
                          </a:solidFill>
                          <a:latin typeface="Arial" panose="020B0604020202020204"/>
                        </a:defRPr>
                      </a:pPr>
                      <a:r>
                        <a:t>PR-AUC (Bắt bệnh)</a:t>
                      </a:r>
                    </a:p>
                  </a:txBody>
                  <a:tcPr anchor="ctr">
                    <a:solidFill>
                      <a:srgbClr val="1F4E79"/>
                    </a:solidFill>
                  </a:tcPr>
                </a:tc>
                <a:tc>
                  <a:txBody>
                    <a:bodyPr/>
                    <a:lstStyle/>
                    <a:p>
                      <a:pPr algn="ctr">
                        <a:defRPr sz="1000" b="1">
                          <a:solidFill>
                            <a:srgbClr val="FFFFFF"/>
                          </a:solidFill>
                          <a:latin typeface="Arial" panose="020B0604020202020204"/>
                        </a:defRPr>
                      </a:pPr>
                      <a:r>
                        <a:t>Độ chính xác</a:t>
                      </a:r>
                    </a:p>
                  </a:txBody>
                  <a:tcPr anchor="ctr">
                    <a:solidFill>
                      <a:srgbClr val="1F4E79"/>
                    </a:solidFill>
                  </a:tcPr>
                </a:tc>
              </a:tr>
              <a:tr h="373380">
                <a:tc>
                  <a:txBody>
                    <a:bodyPr/>
                    <a:lstStyle/>
                    <a:p>
                      <a:pPr algn="l">
                        <a:defRPr sz="950" b="1">
                          <a:solidFill>
                            <a:srgbClr val="1F4E79"/>
                          </a:solidFill>
                          <a:latin typeface="Arial" panose="020B0604020202020204"/>
                        </a:defRPr>
                      </a:pPr>
                      <a:r>
                        <a:t>CNN Cổ Điển (Chiến thắng)</a:t>
                      </a:r>
                    </a:p>
                  </a:txBody>
                  <a:tcPr anchor="ctr">
                    <a:solidFill>
                      <a:srgbClr val="E9F3FF"/>
                    </a:solidFill>
                  </a:tcPr>
                </a:tc>
                <a:tc>
                  <a:txBody>
                    <a:bodyPr/>
                    <a:lstStyle/>
                    <a:p>
                      <a:pPr algn="ctr">
                        <a:defRPr sz="950" b="1">
                          <a:solidFill>
                            <a:srgbClr val="1F4E79"/>
                          </a:solidFill>
                          <a:latin typeface="Arial" panose="020B0604020202020204"/>
                        </a:defRPr>
                      </a:pPr>
                      <a:r>
                        <a:t>20 tham số</a:t>
                      </a:r>
                    </a:p>
                  </a:txBody>
                  <a:tcPr anchor="ctr">
                    <a:solidFill>
                      <a:srgbClr val="E9F3FF"/>
                    </a:solidFill>
                  </a:tcPr>
                </a:tc>
                <a:tc>
                  <a:txBody>
                    <a:bodyPr/>
                    <a:lstStyle/>
                    <a:p>
                      <a:pPr algn="ctr">
                        <a:defRPr sz="950" b="1">
                          <a:solidFill>
                            <a:srgbClr val="1F4E79"/>
                          </a:solidFill>
                          <a:latin typeface="Arial" panose="020B0604020202020204"/>
                        </a:defRPr>
                      </a:pPr>
                      <a:r>
                        <a:t>0.7505 ± 0.0240 ★</a:t>
                      </a:r>
                    </a:p>
                  </a:txBody>
                  <a:tcPr anchor="ctr">
                    <a:solidFill>
                      <a:srgbClr val="E9F3FF"/>
                    </a:solidFill>
                  </a:tcPr>
                </a:tc>
                <a:tc>
                  <a:txBody>
                    <a:bodyPr/>
                    <a:lstStyle/>
                    <a:p>
                      <a:pPr algn="ctr">
                        <a:defRPr sz="950" b="1">
                          <a:solidFill>
                            <a:srgbClr val="1F4E79"/>
                          </a:solidFill>
                          <a:latin typeface="Arial" panose="020B0604020202020204"/>
                        </a:defRPr>
                      </a:pPr>
                      <a:r>
                        <a:t>0.4991 ± 0.0297 ★</a:t>
                      </a:r>
                    </a:p>
                  </a:txBody>
                  <a:tcPr anchor="ctr">
                    <a:solidFill>
                      <a:srgbClr val="E9F3FF"/>
                    </a:solidFill>
                  </a:tcPr>
                </a:tc>
                <a:tc>
                  <a:txBody>
                    <a:bodyPr/>
                    <a:lstStyle/>
                    <a:p>
                      <a:pPr algn="ctr">
                        <a:defRPr sz="950" b="1">
                          <a:solidFill>
                            <a:srgbClr val="1F4E79"/>
                          </a:solidFill>
                          <a:latin typeface="Arial" panose="020B0604020202020204"/>
                        </a:defRPr>
                      </a:pPr>
                      <a:r>
                        <a:t>44.33% (Cao nhất)</a:t>
                      </a:r>
                    </a:p>
                  </a:txBody>
                  <a:tcPr anchor="ctr">
                    <a:solidFill>
                      <a:srgbClr val="E9F3FF"/>
                    </a:solidFill>
                  </a:tcPr>
                </a:tc>
              </a:tr>
              <a:tr h="373380">
                <a:tc>
                  <a:txBody>
                    <a:bodyPr/>
                    <a:lstStyle/>
                    <a:p>
                      <a:pPr algn="l">
                        <a:defRPr sz="950">
                          <a:solidFill>
                            <a:srgbClr val="1E1E1E"/>
                          </a:solidFill>
                          <a:latin typeface="Arial" panose="020B0604020202020204"/>
                        </a:defRPr>
                      </a:pPr>
                      <a:r>
                        <a:t>Mạch Lượng Tử Strongly (Tự học)</a:t>
                      </a:r>
                    </a:p>
                  </a:txBody>
                  <a:tcPr anchor="ctr">
                    <a:solidFill>
                      <a:srgbClr val="F8FAFD"/>
                    </a:solidFill>
                  </a:tcPr>
                </a:tc>
                <a:tc>
                  <a:txBody>
                    <a:bodyPr/>
                    <a:lstStyle/>
                    <a:p>
                      <a:pPr algn="ctr">
                        <a:defRPr sz="950">
                          <a:solidFill>
                            <a:srgbClr val="1E1E1E"/>
                          </a:solidFill>
                          <a:latin typeface="Arial" panose="020B0604020202020204"/>
                        </a:defRPr>
                      </a:pPr>
                      <a:r>
                        <a:t>24 tham số</a:t>
                      </a:r>
                    </a:p>
                  </a:txBody>
                  <a:tcPr anchor="ctr">
                    <a:solidFill>
                      <a:srgbClr val="F8FAFD"/>
                    </a:solidFill>
                  </a:tcPr>
                </a:tc>
                <a:tc>
                  <a:txBody>
                    <a:bodyPr/>
                    <a:lstStyle/>
                    <a:p>
                      <a:pPr algn="ctr">
                        <a:defRPr sz="950">
                          <a:solidFill>
                            <a:srgbClr val="1E1E1E"/>
                          </a:solidFill>
                          <a:latin typeface="Arial" panose="020B0604020202020204"/>
                        </a:defRPr>
                      </a:pPr>
                      <a:r>
                        <a:t>0.6922 ± 0.0199</a:t>
                      </a:r>
                    </a:p>
                  </a:txBody>
                  <a:tcPr anchor="ctr">
                    <a:solidFill>
                      <a:srgbClr val="F8FAFD"/>
                    </a:solidFill>
                  </a:tcPr>
                </a:tc>
                <a:tc>
                  <a:txBody>
                    <a:bodyPr/>
                    <a:lstStyle/>
                    <a:p>
                      <a:pPr algn="ctr">
                        <a:defRPr sz="950">
                          <a:solidFill>
                            <a:srgbClr val="1E1E1E"/>
                          </a:solidFill>
                          <a:latin typeface="Arial" panose="020B0604020202020204"/>
                        </a:defRPr>
                      </a:pPr>
                      <a:r>
                        <a:t>0.4365 ± 0.0289</a:t>
                      </a:r>
                    </a:p>
                  </a:txBody>
                  <a:tcPr anchor="ctr">
                    <a:solidFill>
                      <a:srgbClr val="F8FAFD"/>
                    </a:solidFill>
                  </a:tcPr>
                </a:tc>
                <a:tc>
                  <a:txBody>
                    <a:bodyPr/>
                    <a:lstStyle/>
                    <a:p>
                      <a:pPr algn="ctr">
                        <a:defRPr sz="950">
                          <a:solidFill>
                            <a:srgbClr val="1E1E1E"/>
                          </a:solidFill>
                          <a:latin typeface="Arial" panose="020B0604020202020204"/>
                        </a:defRPr>
                      </a:pPr>
                      <a:r>
                        <a:t>40.20%</a:t>
                      </a:r>
                    </a:p>
                  </a:txBody>
                  <a:tcPr anchor="ctr">
                    <a:solidFill>
                      <a:srgbClr val="F8FAFD"/>
                    </a:solidFill>
                  </a:tcPr>
                </a:tc>
              </a:tr>
              <a:tr h="373380">
                <a:tc>
                  <a:txBody>
                    <a:bodyPr/>
                    <a:lstStyle/>
                    <a:p>
                      <a:pPr algn="l">
                        <a:defRPr sz="950">
                          <a:solidFill>
                            <a:srgbClr val="1E1E1E"/>
                          </a:solidFill>
                          <a:latin typeface="Arial" panose="020B0604020202020204"/>
                        </a:defRPr>
                      </a:pPr>
                      <a:r>
                        <a:t>Mạch Lượng Tử Strongly (Tĩnh)</a:t>
                      </a:r>
                    </a:p>
                  </a:txBody>
                  <a:tcPr anchor="ctr">
                    <a:solidFill>
                      <a:srgbClr val="FFFFFF"/>
                    </a:solidFill>
                  </a:tcPr>
                </a:tc>
                <a:tc>
                  <a:txBody>
                    <a:bodyPr/>
                    <a:lstStyle/>
                    <a:p>
                      <a:pPr algn="ctr">
                        <a:defRPr sz="950">
                          <a:solidFill>
                            <a:srgbClr val="1E1E1E"/>
                          </a:solidFill>
                          <a:latin typeface="Arial" panose="020B0604020202020204"/>
                        </a:defRPr>
                      </a:pPr>
                      <a:r>
                        <a:t>0 tham số (khóa)</a:t>
                      </a:r>
                    </a:p>
                  </a:txBody>
                  <a:tcPr anchor="ctr">
                    <a:solidFill>
                      <a:srgbClr val="FFFFFF"/>
                    </a:solidFill>
                  </a:tcPr>
                </a:tc>
                <a:tc>
                  <a:txBody>
                    <a:bodyPr/>
                    <a:lstStyle/>
                    <a:p>
                      <a:pPr algn="ctr">
                        <a:defRPr sz="950">
                          <a:solidFill>
                            <a:srgbClr val="1E1E1E"/>
                          </a:solidFill>
                          <a:latin typeface="Arial" panose="020B0604020202020204"/>
                        </a:defRPr>
                      </a:pPr>
                      <a:r>
                        <a:t>0.6690 ± 0.0055</a:t>
                      </a:r>
                    </a:p>
                  </a:txBody>
                  <a:tcPr anchor="ctr">
                    <a:solidFill>
                      <a:srgbClr val="FFFFFF"/>
                    </a:solidFill>
                  </a:tcPr>
                </a:tc>
                <a:tc>
                  <a:txBody>
                    <a:bodyPr/>
                    <a:lstStyle/>
                    <a:p>
                      <a:pPr algn="ctr">
                        <a:defRPr sz="950">
                          <a:solidFill>
                            <a:srgbClr val="1E1E1E"/>
                          </a:solidFill>
                          <a:latin typeface="Arial" panose="020B0604020202020204"/>
                        </a:defRPr>
                      </a:pPr>
                      <a:r>
                        <a:t>0.4175 ± 0.0047</a:t>
                      </a:r>
                    </a:p>
                  </a:txBody>
                  <a:tcPr anchor="ctr">
                    <a:solidFill>
                      <a:srgbClr val="FFFFFF"/>
                    </a:solidFill>
                  </a:tcPr>
                </a:tc>
                <a:tc>
                  <a:txBody>
                    <a:bodyPr/>
                    <a:lstStyle/>
                    <a:p>
                      <a:pPr algn="ctr">
                        <a:defRPr sz="950">
                          <a:solidFill>
                            <a:srgbClr val="1E1E1E"/>
                          </a:solidFill>
                          <a:latin typeface="Arial" panose="020B0604020202020204"/>
                        </a:defRPr>
                      </a:pPr>
                      <a:r>
                        <a:t>40.34%</a:t>
                      </a:r>
                    </a:p>
                  </a:txBody>
                  <a:tcPr anchor="ctr">
                    <a:solidFill>
                      <a:srgbClr val="FFFFFF"/>
                    </a:solidFill>
                  </a:tcPr>
                </a:tc>
              </a:tr>
              <a:tr h="373380">
                <a:tc>
                  <a:txBody>
                    <a:bodyPr/>
                    <a:lstStyle/>
                    <a:p>
                      <a:pPr algn="l">
                        <a:defRPr sz="950">
                          <a:solidFill>
                            <a:srgbClr val="1E1E1E"/>
                          </a:solidFill>
                          <a:latin typeface="Arial" panose="020B0604020202020204"/>
                        </a:defRPr>
                      </a:pPr>
                      <a:r>
                        <a:t>Mạch Lượng Tử Basic (Tự học)</a:t>
                      </a:r>
                    </a:p>
                  </a:txBody>
                  <a:tcPr anchor="ctr">
                    <a:solidFill>
                      <a:srgbClr val="F8FAFD"/>
                    </a:solidFill>
                  </a:tcPr>
                </a:tc>
                <a:tc>
                  <a:txBody>
                    <a:bodyPr/>
                    <a:lstStyle/>
                    <a:p>
                      <a:pPr algn="ctr">
                        <a:defRPr sz="950">
                          <a:solidFill>
                            <a:srgbClr val="1E1E1E"/>
                          </a:solidFill>
                          <a:latin typeface="Arial" panose="020B0604020202020204"/>
                        </a:defRPr>
                      </a:pPr>
                      <a:r>
                        <a:t>8 tham số</a:t>
                      </a:r>
                    </a:p>
                  </a:txBody>
                  <a:tcPr anchor="ctr">
                    <a:solidFill>
                      <a:srgbClr val="F8FAFD"/>
                    </a:solidFill>
                  </a:tcPr>
                </a:tc>
                <a:tc>
                  <a:txBody>
                    <a:bodyPr/>
                    <a:lstStyle/>
                    <a:p>
                      <a:pPr algn="ctr">
                        <a:defRPr sz="950">
                          <a:solidFill>
                            <a:srgbClr val="1E1E1E"/>
                          </a:solidFill>
                          <a:latin typeface="Arial" panose="020B0604020202020204"/>
                        </a:defRPr>
                      </a:pPr>
                      <a:r>
                        <a:t>0.6704 ± 0.0106</a:t>
                      </a:r>
                    </a:p>
                  </a:txBody>
                  <a:tcPr anchor="ctr">
                    <a:solidFill>
                      <a:srgbClr val="F8FAFD"/>
                    </a:solidFill>
                  </a:tcPr>
                </a:tc>
                <a:tc>
                  <a:txBody>
                    <a:bodyPr/>
                    <a:lstStyle/>
                    <a:p>
                      <a:pPr algn="ctr">
                        <a:defRPr sz="950">
                          <a:solidFill>
                            <a:srgbClr val="1E1E1E"/>
                          </a:solidFill>
                          <a:latin typeface="Arial" panose="020B0604020202020204"/>
                        </a:defRPr>
                      </a:pPr>
                      <a:r>
                        <a:t>0.4102 ± 0.0131</a:t>
                      </a:r>
                    </a:p>
                  </a:txBody>
                  <a:tcPr anchor="ctr">
                    <a:solidFill>
                      <a:srgbClr val="F8FAFD"/>
                    </a:solidFill>
                  </a:tcPr>
                </a:tc>
                <a:tc>
                  <a:txBody>
                    <a:bodyPr/>
                    <a:lstStyle/>
                    <a:p>
                      <a:pPr algn="ctr">
                        <a:defRPr sz="950">
                          <a:solidFill>
                            <a:srgbClr val="1E1E1E"/>
                          </a:solidFill>
                          <a:latin typeface="Arial" panose="020B0604020202020204"/>
                        </a:defRPr>
                      </a:pPr>
                      <a:r>
                        <a:t>39.55%</a:t>
                      </a:r>
                    </a:p>
                  </a:txBody>
                  <a:tcPr anchor="ctr">
                    <a:solidFill>
                      <a:srgbClr val="F8FAFD"/>
                    </a:solidFill>
                  </a:tcPr>
                </a:tc>
              </a:tr>
              <a:tr h="373380">
                <a:tc>
                  <a:txBody>
                    <a:bodyPr/>
                    <a:lstStyle/>
                    <a:p>
                      <a:pPr algn="l">
                        <a:defRPr sz="950">
                          <a:solidFill>
                            <a:srgbClr val="1E1E1E"/>
                          </a:solidFill>
                          <a:latin typeface="Arial" panose="020B0604020202020204"/>
                        </a:defRPr>
                      </a:pPr>
                      <a:r>
                        <a:t>Mạch Lượng Tử Basic (Tĩnh)</a:t>
                      </a:r>
                    </a:p>
                  </a:txBody>
                  <a:tcPr anchor="ctr">
                    <a:solidFill>
                      <a:srgbClr val="FFFFFF"/>
                    </a:solidFill>
                  </a:tcPr>
                </a:tc>
                <a:tc>
                  <a:txBody>
                    <a:bodyPr/>
                    <a:lstStyle/>
                    <a:p>
                      <a:pPr algn="ctr">
                        <a:defRPr sz="950">
                          <a:solidFill>
                            <a:srgbClr val="1E1E1E"/>
                          </a:solidFill>
                          <a:latin typeface="Arial" panose="020B0604020202020204"/>
                        </a:defRPr>
                      </a:pPr>
                      <a:r>
                        <a:t>0 tham số (khóa)</a:t>
                      </a:r>
                    </a:p>
                  </a:txBody>
                  <a:tcPr anchor="ctr">
                    <a:solidFill>
                      <a:srgbClr val="FFFFFF"/>
                    </a:solidFill>
                  </a:tcPr>
                </a:tc>
                <a:tc>
                  <a:txBody>
                    <a:bodyPr/>
                    <a:lstStyle/>
                    <a:p>
                      <a:pPr algn="ctr">
                        <a:defRPr sz="950">
                          <a:solidFill>
                            <a:srgbClr val="1E1E1E"/>
                          </a:solidFill>
                          <a:latin typeface="Arial" panose="020B0604020202020204"/>
                        </a:defRPr>
                      </a:pPr>
                      <a:r>
                        <a:t>0.6711 ± 0.0042</a:t>
                      </a:r>
                    </a:p>
                  </a:txBody>
                  <a:tcPr anchor="ctr">
                    <a:solidFill>
                      <a:srgbClr val="FFFFFF"/>
                    </a:solidFill>
                  </a:tcPr>
                </a:tc>
                <a:tc>
                  <a:txBody>
                    <a:bodyPr/>
                    <a:lstStyle/>
                    <a:p>
                      <a:pPr algn="ctr">
                        <a:defRPr sz="950">
                          <a:solidFill>
                            <a:srgbClr val="1E1E1E"/>
                          </a:solidFill>
                          <a:latin typeface="Arial" panose="020B0604020202020204"/>
                        </a:defRPr>
                      </a:pPr>
                      <a:r>
                        <a:t>0.4186 ± 0.0074</a:t>
                      </a:r>
                    </a:p>
                  </a:txBody>
                  <a:tcPr anchor="ctr">
                    <a:solidFill>
                      <a:srgbClr val="FFFFFF"/>
                    </a:solidFill>
                  </a:tcPr>
                </a:tc>
                <a:tc>
                  <a:txBody>
                    <a:bodyPr/>
                    <a:lstStyle/>
                    <a:p>
                      <a:pPr algn="ctr">
                        <a:defRPr sz="950">
                          <a:solidFill>
                            <a:srgbClr val="1E1E1E"/>
                          </a:solidFill>
                          <a:latin typeface="Arial" panose="020B0604020202020204"/>
                        </a:defRPr>
                      </a:pPr>
                      <a:r>
                        <a:t>40.75%</a:t>
                      </a:r>
                    </a:p>
                  </a:txBody>
                  <a:tcPr anchor="ctr">
                    <a:solidFill>
                      <a:srgbClr val="FFFFFF"/>
                    </a:solidFill>
                  </a:tcPr>
                </a:tc>
              </a:tr>
              <a:tr h="373380">
                <a:tc>
                  <a:txBody>
                    <a:bodyPr/>
                    <a:lstStyle/>
                    <a:p>
                      <a:pPr algn="l">
                        <a:defRPr sz="950">
                          <a:solidFill>
                            <a:srgbClr val="1E1E1E"/>
                          </a:solidFill>
                          <a:latin typeface="Arial" panose="020B0604020202020204"/>
                        </a:defRPr>
                      </a:pPr>
                      <a:r>
                        <a:t>Quán quân GĐ2 (random_L1)</a:t>
                      </a:r>
                    </a:p>
                  </a:txBody>
                  <a:tcPr anchor="ctr">
                    <a:solidFill>
                      <a:srgbClr val="FFFFFF"/>
                    </a:solidFill>
                  </a:tcPr>
                </a:tc>
                <a:tc>
                  <a:txBody>
                    <a:bodyPr/>
                    <a:lstStyle/>
                    <a:p>
                      <a:pPr algn="ctr">
                        <a:defRPr sz="950">
                          <a:solidFill>
                            <a:srgbClr val="1E1E1E"/>
                          </a:solidFill>
                          <a:latin typeface="Arial" panose="020B0604020202020204"/>
                        </a:defRPr>
                      </a:pPr>
                      <a:r>
                        <a:t>0 (khóa)</a:t>
                      </a:r>
                    </a:p>
                  </a:txBody>
                  <a:tcPr anchor="ctr">
                    <a:solidFill>
                      <a:srgbClr val="FFFFFF"/>
                    </a:solidFill>
                  </a:tcPr>
                </a:tc>
                <a:tc>
                  <a:txBody>
                    <a:bodyPr/>
                    <a:lstStyle/>
                    <a:p>
                      <a:pPr algn="ctr">
                        <a:defRPr sz="950">
                          <a:solidFill>
                            <a:srgbClr val="1E1E1E"/>
                          </a:solidFill>
                          <a:latin typeface="Arial" panose="020B0604020202020204"/>
                        </a:defRPr>
                      </a:pPr>
                      <a:r>
                        <a:t>0.6912 ± 0.0071</a:t>
                      </a:r>
                    </a:p>
                  </a:txBody>
                  <a:tcPr anchor="ctr">
                    <a:solidFill>
                      <a:srgbClr val="FFFFFF"/>
                    </a:solidFill>
                  </a:tcPr>
                </a:tc>
                <a:tc>
                  <a:txBody>
                    <a:bodyPr/>
                    <a:lstStyle/>
                    <a:p>
                      <a:pPr algn="ctr">
                        <a:defRPr sz="950">
                          <a:solidFill>
                            <a:srgbClr val="1E1E1E"/>
                          </a:solidFill>
                          <a:latin typeface="Arial" panose="020B0604020202020204"/>
                        </a:defRPr>
                      </a:pPr>
                      <a:r>
                        <a:t>0.4443 ± 0.0088</a:t>
                      </a:r>
                    </a:p>
                  </a:txBody>
                  <a:tcPr anchor="ctr">
                    <a:solidFill>
                      <a:srgbClr val="FFFFFF"/>
                    </a:solidFill>
                  </a:tcPr>
                </a:tc>
                <a:tc>
                  <a:txBody>
                    <a:bodyPr/>
                    <a:lstStyle/>
                    <a:p>
                      <a:pPr algn="ctr">
                        <a:defRPr sz="950">
                          <a:solidFill>
                            <a:srgbClr val="1E1E1E"/>
                          </a:solidFill>
                          <a:latin typeface="Arial" panose="020B0604020202020204"/>
                        </a:defRPr>
                      </a:pPr>
                      <a:r>
                        <a:t>40.48%</a:t>
                      </a:r>
                    </a:p>
                  </a:txBody>
                  <a:tcPr anchor="ctr">
                    <a:solidFill>
                      <a:srgbClr val="FFFFFF"/>
                    </a:solidFill>
                  </a:tcPr>
                </a:tc>
              </a:tr>
            </a:tbl>
          </a:graphicData>
        </a:graphic>
      </p:graphicFrame>
      <p:sp>
        <p:nvSpPr>
          <p:cNvPr id="8" name="TextBox 7"/>
          <p:cNvSpPr txBox="1"/>
          <p:nvPr/>
        </p:nvSpPr>
        <p:spPr>
          <a:xfrm>
            <a:off x="767715" y="5224145"/>
            <a:ext cx="1728470" cy="890270"/>
          </a:xfrm>
          <a:prstGeom prst="rect">
            <a:avLst/>
          </a:prstGeom>
          <a:noFill/>
        </p:spPr>
        <p:txBody>
          <a:bodyPr wrap="square" lIns="0" tIns="0" rIns="0" bIns="0">
            <a:noAutofit/>
          </a:bodyPr>
          <a:lstStyle/>
          <a:p>
            <a:pPr algn="ctr">
              <a:defRPr sz="2300" b="1">
                <a:solidFill>
                  <a:srgbClr val="1F4E79"/>
                </a:solidFill>
                <a:latin typeface="Arial" panose="020B0604020202020204"/>
              </a:defRPr>
            </a:pPr>
            <a:r>
              <a:t>+0.0583</a:t>
            </a:r>
          </a:p>
          <a:p>
            <a:pPr algn="ctr">
              <a:spcBef>
                <a:spcPts val="300"/>
              </a:spcBef>
              <a:defRPr sz="1100" b="1">
                <a:solidFill>
                  <a:srgbClr val="1E1E1E"/>
                </a:solidFill>
                <a:latin typeface="Arial" panose="020B0604020202020204"/>
              </a:defRPr>
            </a:pPr>
            <a:r>
              <a:t>CNN Vượt Trội</a:t>
            </a:r>
          </a:p>
          <a:p>
            <a:pPr algn="ctr">
              <a:spcBef>
                <a:spcPts val="200"/>
              </a:spcBef>
              <a:defRPr sz="950">
                <a:solidFill>
                  <a:srgbClr val="5A646E"/>
                </a:solidFill>
                <a:latin typeface="Arial" panose="020B0604020202020204"/>
              </a:defRPr>
            </a:pPr>
            <a:r>
              <a:t>Áp đảo cả 6 chỉ số đánh giá</a:t>
            </a:r>
          </a:p>
        </p:txBody>
      </p:sp>
      <p:sp>
        <p:nvSpPr>
          <p:cNvPr id="10" name="TextBox 9"/>
          <p:cNvSpPr txBox="1"/>
          <p:nvPr/>
        </p:nvSpPr>
        <p:spPr>
          <a:xfrm>
            <a:off x="2797810" y="5212715"/>
            <a:ext cx="1728470" cy="839470"/>
          </a:xfrm>
          <a:prstGeom prst="rect">
            <a:avLst/>
          </a:prstGeom>
          <a:noFill/>
        </p:spPr>
        <p:txBody>
          <a:bodyPr wrap="square" lIns="0" tIns="0" rIns="0" bIns="0">
            <a:noAutofit/>
          </a:bodyPr>
          <a:lstStyle/>
          <a:p>
            <a:pPr algn="ctr">
              <a:defRPr sz="2300" b="1">
                <a:solidFill>
                  <a:srgbClr val="2E7D32"/>
                </a:solidFill>
                <a:latin typeface="Arial" panose="020B0604020202020204"/>
              </a:defRPr>
            </a:pPr>
            <a:r>
              <a:t>+0.0232</a:t>
            </a:r>
          </a:p>
          <a:p>
            <a:pPr algn="ctr">
              <a:spcBef>
                <a:spcPts val="300"/>
              </a:spcBef>
              <a:defRPr sz="1100" b="1">
                <a:solidFill>
                  <a:srgbClr val="1E1E1E"/>
                </a:solidFill>
                <a:latin typeface="Arial" panose="020B0604020202020204"/>
              </a:defRPr>
            </a:pPr>
            <a:r>
              <a:t>Tự Học Có Tác Dụng</a:t>
            </a:r>
          </a:p>
          <a:p>
            <a:pPr algn="ctr">
              <a:spcBef>
                <a:spcPts val="200"/>
              </a:spcBef>
              <a:defRPr sz="950">
                <a:solidFill>
                  <a:srgbClr val="5A646E"/>
                </a:solidFill>
                <a:latin typeface="Arial" panose="020B0604020202020204"/>
              </a:defRPr>
            </a:pPr>
            <a:r>
              <a:t>Học góc giúp cải thiện mạch</a:t>
            </a:r>
          </a:p>
        </p:txBody>
      </p:sp>
      <p:sp>
        <p:nvSpPr>
          <p:cNvPr id="12" name="TextBox 11"/>
          <p:cNvSpPr txBox="1"/>
          <p:nvPr/>
        </p:nvSpPr>
        <p:spPr>
          <a:xfrm>
            <a:off x="4841875" y="5197475"/>
            <a:ext cx="1728470" cy="871855"/>
          </a:xfrm>
          <a:prstGeom prst="rect">
            <a:avLst/>
          </a:prstGeom>
          <a:noFill/>
        </p:spPr>
        <p:txBody>
          <a:bodyPr wrap="square" lIns="0" tIns="0" rIns="0" bIns="0">
            <a:noAutofit/>
          </a:bodyPr>
          <a:lstStyle/>
          <a:p>
            <a:pPr algn="ctr">
              <a:defRPr sz="2300" b="1">
                <a:solidFill>
                  <a:srgbClr val="2E75B6"/>
                </a:solidFill>
                <a:latin typeface="Arial" panose="020B0604020202020204"/>
              </a:defRPr>
            </a:pPr>
            <a:r>
              <a:t>Ổn Định</a:t>
            </a:r>
          </a:p>
          <a:p>
            <a:pPr algn="ctr">
              <a:spcBef>
                <a:spcPts val="300"/>
              </a:spcBef>
              <a:defRPr sz="1100" b="1">
                <a:solidFill>
                  <a:srgbClr val="1E1E1E"/>
                </a:solidFill>
                <a:latin typeface="Arial" panose="020B0604020202020204"/>
              </a:defRPr>
            </a:pPr>
            <a:r>
              <a:t>Học Mượt Mà</a:t>
            </a:r>
          </a:p>
          <a:p>
            <a:pPr algn="ctr">
              <a:spcBef>
                <a:spcPts val="200"/>
              </a:spcBef>
              <a:defRPr sz="950">
                <a:solidFill>
                  <a:srgbClr val="5A646E"/>
                </a:solidFill>
                <a:latin typeface="Arial" panose="020B0604020202020204"/>
              </a:defRPr>
            </a:pPr>
            <a:r>
              <a:t>Không bị kẹt đạo hàm (Barren)</a:t>
            </a:r>
          </a:p>
        </p:txBody>
      </p:sp>
      <p:sp>
        <p:nvSpPr>
          <p:cNvPr id="14" name="Rounded Rectangle 13"/>
          <p:cNvSpPr/>
          <p:nvPr/>
        </p:nvSpPr>
        <p:spPr>
          <a:xfrm>
            <a:off x="6812280" y="4905375"/>
            <a:ext cx="4663440" cy="1286510"/>
          </a:xfrm>
          <a:prstGeom prst="roundRect">
            <a:avLst/>
          </a:prstGeom>
          <a:solidFill>
            <a:srgbClr val="F8FAFD"/>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just">
              <a:spcBef>
                <a:spcPts val="300"/>
              </a:spcBef>
              <a:defRPr sz="950">
                <a:solidFill>
                  <a:srgbClr val="1E1E1E"/>
                </a:solidFill>
                <a:latin typeface="Arial" panose="020B0604020202020204"/>
              </a:defRPr>
            </a:pPr>
            <a:r>
              <a:rPr sz="1300"/>
              <a:t>Khi bài toán khó hơn (4 loại bệnh mắt, 5,000 ảnh), mạch 4 qubit quá nhỏ bé nên bị 'nghẽn dung lượng', không chứa nổi đặc trưng phức tạp như CNN cổ điển. Tuy nhiên, việc cho mạch tự học đã giúp tăng điểm rõ rệt so với mạch tĩnh.</a:t>
            </a:r>
            <a:endParaRPr sz="1300"/>
          </a:p>
        </p:txBody>
      </p:sp>
      <p:pic>
        <p:nvPicPr>
          <p:cNvPr id="15" name="Picture 14" descr="image.png"/>
          <p:cNvPicPr>
            <a:picLocks noChangeAspect="1"/>
          </p:cNvPicPr>
          <p:nvPr/>
        </p:nvPicPr>
        <p:blipFill>
          <a:blip r:embed="rId1"/>
          <a:stretch>
            <a:fillRect/>
          </a:stretch>
        </p:blipFill>
        <p:spPr>
          <a:xfrm>
            <a:off x="6812280" y="1931670"/>
            <a:ext cx="4663440" cy="2606040"/>
          </a:xfrm>
          <a:prstGeom prst="rect">
            <a:avLst/>
          </a:prstGeom>
        </p:spPr>
      </p:pic>
      <p:sp>
        <p:nvSpPr>
          <p:cNvPr id="16" name="TextBox 15"/>
          <p:cNvSpPr txBox="1"/>
          <p:nvPr/>
        </p:nvSpPr>
        <p:spPr>
          <a:xfrm>
            <a:off x="713232" y="6144768"/>
            <a:ext cx="4307840" cy="252730"/>
          </a:xfrm>
          <a:prstGeom prst="rect">
            <a:avLst/>
          </a:prstGeom>
          <a:noFill/>
        </p:spPr>
        <p:txBody>
          <a:bodyPr wrap="none">
            <a:spAutoFit/>
          </a:bodyPr>
          <a:lstStyle/>
          <a:p>
            <a:r>
              <a:rPr lang="en-US" sz="1050">
                <a:solidFill>
                  <a:srgbClr val="6B6B6B"/>
                </a:solidFill>
                <a:latin typeface="Arial" panose="020B0604020202020204"/>
              </a:rPr>
              <a:t>*: </a:t>
            </a:r>
            <a:r>
              <a:rPr sz="1050">
                <a:solidFill>
                  <a:srgbClr val="6B6B6B"/>
                </a:solidFill>
                <a:latin typeface="Arial" panose="020B0604020202020204"/>
              </a:rPr>
              <a:t>Số liệu: 10 seeds · mean ± std (ddof=1) · Nguồn: Bảng 4.2 luận văn</a:t>
            </a:r>
            <a:endParaRPr sz="1050">
              <a:solidFill>
                <a:srgbClr val="6B6B6B"/>
              </a:solidFill>
              <a:latin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p:cNvSpPr>
            <a:spLocks noGrp="1"/>
          </p:cNvSpPr>
          <p:nvPr>
            <p:ph type="sldNum" sz="quarter" idx="12"/>
          </p:nvPr>
        </p:nvSpPr>
        <p:spPr/>
        <p:txBody>
          <a:bodyPr/>
          <a:lstStyle/>
          <a:p>
            <a:fld id="{48F63A3B-78C7-47BE-AE5E-E10140E04643}" type="slidenum">
              <a:rPr lang="en-US" smtClean="0"/>
            </a:fld>
            <a:endParaRPr lang="en-US" dirty="0"/>
          </a:p>
        </p:txBody>
      </p:sp>
      <p:sp>
        <p:nvSpPr>
          <p:cNvPr id="4" name="Title 3"/>
          <p:cNvSpPr>
            <a:spLocks noGrp="1"/>
          </p:cNvSpPr>
          <p:nvPr>
            <p:ph type="title"/>
          </p:nvPr>
        </p:nvSpPr>
        <p:spPr/>
        <p:txBody>
          <a:bodyPr>
            <a:normAutofit/>
          </a:bodyPr>
          <a:lstStyle/>
          <a:p>
            <a:r>
              <a:rPr lang="en-US" sz="4000" dirty="0"/>
              <a:t>KẾT LUẬN &amp; HƯỚNG PHÁT TRIỂN </a:t>
            </a:r>
            <a:endParaRPr lang="en-US" sz="4000" dirty="0"/>
          </a:p>
        </p:txBody>
      </p:sp>
      <p:sp>
        <p:nvSpPr>
          <p:cNvPr id="5" name="Text Placeholder 4"/>
          <p:cNvSpPr>
            <a:spLocks noGrp="1"/>
          </p:cNvSpPr>
          <p:nvPr>
            <p:ph type="body" idx="1"/>
          </p:nvPr>
        </p:nvSpPr>
        <p:spPr/>
        <p:txBody>
          <a:bodyPr/>
          <a:lstStyle/>
          <a:p>
            <a:endParaRPr lang="en-US"/>
          </a:p>
        </p:txBody>
      </p:sp>
      <p:sp>
        <p:nvSpPr>
          <p:cNvPr id="6" name="Content Placeholder 5"/>
          <p:cNvSpPr>
            <a:spLocks noGrp="1"/>
          </p:cNvSpPr>
          <p:nvPr>
            <p:ph sz="quarter" idx="13"/>
          </p:nvPr>
        </p:nvSpPr>
        <p:spPr/>
        <p:txBody>
          <a:bodyPr/>
          <a:lstStyle/>
          <a:p>
            <a:r>
              <a:rPr lang="en-US" dirty="0"/>
              <a:t>04</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790" y="1036955"/>
            <a:ext cx="10858500" cy="890905"/>
          </a:xfrm>
        </p:spPr>
        <p:txBody>
          <a:bodyPr>
            <a:noAutofit/>
          </a:bodyPr>
          <a:lstStyle/>
          <a:p>
            <a:r>
              <a:rPr sz="3500"/>
              <a:t>4. Đúc Kết Thực Tế &amp; Hướng Phát Triển</a:t>
            </a:r>
            <a:endParaRPr sz="3500"/>
          </a:p>
        </p:txBody>
      </p:sp>
      <p:sp>
        <p:nvSpPr>
          <p:cNvPr id="4" name="Footer Placeholder 3"/>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sp>
        <p:nvSpPr>
          <p:cNvPr id="6" name="Rounded Rectangle 5"/>
          <p:cNvSpPr/>
          <p:nvPr/>
        </p:nvSpPr>
        <p:spPr>
          <a:xfrm>
            <a:off x="694690" y="2057400"/>
            <a:ext cx="5303520" cy="3522980"/>
          </a:xfrm>
          <a:prstGeom prst="roundRect">
            <a:avLst/>
          </a:prstGeom>
          <a:solidFill>
            <a:srgbClr val="F8FAFD"/>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185416"/>
            <a:ext cx="5010912" cy="2805430"/>
          </a:xfrm>
          <a:prstGeom prst="rect">
            <a:avLst/>
          </a:prstGeom>
          <a:noFill/>
        </p:spPr>
        <p:txBody>
          <a:bodyPr wrap="square" lIns="0" tIns="0" rIns="0" bIns="0">
            <a:spAutoFit/>
          </a:bodyPr>
          <a:lstStyle/>
          <a:p>
            <a:pPr algn="ctr">
              <a:defRPr sz="1400" b="1">
                <a:solidFill>
                  <a:srgbClr val="1F4E79"/>
                </a:solidFill>
                <a:latin typeface="Arial" panose="020B0604020202020204"/>
              </a:defRPr>
            </a:pPr>
            <a:r>
              <a:t>Đúc Kết </a:t>
            </a:r>
          </a:p>
          <a:p>
            <a:pPr algn="just">
              <a:spcBef>
                <a:spcPts val="600"/>
              </a:spcBef>
              <a:spcAft>
                <a:spcPts val="200"/>
              </a:spcAft>
            </a:pPr>
            <a:r>
              <a:rPr lang="en-US" sz="1500" b="1">
                <a:solidFill>
                  <a:srgbClr val="1E1E1E"/>
                </a:solidFill>
                <a:latin typeface="Arial" panose="020B0604020202020204"/>
              </a:rPr>
              <a:t>- Lượng tử không vượt trội:</a:t>
            </a:r>
            <a:r>
              <a:rPr sz="1500" b="1">
                <a:solidFill>
                  <a:srgbClr val="1E1E1E"/>
                </a:solidFill>
                <a:latin typeface="Arial" panose="020B0604020202020204"/>
              </a:rPr>
              <a:t> </a:t>
            </a:r>
            <a:r>
              <a:rPr sz="1500">
                <a:solidFill>
                  <a:srgbClr val="1E1E1E"/>
                </a:solidFill>
                <a:latin typeface="Arial" panose="020B0604020202020204"/>
              </a:rPr>
              <a:t>Mạch lượng tử thắng thế rõ rệt khi ảnh ít và lệch lớp (như siêu âm ung thư vú), nhưng sẽ thua CNN khi bài toán có nhiều lớp và nhiều dữ liệu.</a:t>
            </a:r>
            <a:endParaRPr sz="1500">
              <a:solidFill>
                <a:srgbClr val="1E1E1E"/>
              </a:solidFill>
              <a:latin typeface="Arial" panose="020B0604020202020204"/>
            </a:endParaRPr>
          </a:p>
          <a:p>
            <a:pPr algn="just">
              <a:spcBef>
                <a:spcPts val="600"/>
              </a:spcBef>
              <a:spcAft>
                <a:spcPts val="200"/>
              </a:spcAft>
            </a:pPr>
            <a:r>
              <a:rPr lang="en-US" sz="1500" b="1">
                <a:solidFill>
                  <a:srgbClr val="1E1E1E"/>
                </a:solidFill>
                <a:latin typeface="Arial" panose="020B0604020202020204"/>
              </a:rPr>
              <a:t>- </a:t>
            </a:r>
            <a:r>
              <a:rPr sz="1500" b="1">
                <a:solidFill>
                  <a:srgbClr val="1E1E1E"/>
                </a:solidFill>
                <a:latin typeface="Arial" panose="020B0604020202020204"/>
              </a:rPr>
              <a:t>Mạch cố định (0 cần học) cực kỳ hữu dụng: </a:t>
            </a:r>
            <a:r>
              <a:rPr sz="1500">
                <a:solidFill>
                  <a:srgbClr val="1E1E1E"/>
                </a:solidFill>
                <a:latin typeface="Arial" panose="020B0604020202020204"/>
              </a:rPr>
              <a:t>Không cần mất công huấn luyện mạch lượng tử phức tạp, mạch ngẫu nhiên vẫn trích xuất đặc trưng tốt, cho phép tính trước 1 lần để tiết kiệm thời gian.</a:t>
            </a:r>
            <a:endParaRPr sz="1500">
              <a:solidFill>
                <a:srgbClr val="1E1E1E"/>
              </a:solidFill>
              <a:latin typeface="Arial" panose="020B0604020202020204"/>
            </a:endParaRPr>
          </a:p>
          <a:p>
            <a:pPr algn="just">
              <a:spcBef>
                <a:spcPts val="600"/>
              </a:spcBef>
              <a:spcAft>
                <a:spcPts val="200"/>
              </a:spcAft>
            </a:pPr>
            <a:r>
              <a:rPr lang="en-US" sz="1500" b="1">
                <a:solidFill>
                  <a:srgbClr val="1E1E1E"/>
                </a:solidFill>
                <a:latin typeface="Arial" panose="020B0604020202020204"/>
              </a:rPr>
              <a:t>- M</a:t>
            </a:r>
            <a:r>
              <a:rPr sz="1500" b="1">
                <a:solidFill>
                  <a:srgbClr val="1E1E1E"/>
                </a:solidFill>
                <a:latin typeface="Arial" panose="020B0604020202020204"/>
              </a:rPr>
              <a:t>ạch tự học có giới hạn: </a:t>
            </a:r>
            <a:r>
              <a:rPr sz="1500">
                <a:solidFill>
                  <a:srgbClr val="1E1E1E"/>
                </a:solidFill>
                <a:latin typeface="Arial" panose="020B0604020202020204"/>
              </a:rPr>
              <a:t>Tự học góc quay chỉ giúp cải thiện chính mạch đó tốt lên một chút, chứ không giúp mạch vượt qua giới hạn dung lượng phần cứng.</a:t>
            </a:r>
            <a:endParaRPr sz="1500">
              <a:solidFill>
                <a:srgbClr val="1E1E1E"/>
              </a:solidFill>
              <a:latin typeface="Arial" panose="020B0604020202020204"/>
            </a:endParaRPr>
          </a:p>
        </p:txBody>
      </p:sp>
      <p:sp>
        <p:nvSpPr>
          <p:cNvPr id="8" name="Rounded Rectangle 7"/>
          <p:cNvSpPr/>
          <p:nvPr/>
        </p:nvSpPr>
        <p:spPr>
          <a:xfrm>
            <a:off x="6096000" y="2057400"/>
            <a:ext cx="5398770" cy="3523615"/>
          </a:xfrm>
          <a:prstGeom prst="roundRect">
            <a:avLst/>
          </a:prstGeom>
          <a:solidFill>
            <a:srgbClr val="F8FAFD"/>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27648" y="2185416"/>
            <a:ext cx="5010912" cy="3138805"/>
          </a:xfrm>
          <a:prstGeom prst="rect">
            <a:avLst/>
          </a:prstGeom>
          <a:noFill/>
        </p:spPr>
        <p:txBody>
          <a:bodyPr wrap="square" lIns="0" tIns="0" rIns="0" bIns="0">
            <a:spAutoFit/>
          </a:bodyPr>
          <a:lstStyle/>
          <a:p>
            <a:pPr algn="ctr">
              <a:defRPr sz="1400" b="1">
                <a:solidFill>
                  <a:srgbClr val="1F4E79"/>
                </a:solidFill>
                <a:latin typeface="Arial" panose="020B0604020202020204"/>
              </a:defRPr>
            </a:pPr>
            <a:r>
              <a:t>Hướng Phát Triển</a:t>
            </a:r>
          </a:p>
          <a:p>
            <a:pPr>
              <a:spcBef>
                <a:spcPts val="600"/>
              </a:spcBef>
              <a:spcAft>
                <a:spcPts val="200"/>
              </a:spcAft>
            </a:pPr>
            <a:r>
              <a:rPr lang="en-US" sz="1500" b="1">
                <a:solidFill>
                  <a:srgbClr val="1E1E1E"/>
                </a:solidFill>
                <a:latin typeface="Arial" panose="020B0604020202020204"/>
              </a:rPr>
              <a:t>- </a:t>
            </a:r>
            <a:r>
              <a:rPr sz="1500" b="1">
                <a:solidFill>
                  <a:srgbClr val="1E1E1E"/>
                </a:solidFill>
                <a:latin typeface="Arial" panose="020B0604020202020204"/>
              </a:rPr>
              <a:t>Chạy thử trên máy tính lượng tử thật: </a:t>
            </a:r>
            <a:r>
              <a:rPr sz="1500">
                <a:solidFill>
                  <a:srgbClr val="1E1E1E"/>
                </a:solidFill>
                <a:latin typeface="Arial" panose="020B0604020202020204"/>
              </a:rPr>
              <a:t>Kết nối trực tiếp lên máy tính lượng tử IBM Quantum và áp dụng thuật toán khử nhiễu thực tế.</a:t>
            </a:r>
            <a:endParaRPr sz="1500">
              <a:solidFill>
                <a:srgbClr val="1E1E1E"/>
              </a:solidFill>
              <a:latin typeface="Arial" panose="020B0604020202020204"/>
            </a:endParaRPr>
          </a:p>
          <a:p>
            <a:pPr>
              <a:spcBef>
                <a:spcPts val="600"/>
              </a:spcBef>
              <a:spcAft>
                <a:spcPts val="200"/>
              </a:spcAft>
            </a:pPr>
            <a:r>
              <a:rPr lang="en-US" sz="1500" b="1">
                <a:solidFill>
                  <a:srgbClr val="1E1E1E"/>
                </a:solidFill>
                <a:latin typeface="Arial" panose="020B0604020202020204"/>
              </a:rPr>
              <a:t>- </a:t>
            </a:r>
            <a:r>
              <a:rPr sz="1500" b="1">
                <a:solidFill>
                  <a:srgbClr val="1E1E1E"/>
                </a:solidFill>
                <a:latin typeface="Arial" panose="020B0604020202020204"/>
              </a:rPr>
              <a:t>Dùng GPU mở rộng số Qubit: </a:t>
            </a:r>
            <a:r>
              <a:rPr sz="1500">
                <a:solidFill>
                  <a:srgbClr val="1E1E1E"/>
                </a:solidFill>
                <a:latin typeface="Arial" panose="020B0604020202020204"/>
              </a:rPr>
              <a:t>Áp dụng NVIDIA cuQuantum để mô phỏng mạch 8–16 qubits, giúp giải quyết bài toán lớn 97,000 ảnh OCT.</a:t>
            </a:r>
            <a:endParaRPr sz="1500">
              <a:solidFill>
                <a:srgbClr val="1E1E1E"/>
              </a:solidFill>
              <a:latin typeface="Arial" panose="020B0604020202020204"/>
            </a:endParaRPr>
          </a:p>
          <a:p>
            <a:pPr>
              <a:spcBef>
                <a:spcPts val="600"/>
              </a:spcBef>
              <a:spcAft>
                <a:spcPts val="200"/>
              </a:spcAft>
            </a:pPr>
            <a:r>
              <a:rPr lang="en-US" sz="1500" b="1">
                <a:solidFill>
                  <a:srgbClr val="1E1E1E"/>
                </a:solidFill>
                <a:latin typeface="Arial" panose="020B0604020202020204"/>
              </a:rPr>
              <a:t>- </a:t>
            </a:r>
            <a:r>
              <a:rPr sz="1500" b="1">
                <a:solidFill>
                  <a:srgbClr val="1E1E1E"/>
                </a:solidFill>
                <a:latin typeface="Arial" panose="020B0604020202020204"/>
              </a:rPr>
              <a:t>Đổi mới cách nén dữ liệu: </a:t>
            </a:r>
            <a:r>
              <a:rPr sz="1500">
                <a:solidFill>
                  <a:srgbClr val="1E1E1E"/>
                </a:solidFill>
                <a:latin typeface="Arial" panose="020B0604020202020204"/>
              </a:rPr>
              <a:t>Nghiên cứu cách nạp nhiều pixel vào ít qubit hơn để tăng sức chứa thông tin của mạch.</a:t>
            </a:r>
            <a:endParaRPr sz="1500">
              <a:solidFill>
                <a:srgbClr val="1E1E1E"/>
              </a:solidFill>
              <a:latin typeface="Arial" panose="020B0604020202020204"/>
            </a:endParaRPr>
          </a:p>
          <a:p>
            <a:pPr>
              <a:spcBef>
                <a:spcPts val="600"/>
              </a:spcBef>
              <a:spcAft>
                <a:spcPts val="200"/>
              </a:spcAft>
            </a:pPr>
            <a:r>
              <a:rPr lang="en-US" sz="1500" b="1">
                <a:solidFill>
                  <a:srgbClr val="1E1E1E"/>
                </a:solidFill>
                <a:latin typeface="Arial" panose="020B0604020202020204"/>
              </a:rPr>
              <a:t>- </a:t>
            </a:r>
            <a:r>
              <a:rPr sz="1500" b="1">
                <a:solidFill>
                  <a:srgbClr val="1E1E1E"/>
                </a:solidFill>
                <a:latin typeface="Arial" panose="020B0604020202020204"/>
              </a:rPr>
              <a:t>Công bố khoa học quốc tế: </a:t>
            </a:r>
            <a:r>
              <a:rPr sz="1500">
                <a:solidFill>
                  <a:srgbClr val="1E1E1E"/>
                </a:solidFill>
                <a:latin typeface="Arial" panose="020B0604020202020204"/>
              </a:rPr>
              <a:t>Toàn bộ nghiên cứu đã được viết thành bài báo khoa học và đang bình duyệt tại Hội nghị Quốc tế SOICT 2026 (Springer CCIS).</a:t>
            </a:r>
            <a:endParaRPr sz="1500">
              <a:solidFill>
                <a:srgbClr val="1E1E1E"/>
              </a:solidFill>
              <a:latin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Copyrights 2024 CE-UIT. All Rights Reserved.</a:t>
            </a:r>
            <a:endParaRPr lang="en-US" dirty="0"/>
          </a:p>
        </p:txBody>
      </p:sp>
      <p:sp>
        <p:nvSpPr>
          <p:cNvPr id="3" name="Slide Number Placeholder 2"/>
          <p:cNvSpPr>
            <a:spLocks noGrp="1"/>
          </p:cNvSpPr>
          <p:nvPr>
            <p:ph type="sldNum" sz="quarter" idx="12"/>
          </p:nvPr>
        </p:nvSpPr>
        <p:spPr/>
        <p:txBody>
          <a:bodyPr/>
          <a:lstStyle/>
          <a:p>
            <a:fld id="{48F63A3B-78C7-47BE-AE5E-E10140E04643}" type="slidenum">
              <a:rPr lang="en-US" smtClean="0"/>
            </a:fld>
            <a:endParaRPr lang="en-US" dirty="0"/>
          </a:p>
        </p:txBody>
      </p:sp>
      <p:sp>
        <p:nvSpPr>
          <p:cNvPr id="4" name="Title 3"/>
          <p:cNvSpPr>
            <a:spLocks noGrp="1"/>
          </p:cNvSpPr>
          <p:nvPr>
            <p:ph type="title"/>
          </p:nvPr>
        </p:nvSpPr>
        <p:spPr/>
        <p:txBody>
          <a:bodyPr/>
          <a:lstStyle/>
          <a:p>
            <a:r>
              <a:rPr lang="en-US" dirty="0"/>
              <a:t>HỎI VÀ ĐÁP</a:t>
            </a:r>
            <a:endParaRPr lang="en-US" dirty="0"/>
          </a:p>
        </p:txBody>
      </p:sp>
      <p:sp>
        <p:nvSpPr>
          <p:cNvPr id="5" name="Text Placeholder 4"/>
          <p:cNvSpPr>
            <a:spLocks noGrp="1"/>
          </p:cNvSpPr>
          <p:nvPr>
            <p:ph type="body" idx="1"/>
          </p:nvPr>
        </p:nvSpPr>
        <p:spPr/>
        <p:txBody>
          <a:bodyPr/>
          <a:lstStyle/>
          <a:p>
            <a:endParaRPr lang="en-US"/>
          </a:p>
        </p:txBody>
      </p:sp>
      <p:sp>
        <p:nvSpPr>
          <p:cNvPr id="6" name="Content Placeholder 5"/>
          <p:cNvSpPr>
            <a:spLocks noGrp="1"/>
          </p:cNvSpPr>
          <p:nvPr>
            <p:ph sz="quarter" idx="13"/>
          </p:nvPr>
        </p:nvSpPr>
        <p:spPr/>
        <p:txBody>
          <a:bodyPr/>
          <a:lstStyle/>
          <a:p>
            <a:r>
              <a:rPr lang="en-US" dirty="0"/>
              <a:t>05</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Tài liệu Tham khảo</a:t>
            </a:r>
          </a:p>
        </p:txBody>
      </p:sp>
      <p:sp>
        <p:nvSpPr>
          <p:cNvPr id="4" name="Footer Placeholder 3"/>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sp>
        <p:nvSpPr>
          <p:cNvPr id="7" name="TextBox 6"/>
          <p:cNvSpPr txBox="1"/>
          <p:nvPr/>
        </p:nvSpPr>
        <p:spPr>
          <a:xfrm>
            <a:off x="841375" y="2225675"/>
            <a:ext cx="10497185" cy="3492500"/>
          </a:xfrm>
          <a:prstGeom prst="rect">
            <a:avLst/>
          </a:prstGeom>
          <a:noFill/>
        </p:spPr>
        <p:txBody>
          <a:bodyPr wrap="square" lIns="0" tIns="0" rIns="0" bIns="0">
            <a:noAutofit/>
          </a:bodyPr>
          <a:lstStyle/>
          <a:p>
            <a:pPr algn="just">
              <a:spcBef>
                <a:spcPts val="600"/>
              </a:spcBef>
              <a:spcAft>
                <a:spcPts val="200"/>
              </a:spcAft>
            </a:pPr>
            <a:r>
              <a:rPr sz="1500" b="1">
                <a:solidFill>
                  <a:srgbClr val="1E1E1E"/>
                </a:solidFill>
                <a:latin typeface="Arial" panose="020B0604020202020204"/>
              </a:rPr>
              <a:t>[1] Henderson et al. (2020) </a:t>
            </a:r>
            <a:r>
              <a:rPr sz="1500">
                <a:solidFill>
                  <a:srgbClr val="1E1E1E"/>
                </a:solidFill>
                <a:latin typeface="Arial" panose="020B0604020202020204"/>
              </a:rPr>
              <a:t>Quanvolutional Neural Networks. Quantum Machine Intelligence, 2(1), 2. (Bài báo gốc đề xuất ý tưởng Quanvolution).</a:t>
            </a:r>
            <a:endParaRPr sz="1500">
              <a:solidFill>
                <a:srgbClr val="1E1E1E"/>
              </a:solidFill>
              <a:latin typeface="Arial" panose="020B0604020202020204"/>
            </a:endParaRPr>
          </a:p>
          <a:p>
            <a:pPr algn="just">
              <a:spcBef>
                <a:spcPts val="600"/>
              </a:spcBef>
              <a:spcAft>
                <a:spcPts val="200"/>
              </a:spcAft>
            </a:pPr>
            <a:r>
              <a:rPr sz="1500" b="1">
                <a:solidFill>
                  <a:srgbClr val="1E1E1E"/>
                </a:solidFill>
                <a:latin typeface="Arial" panose="020B0604020202020204"/>
              </a:rPr>
              <a:t>[2] Cong, Choi, &amp; Lukin (2019) </a:t>
            </a:r>
            <a:r>
              <a:rPr sz="1500">
                <a:solidFill>
                  <a:srgbClr val="1E1E1E"/>
                </a:solidFill>
                <a:latin typeface="Arial" panose="020B0604020202020204"/>
              </a:rPr>
              <a:t>Quantum Convolutional Neural Networks. Nature Physics, 15(12), 1273–1278. (Mạng tích chập lượng tử thuần túy).</a:t>
            </a:r>
            <a:endParaRPr sz="1500">
              <a:solidFill>
                <a:srgbClr val="1E1E1E"/>
              </a:solidFill>
              <a:latin typeface="Arial" panose="020B0604020202020204"/>
            </a:endParaRPr>
          </a:p>
          <a:p>
            <a:pPr algn="just">
              <a:spcBef>
                <a:spcPts val="600"/>
              </a:spcBef>
              <a:spcAft>
                <a:spcPts val="200"/>
              </a:spcAft>
            </a:pPr>
            <a:r>
              <a:rPr sz="1500" b="1">
                <a:solidFill>
                  <a:srgbClr val="1E1E1E"/>
                </a:solidFill>
                <a:latin typeface="Arial" panose="020B0604020202020204"/>
              </a:rPr>
              <a:t>[3] Schuld &amp; Killoran (2022) </a:t>
            </a:r>
            <a:r>
              <a:rPr sz="1500">
                <a:solidFill>
                  <a:srgbClr val="1E1E1E"/>
                </a:solidFill>
                <a:latin typeface="Arial" panose="020B0604020202020204"/>
              </a:rPr>
              <a:t>Is Quantum Advantage the Right Goal for Quantum Machine Learning? PRX Quantum, 3(3), 030101. (Bàn về vai trò thực tế của máy học lượng tử).</a:t>
            </a:r>
            <a:endParaRPr sz="1500">
              <a:solidFill>
                <a:srgbClr val="1E1E1E"/>
              </a:solidFill>
              <a:latin typeface="Arial" panose="020B0604020202020204"/>
            </a:endParaRPr>
          </a:p>
          <a:p>
            <a:pPr algn="just">
              <a:spcBef>
                <a:spcPts val="600"/>
              </a:spcBef>
              <a:spcAft>
                <a:spcPts val="200"/>
              </a:spcAft>
            </a:pPr>
            <a:r>
              <a:rPr sz="1500" b="1">
                <a:solidFill>
                  <a:srgbClr val="1E1E1E"/>
                </a:solidFill>
                <a:latin typeface="Arial" panose="020B0604020202020204"/>
              </a:rPr>
              <a:t>[4] Yang et al. (2023) </a:t>
            </a:r>
            <a:r>
              <a:rPr sz="1500">
                <a:solidFill>
                  <a:srgbClr val="1E1E1E"/>
                </a:solidFill>
                <a:latin typeface="Arial" panose="020B0604020202020204"/>
              </a:rPr>
              <a:t>MedMNIST v2: A Large-Scale Lightweight Benchmark for Biomedical Image Classification. Scientific Data (Nature), 10(1), 41.</a:t>
            </a:r>
            <a:endParaRPr sz="1500">
              <a:solidFill>
                <a:srgbClr val="1E1E1E"/>
              </a:solidFill>
              <a:latin typeface="Arial" panose="020B0604020202020204"/>
            </a:endParaRPr>
          </a:p>
          <a:p>
            <a:pPr algn="just">
              <a:spcBef>
                <a:spcPts val="600"/>
              </a:spcBef>
              <a:spcAft>
                <a:spcPts val="200"/>
              </a:spcAft>
            </a:pPr>
            <a:r>
              <a:rPr sz="1500" b="1">
                <a:solidFill>
                  <a:srgbClr val="1E1E1E"/>
                </a:solidFill>
                <a:latin typeface="Arial" panose="020B0604020202020204"/>
              </a:rPr>
              <a:t>[5] McClean et al. (2018) </a:t>
            </a:r>
            <a:r>
              <a:rPr sz="1500">
                <a:solidFill>
                  <a:srgbClr val="1E1E1E"/>
                </a:solidFill>
                <a:latin typeface="Arial" panose="020B0604020202020204"/>
              </a:rPr>
              <a:t>Barren Plateaus in Quantum Neural Network Training Landscapes. Nature Communications, 9(1), 4812.</a:t>
            </a:r>
            <a:endParaRPr sz="1500">
              <a:solidFill>
                <a:srgbClr val="1E1E1E"/>
              </a:solidFill>
              <a:latin typeface="Arial" panose="020B0604020202020204"/>
            </a:endParaRPr>
          </a:p>
          <a:p>
            <a:pPr algn="just">
              <a:spcBef>
                <a:spcPts val="600"/>
              </a:spcBef>
              <a:spcAft>
                <a:spcPts val="200"/>
              </a:spcAft>
            </a:pPr>
            <a:r>
              <a:rPr sz="1500" b="1">
                <a:solidFill>
                  <a:srgbClr val="1E1E1E"/>
                </a:solidFill>
                <a:latin typeface="Arial" panose="020B0604020202020204"/>
              </a:rPr>
              <a:t>[6] Matondo-Mvula &amp; Elleithy (2024) </a:t>
            </a:r>
            <a:r>
              <a:rPr sz="1500">
                <a:solidFill>
                  <a:srgbClr val="1E1E1E"/>
                </a:solidFill>
                <a:latin typeface="Arial" panose="020B0604020202020204"/>
              </a:rPr>
              <a:t>Breast Cancer Detection with Quanvolutional Neural Networks. Entropy, 26(8), 630.</a:t>
            </a:r>
            <a:endParaRPr sz="1500">
              <a:solidFill>
                <a:srgbClr val="1E1E1E"/>
              </a:solidFill>
              <a:latin typeface="Arial" panose="020B0604020202020204"/>
            </a:endParaRPr>
          </a:p>
          <a:p>
            <a:pPr algn="just">
              <a:spcBef>
                <a:spcPts val="600"/>
              </a:spcBef>
              <a:spcAft>
                <a:spcPts val="200"/>
              </a:spcAft>
            </a:pPr>
            <a:r>
              <a:rPr sz="1500" b="1">
                <a:solidFill>
                  <a:srgbClr val="1E1E1E"/>
                </a:solidFill>
                <a:latin typeface="Arial" panose="020B0604020202020204"/>
              </a:rPr>
              <a:t>Toàn bộ tài liệu đối chiếu: </a:t>
            </a:r>
            <a:r>
              <a:rPr sz="1500">
                <a:solidFill>
                  <a:srgbClr val="1E1E1E"/>
                </a:solidFill>
                <a:latin typeface="Arial" panose="020B0604020202020204"/>
              </a:rPr>
              <a:t>19 công trình quốc tế được trích dẫn và phân tích chi tiết trong cuốn Luận văn và Bài báo.</a:t>
            </a:r>
            <a:endParaRPr sz="1500">
              <a:solidFill>
                <a:srgbClr val="1E1E1E"/>
              </a:solidFill>
              <a:latin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500"/>
              <a:t>Phụ lục </a:t>
            </a:r>
            <a:endParaRPr sz="3500"/>
          </a:p>
        </p:txBody>
      </p:sp>
      <p:sp>
        <p:nvSpPr>
          <p:cNvPr id="4" name="Footer Placeholder 3"/>
          <p:cNvSpPr>
            <a:spLocks noGrp="1"/>
          </p:cNvSpPr>
          <p:nvPr>
            <p:ph type="ftr" sz="quarter" idx="11"/>
          </p:nvPr>
        </p:nvSpPr>
        <p:spPr/>
        <p:txBody>
          <a:bodyPr/>
          <a:lstStyle/>
          <a:p>
            <a:r>
              <a:rPr lang="en-US"/>
              <a:t>Copyrights 2024 CE-UIT. All Rights Reserved.</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graphicFrame>
        <p:nvGraphicFramePr>
          <p:cNvPr id="6" name="Table 5"/>
          <p:cNvGraphicFramePr>
            <a:graphicFrameLocks noGrp="1"/>
          </p:cNvGraphicFramePr>
          <p:nvPr/>
        </p:nvGraphicFramePr>
        <p:xfrm>
          <a:off x="694944" y="2011680"/>
          <a:ext cx="6035040" cy="2011680"/>
        </p:xfrm>
        <a:graphic>
          <a:graphicData uri="http://schemas.openxmlformats.org/drawingml/2006/table">
            <a:tbl>
              <a:tblPr firstRow="1" bandRow="1">
                <a:tableStyleId>{5C22544A-7EE6-4342-B048-85BDC9FD1C3A}</a:tableStyleId>
              </a:tblPr>
              <a:tblGrid>
                <a:gridCol w="1645920"/>
                <a:gridCol w="822960"/>
                <a:gridCol w="822960"/>
                <a:gridCol w="914400"/>
                <a:gridCol w="1005840"/>
                <a:gridCol w="822960"/>
              </a:tblGrid>
              <a:tr h="402336">
                <a:tc>
                  <a:txBody>
                    <a:bodyPr/>
                    <a:lstStyle/>
                    <a:p>
                      <a:pPr algn="ctr">
                        <a:defRPr sz="1000" b="1">
                          <a:solidFill>
                            <a:srgbClr val="FFFFFF"/>
                          </a:solidFill>
                          <a:latin typeface="Arial" panose="020B0604020202020204"/>
                        </a:defRPr>
                      </a:pPr>
                      <a:r>
                        <a:t>Cặp đối đầu</a:t>
                      </a:r>
                    </a:p>
                  </a:txBody>
                  <a:tcPr anchor="ctr">
                    <a:solidFill>
                      <a:srgbClr val="1F4E79"/>
                    </a:solidFill>
                  </a:tcPr>
                </a:tc>
                <a:tc>
                  <a:txBody>
                    <a:bodyPr/>
                    <a:lstStyle/>
                    <a:p>
                      <a:pPr algn="ctr">
                        <a:defRPr sz="1000" b="1">
                          <a:solidFill>
                            <a:srgbClr val="FFFFFF"/>
                          </a:solidFill>
                          <a:latin typeface="Arial" panose="020B0604020202020204"/>
                        </a:defRPr>
                      </a:pPr>
                      <a:r>
                        <a:t>Chỉ số</a:t>
                      </a:r>
                    </a:p>
                  </a:txBody>
                  <a:tcPr anchor="ctr">
                    <a:solidFill>
                      <a:srgbClr val="1F4E79"/>
                    </a:solidFill>
                  </a:tcPr>
                </a:tc>
                <a:tc>
                  <a:txBody>
                    <a:bodyPr/>
                    <a:lstStyle/>
                    <a:p>
                      <a:pPr algn="ctr">
                        <a:defRPr sz="1000" b="1">
                          <a:solidFill>
                            <a:srgbClr val="FFFFFF"/>
                          </a:solidFill>
                          <a:latin typeface="Arial" panose="020B0604020202020204"/>
                        </a:defRPr>
                      </a:pPr>
                      <a:r>
                        <a:t>Chênh lệch (Δ)</a:t>
                      </a:r>
                    </a:p>
                  </a:txBody>
                  <a:tcPr anchor="ctr">
                    <a:solidFill>
                      <a:srgbClr val="1F4E79"/>
                    </a:solidFill>
                  </a:tcPr>
                </a:tc>
                <a:tc>
                  <a:txBody>
                    <a:bodyPr/>
                    <a:lstStyle/>
                    <a:p>
                      <a:pPr algn="ctr">
                        <a:defRPr sz="1000" b="1">
                          <a:solidFill>
                            <a:srgbClr val="FFFFFF"/>
                          </a:solidFill>
                          <a:latin typeface="Arial" panose="020B0604020202020204"/>
                        </a:defRPr>
                      </a:pPr>
                      <a:r>
                        <a:t>Kiểm định t-test</a:t>
                      </a:r>
                    </a:p>
                  </a:txBody>
                  <a:tcPr anchor="ctr">
                    <a:solidFill>
                      <a:srgbClr val="1F4E79"/>
                    </a:solidFill>
                  </a:tcPr>
                </a:tc>
                <a:tc>
                  <a:txBody>
                    <a:bodyPr/>
                    <a:lstStyle/>
                    <a:p>
                      <a:pPr algn="ctr">
                        <a:defRPr sz="1000" b="1">
                          <a:solidFill>
                            <a:srgbClr val="FFFFFF"/>
                          </a:solidFill>
                          <a:latin typeface="Arial" panose="020B0604020202020204"/>
                        </a:defRPr>
                      </a:pPr>
                      <a:r>
                        <a:t>Kiểm định Wilcoxon</a:t>
                      </a:r>
                    </a:p>
                  </a:txBody>
                  <a:tcPr anchor="ctr">
                    <a:solidFill>
                      <a:srgbClr val="1F4E79"/>
                    </a:solidFill>
                  </a:tcPr>
                </a:tc>
                <a:tc>
                  <a:txBody>
                    <a:bodyPr/>
                    <a:lstStyle/>
                    <a:p>
                      <a:pPr algn="ctr">
                        <a:defRPr sz="1000" b="1">
                          <a:solidFill>
                            <a:srgbClr val="FFFFFF"/>
                          </a:solidFill>
                          <a:latin typeface="Arial" panose="020B0604020202020204"/>
                        </a:defRPr>
                      </a:pPr>
                      <a:r>
                        <a:t>Mức độ vượt trội</a:t>
                      </a:r>
                    </a:p>
                  </a:txBody>
                  <a:tcPr anchor="ctr">
                    <a:solidFill>
                      <a:srgbClr val="1F4E79"/>
                    </a:solidFill>
                  </a:tcPr>
                </a:tc>
              </a:tr>
              <a:tr h="402336">
                <a:tc>
                  <a:txBody>
                    <a:bodyPr/>
                    <a:lstStyle/>
                    <a:p>
                      <a:pPr algn="l">
                        <a:defRPr sz="950" b="1">
                          <a:solidFill>
                            <a:srgbClr val="1F4E79"/>
                          </a:solidFill>
                          <a:latin typeface="Arial" panose="020B0604020202020204"/>
                        </a:defRPr>
                      </a:pPr>
                      <a:r>
                        <a:t>Mạch Basic vs CNN (Breast)</a:t>
                      </a:r>
                    </a:p>
                  </a:txBody>
                  <a:tcPr anchor="ctr">
                    <a:solidFill>
                      <a:srgbClr val="E9F3FF"/>
                    </a:solidFill>
                  </a:tcPr>
                </a:tc>
                <a:tc>
                  <a:txBody>
                    <a:bodyPr/>
                    <a:lstStyle/>
                    <a:p>
                      <a:pPr algn="ctr">
                        <a:defRPr sz="950" b="1">
                          <a:solidFill>
                            <a:srgbClr val="1F4E79"/>
                          </a:solidFill>
                          <a:latin typeface="Arial" panose="020B0604020202020204"/>
                        </a:defRPr>
                      </a:pPr>
                      <a:r>
                        <a:t>ROC-AUC</a:t>
                      </a:r>
                    </a:p>
                  </a:txBody>
                  <a:tcPr anchor="ctr">
                    <a:solidFill>
                      <a:srgbClr val="E9F3FF"/>
                    </a:solidFill>
                  </a:tcPr>
                </a:tc>
                <a:tc>
                  <a:txBody>
                    <a:bodyPr/>
                    <a:lstStyle/>
                    <a:p>
                      <a:pPr algn="ctr">
                        <a:defRPr sz="950" b="1">
                          <a:solidFill>
                            <a:srgbClr val="1F4E79"/>
                          </a:solidFill>
                          <a:latin typeface="Arial" panose="020B0604020202020204"/>
                        </a:defRPr>
                      </a:pPr>
                      <a:r>
                        <a:t>+0.0186</a:t>
                      </a:r>
                    </a:p>
                  </a:txBody>
                  <a:tcPr anchor="ctr">
                    <a:solidFill>
                      <a:srgbClr val="E9F3FF"/>
                    </a:solidFill>
                  </a:tcPr>
                </a:tc>
                <a:tc>
                  <a:txBody>
                    <a:bodyPr/>
                    <a:lstStyle/>
                    <a:p>
                      <a:pPr algn="ctr">
                        <a:defRPr sz="950" b="1">
                          <a:solidFill>
                            <a:srgbClr val="1F4E79"/>
                          </a:solidFill>
                          <a:latin typeface="Arial" panose="020B0604020202020204"/>
                        </a:defRPr>
                      </a:pPr>
                      <a:r>
                        <a:t>p = 0.0298 (*)</a:t>
                      </a:r>
                    </a:p>
                  </a:txBody>
                  <a:tcPr anchor="ctr">
                    <a:solidFill>
                      <a:srgbClr val="E9F3FF"/>
                    </a:solidFill>
                  </a:tcPr>
                </a:tc>
                <a:tc>
                  <a:txBody>
                    <a:bodyPr/>
                    <a:lstStyle/>
                    <a:p>
                      <a:pPr algn="ctr">
                        <a:defRPr sz="950" b="1">
                          <a:solidFill>
                            <a:srgbClr val="1F4E79"/>
                          </a:solidFill>
                          <a:latin typeface="Arial" panose="020B0604020202020204"/>
                        </a:defRPr>
                      </a:pPr>
                      <a:r>
                        <a:t>p = 0.0254 (*)</a:t>
                      </a:r>
                    </a:p>
                  </a:txBody>
                  <a:tcPr anchor="ctr">
                    <a:solidFill>
                      <a:srgbClr val="E9F3FF"/>
                    </a:solidFill>
                  </a:tcPr>
                </a:tc>
                <a:tc>
                  <a:txBody>
                    <a:bodyPr/>
                    <a:lstStyle/>
                    <a:p>
                      <a:pPr algn="ctr">
                        <a:defRPr sz="950" b="1">
                          <a:solidFill>
                            <a:srgbClr val="1F4E79"/>
                          </a:solidFill>
                          <a:latin typeface="Arial" panose="020B0604020202020204"/>
                        </a:defRPr>
                      </a:pPr>
                      <a:r>
                        <a:t>Vượt trội lớn (d = +0.815)</a:t>
                      </a:r>
                    </a:p>
                  </a:txBody>
                  <a:tcPr anchor="ctr">
                    <a:solidFill>
                      <a:srgbClr val="E9F3FF"/>
                    </a:solidFill>
                  </a:tcPr>
                </a:tc>
              </a:tr>
              <a:tr h="402336">
                <a:tc>
                  <a:txBody>
                    <a:bodyPr/>
                    <a:lstStyle/>
                    <a:p>
                      <a:pPr algn="l">
                        <a:defRPr sz="950">
                          <a:solidFill>
                            <a:srgbClr val="1E1E1E"/>
                          </a:solidFill>
                          <a:latin typeface="Arial" panose="020B0604020202020204"/>
                        </a:defRPr>
                      </a:pPr>
                      <a:r>
                        <a:t>Mạch Strongly vs CNN (Breast)</a:t>
                      </a:r>
                    </a:p>
                  </a:txBody>
                  <a:tcPr anchor="ctr">
                    <a:solidFill>
                      <a:srgbClr val="F8FAFD"/>
                    </a:solidFill>
                  </a:tcPr>
                </a:tc>
                <a:tc>
                  <a:txBody>
                    <a:bodyPr/>
                    <a:lstStyle/>
                    <a:p>
                      <a:pPr algn="ctr">
                        <a:defRPr sz="950">
                          <a:solidFill>
                            <a:srgbClr val="1E1E1E"/>
                          </a:solidFill>
                          <a:latin typeface="Arial" panose="020B0604020202020204"/>
                        </a:defRPr>
                      </a:pPr>
                      <a:r>
                        <a:t>PR-AUC</a:t>
                      </a:r>
                    </a:p>
                  </a:txBody>
                  <a:tcPr anchor="ctr">
                    <a:solidFill>
                      <a:srgbClr val="F8FAFD"/>
                    </a:solidFill>
                  </a:tcPr>
                </a:tc>
                <a:tc>
                  <a:txBody>
                    <a:bodyPr/>
                    <a:lstStyle/>
                    <a:p>
                      <a:pPr algn="ctr">
                        <a:defRPr sz="950">
                          <a:solidFill>
                            <a:srgbClr val="1E1E1E"/>
                          </a:solidFill>
                          <a:latin typeface="Arial" panose="020B0604020202020204"/>
                        </a:defRPr>
                      </a:pPr>
                      <a:r>
                        <a:t>+0.0140</a:t>
                      </a:r>
                    </a:p>
                  </a:txBody>
                  <a:tcPr anchor="ctr">
                    <a:solidFill>
                      <a:srgbClr val="F8FAFD"/>
                    </a:solidFill>
                  </a:tcPr>
                </a:tc>
                <a:tc>
                  <a:txBody>
                    <a:bodyPr/>
                    <a:lstStyle/>
                    <a:p>
                      <a:pPr algn="ctr">
                        <a:defRPr sz="950">
                          <a:solidFill>
                            <a:srgbClr val="1E1E1E"/>
                          </a:solidFill>
                          <a:latin typeface="Arial" panose="020B0604020202020204"/>
                        </a:defRPr>
                      </a:pPr>
                      <a:r>
                        <a:t>p = 0.0023 (**)</a:t>
                      </a:r>
                    </a:p>
                  </a:txBody>
                  <a:tcPr anchor="ctr">
                    <a:solidFill>
                      <a:srgbClr val="F8FAFD"/>
                    </a:solidFill>
                  </a:tcPr>
                </a:tc>
                <a:tc>
                  <a:txBody>
                    <a:bodyPr/>
                    <a:lstStyle/>
                    <a:p>
                      <a:pPr algn="ctr">
                        <a:defRPr sz="950">
                          <a:solidFill>
                            <a:srgbClr val="1E1E1E"/>
                          </a:solidFill>
                          <a:latin typeface="Arial" panose="020B0604020202020204"/>
                        </a:defRPr>
                      </a:pPr>
                      <a:r>
                        <a:t>p = 0.0059 (**)</a:t>
                      </a:r>
                    </a:p>
                  </a:txBody>
                  <a:tcPr anchor="ctr">
                    <a:solidFill>
                      <a:srgbClr val="F8FAFD"/>
                    </a:solidFill>
                  </a:tcPr>
                </a:tc>
                <a:tc>
                  <a:txBody>
                    <a:bodyPr/>
                    <a:lstStyle/>
                    <a:p>
                      <a:pPr algn="ctr">
                        <a:defRPr sz="950">
                          <a:solidFill>
                            <a:srgbClr val="1E1E1E"/>
                          </a:solidFill>
                          <a:latin typeface="Arial" panose="020B0604020202020204"/>
                        </a:defRPr>
                      </a:pPr>
                      <a:r>
                        <a:t>Rất lớn (d = +1.332)</a:t>
                      </a:r>
                    </a:p>
                  </a:txBody>
                  <a:tcPr anchor="ctr">
                    <a:solidFill>
                      <a:srgbClr val="F8FAFD"/>
                    </a:solidFill>
                  </a:tcPr>
                </a:tc>
              </a:tr>
              <a:tr h="402336">
                <a:tc>
                  <a:txBody>
                    <a:bodyPr/>
                    <a:lstStyle/>
                    <a:p>
                      <a:pPr algn="l">
                        <a:defRPr sz="950">
                          <a:solidFill>
                            <a:srgbClr val="1E1E1E"/>
                          </a:solidFill>
                          <a:latin typeface="Arial" panose="020B0604020202020204"/>
                        </a:defRPr>
                      </a:pPr>
                      <a:r>
                        <a:t>CNN vs Mạch Tự học (OCT)</a:t>
                      </a:r>
                    </a:p>
                  </a:txBody>
                  <a:tcPr anchor="ctr">
                    <a:solidFill>
                      <a:srgbClr val="FFFFFF"/>
                    </a:solidFill>
                  </a:tcPr>
                </a:tc>
                <a:tc>
                  <a:txBody>
                    <a:bodyPr/>
                    <a:lstStyle/>
                    <a:p>
                      <a:pPr algn="ctr">
                        <a:defRPr sz="950">
                          <a:solidFill>
                            <a:srgbClr val="1E1E1E"/>
                          </a:solidFill>
                          <a:latin typeface="Arial" panose="020B0604020202020204"/>
                        </a:defRPr>
                      </a:pPr>
                      <a:r>
                        <a:t>ROC-AUC</a:t>
                      </a:r>
                    </a:p>
                  </a:txBody>
                  <a:tcPr anchor="ctr">
                    <a:solidFill>
                      <a:srgbClr val="FFFFFF"/>
                    </a:solidFill>
                  </a:tcPr>
                </a:tc>
                <a:tc>
                  <a:txBody>
                    <a:bodyPr/>
                    <a:lstStyle/>
                    <a:p>
                      <a:pPr algn="ctr">
                        <a:defRPr sz="950">
                          <a:solidFill>
                            <a:srgbClr val="1E1E1E"/>
                          </a:solidFill>
                          <a:latin typeface="Arial" panose="020B0604020202020204"/>
                        </a:defRPr>
                      </a:pPr>
                      <a:r>
                        <a:t>+0.0583</a:t>
                      </a:r>
                    </a:p>
                  </a:txBody>
                  <a:tcPr anchor="ctr">
                    <a:solidFill>
                      <a:srgbClr val="FFFFFF"/>
                    </a:solidFill>
                  </a:tcPr>
                </a:tc>
                <a:tc>
                  <a:txBody>
                    <a:bodyPr/>
                    <a:lstStyle/>
                    <a:p>
                      <a:pPr algn="ctr">
                        <a:defRPr sz="950">
                          <a:solidFill>
                            <a:srgbClr val="1E1E1E"/>
                          </a:solidFill>
                          <a:latin typeface="Arial" panose="020B0604020202020204"/>
                        </a:defRPr>
                      </a:pPr>
                      <a:r>
                        <a:t>p ≈ 0.0001 (***)</a:t>
                      </a:r>
                    </a:p>
                  </a:txBody>
                  <a:tcPr anchor="ctr">
                    <a:solidFill>
                      <a:srgbClr val="FFFFFF"/>
                    </a:solidFill>
                  </a:tcPr>
                </a:tc>
                <a:tc>
                  <a:txBody>
                    <a:bodyPr/>
                    <a:lstStyle/>
                    <a:p>
                      <a:pPr algn="ctr">
                        <a:defRPr sz="950">
                          <a:solidFill>
                            <a:srgbClr val="1E1E1E"/>
                          </a:solidFill>
                          <a:latin typeface="Arial" panose="020B0604020202020204"/>
                        </a:defRPr>
                      </a:pPr>
                      <a:r>
                        <a:t>p &lt; 0.001 (***)</a:t>
                      </a:r>
                    </a:p>
                  </a:txBody>
                  <a:tcPr anchor="ctr">
                    <a:solidFill>
                      <a:srgbClr val="FFFFFF"/>
                    </a:solidFill>
                  </a:tcPr>
                </a:tc>
                <a:tc>
                  <a:txBody>
                    <a:bodyPr/>
                    <a:lstStyle/>
                    <a:p>
                      <a:pPr algn="ctr">
                        <a:defRPr sz="950">
                          <a:solidFill>
                            <a:srgbClr val="1E1E1E"/>
                          </a:solidFill>
                          <a:latin typeface="Arial" panose="020B0604020202020204"/>
                        </a:defRPr>
                      </a:pPr>
                      <a:r>
                        <a:t>CNN áp đảo (d = +2.108)</a:t>
                      </a:r>
                    </a:p>
                  </a:txBody>
                  <a:tcPr anchor="ctr">
                    <a:solidFill>
                      <a:srgbClr val="FFFFFF"/>
                    </a:solidFill>
                  </a:tcPr>
                </a:tc>
              </a:tr>
              <a:tr h="402336">
                <a:tc>
                  <a:txBody>
                    <a:bodyPr/>
                    <a:lstStyle/>
                    <a:p>
                      <a:pPr algn="l">
                        <a:defRPr sz="950">
                          <a:solidFill>
                            <a:srgbClr val="1E1E1E"/>
                          </a:solidFill>
                          <a:latin typeface="Arial" panose="020B0604020202020204"/>
                        </a:defRPr>
                      </a:pPr>
                      <a:r>
                        <a:t>Tự học vs Tĩnh (OCT)</a:t>
                      </a:r>
                    </a:p>
                  </a:txBody>
                  <a:tcPr anchor="ctr">
                    <a:solidFill>
                      <a:srgbClr val="F8FAFD"/>
                    </a:solidFill>
                  </a:tcPr>
                </a:tc>
                <a:tc>
                  <a:txBody>
                    <a:bodyPr/>
                    <a:lstStyle/>
                    <a:p>
                      <a:pPr algn="ctr">
                        <a:defRPr sz="950">
                          <a:solidFill>
                            <a:srgbClr val="1E1E1E"/>
                          </a:solidFill>
                          <a:latin typeface="Arial" panose="020B0604020202020204"/>
                        </a:defRPr>
                      </a:pPr>
                      <a:r>
                        <a:t>ROC-AUC</a:t>
                      </a:r>
                    </a:p>
                  </a:txBody>
                  <a:tcPr anchor="ctr">
                    <a:solidFill>
                      <a:srgbClr val="F8FAFD"/>
                    </a:solidFill>
                  </a:tcPr>
                </a:tc>
                <a:tc>
                  <a:txBody>
                    <a:bodyPr/>
                    <a:lstStyle/>
                    <a:p>
                      <a:pPr algn="ctr">
                        <a:defRPr sz="950">
                          <a:solidFill>
                            <a:srgbClr val="1E1E1E"/>
                          </a:solidFill>
                          <a:latin typeface="Arial" panose="020B0604020202020204"/>
                        </a:defRPr>
                      </a:pPr>
                      <a:r>
                        <a:t>+0.0232</a:t>
                      </a:r>
                    </a:p>
                  </a:txBody>
                  <a:tcPr anchor="ctr">
                    <a:solidFill>
                      <a:srgbClr val="F8FAFD"/>
                    </a:solidFill>
                  </a:tcPr>
                </a:tc>
                <a:tc>
                  <a:txBody>
                    <a:bodyPr/>
                    <a:lstStyle/>
                    <a:p>
                      <a:pPr algn="ctr">
                        <a:defRPr sz="950">
                          <a:solidFill>
                            <a:srgbClr val="1E1E1E"/>
                          </a:solidFill>
                          <a:latin typeface="Arial" panose="020B0604020202020204"/>
                        </a:defRPr>
                      </a:pPr>
                      <a:r>
                        <a:t>p = 0.0090 (**)</a:t>
                      </a:r>
                    </a:p>
                  </a:txBody>
                  <a:tcPr anchor="ctr">
                    <a:solidFill>
                      <a:srgbClr val="F8FAFD"/>
                    </a:solidFill>
                  </a:tcPr>
                </a:tc>
                <a:tc>
                  <a:txBody>
                    <a:bodyPr/>
                    <a:lstStyle/>
                    <a:p>
                      <a:pPr algn="ctr">
                        <a:defRPr sz="950">
                          <a:solidFill>
                            <a:srgbClr val="1E1E1E"/>
                          </a:solidFill>
                          <a:latin typeface="Arial" panose="020B0604020202020204"/>
                        </a:defRPr>
                      </a:pPr>
                      <a:r>
                        <a:t>p = 0.0098 (**)</a:t>
                      </a:r>
                    </a:p>
                  </a:txBody>
                  <a:tcPr anchor="ctr">
                    <a:solidFill>
                      <a:srgbClr val="F8FAFD"/>
                    </a:solidFill>
                  </a:tcPr>
                </a:tc>
                <a:tc>
                  <a:txBody>
                    <a:bodyPr/>
                    <a:lstStyle/>
                    <a:p>
                      <a:pPr algn="ctr">
                        <a:defRPr sz="950">
                          <a:solidFill>
                            <a:srgbClr val="1E1E1E"/>
                          </a:solidFill>
                          <a:latin typeface="Arial" panose="020B0604020202020204"/>
                        </a:defRPr>
                      </a:pPr>
                      <a:r>
                        <a:t>Lớn (d = +1.050)</a:t>
                      </a:r>
                    </a:p>
                  </a:txBody>
                  <a:tcPr anchor="ctr">
                    <a:solidFill>
                      <a:srgbClr val="F8FAFD"/>
                    </a:solidFill>
                  </a:tcPr>
                </a:tc>
              </a:tr>
            </a:tbl>
          </a:graphicData>
        </a:graphic>
      </p:graphicFrame>
      <p:sp>
        <p:nvSpPr>
          <p:cNvPr id="8" name="TextBox 7"/>
          <p:cNvSpPr txBox="1"/>
          <p:nvPr/>
        </p:nvSpPr>
        <p:spPr>
          <a:xfrm>
            <a:off x="841248" y="4529836"/>
            <a:ext cx="5742432" cy="1435735"/>
          </a:xfrm>
          <a:prstGeom prst="rect">
            <a:avLst/>
          </a:prstGeom>
          <a:noFill/>
        </p:spPr>
        <p:txBody>
          <a:bodyPr wrap="square" lIns="0" tIns="0" rIns="0" bIns="0">
            <a:spAutoFit/>
          </a:bodyPr>
          <a:lstStyle/>
          <a:p>
            <a:pPr>
              <a:defRPr sz="1200" b="1">
                <a:solidFill>
                  <a:srgbClr val="1F4E79"/>
                </a:solidFill>
                <a:latin typeface="Arial" panose="020B0604020202020204"/>
              </a:defRPr>
            </a:pPr>
            <a:r>
              <a:t>Giải Thích Chỉ Số</a:t>
            </a:r>
          </a:p>
          <a:p>
            <a:pPr>
              <a:spcBef>
                <a:spcPts val="600"/>
              </a:spcBef>
              <a:spcAft>
                <a:spcPts val="200"/>
              </a:spcAft>
            </a:pPr>
            <a:r>
              <a:rPr sz="1050" b="1">
                <a:solidFill>
                  <a:srgbClr val="1E1E1E"/>
                </a:solidFill>
                <a:latin typeface="Arial" panose="020B0604020202020204"/>
              </a:rPr>
              <a:t>• p-value &lt; 0.05 (*): </a:t>
            </a:r>
            <a:r>
              <a:rPr sz="1050">
                <a:solidFill>
                  <a:srgbClr val="1E1E1E"/>
                </a:solidFill>
                <a:latin typeface="Arial" panose="020B0604020202020204"/>
              </a:rPr>
              <a:t>Xác nhận kết quả đạt ý nghĩa thống kê, loại trừ khả năng ăn may ngẫu nhiên.</a:t>
            </a:r>
            <a:endParaRPr sz="1050">
              <a:solidFill>
                <a:srgbClr val="1E1E1E"/>
              </a:solidFill>
              <a:latin typeface="Arial" panose="020B0604020202020204"/>
            </a:endParaRPr>
          </a:p>
          <a:p>
            <a:pPr>
              <a:spcBef>
                <a:spcPts val="600"/>
              </a:spcBef>
              <a:spcAft>
                <a:spcPts val="200"/>
              </a:spcAft>
            </a:pPr>
            <a:r>
              <a:rPr sz="1050" b="1">
                <a:solidFill>
                  <a:srgbClr val="1E1E1E"/>
                </a:solidFill>
                <a:latin typeface="Arial" panose="020B0604020202020204"/>
              </a:rPr>
              <a:t>• Cohen's d &gt; 0.8: </a:t>
            </a:r>
            <a:r>
              <a:rPr sz="1050">
                <a:solidFill>
                  <a:srgbClr val="1E1E1E"/>
                </a:solidFill>
                <a:latin typeface="Arial" panose="020B0604020202020204"/>
              </a:rPr>
              <a:t>Chênh lệch không chỉ có ý nghĩa trên giấy tờ mà còn tạo ra sự khác biệt thực tế rất rõ rệt.</a:t>
            </a:r>
            <a:endParaRPr sz="1050">
              <a:solidFill>
                <a:srgbClr val="1E1E1E"/>
              </a:solidFill>
              <a:latin typeface="Arial" panose="020B0604020202020204"/>
            </a:endParaRPr>
          </a:p>
          <a:p>
            <a:pPr>
              <a:spcBef>
                <a:spcPts val="600"/>
              </a:spcBef>
              <a:spcAft>
                <a:spcPts val="200"/>
              </a:spcAft>
            </a:pPr>
            <a:r>
              <a:rPr sz="1050" b="1">
                <a:solidFill>
                  <a:srgbClr val="1E1E1E"/>
                </a:solidFill>
                <a:latin typeface="Arial" panose="020B0604020202020204"/>
              </a:rPr>
              <a:t>• 10 Hạt giống (Seeds): </a:t>
            </a:r>
            <a:r>
              <a:rPr sz="1050">
                <a:solidFill>
                  <a:srgbClr val="1E1E1E"/>
                </a:solidFill>
                <a:latin typeface="Arial" panose="020B0604020202020204"/>
              </a:rPr>
              <a:t>Chạy lặp lại 10 lần độc lập để đảm bảo kết quả hoàn toàn trung thực và ổn định.</a:t>
            </a:r>
            <a:endParaRPr sz="1050">
              <a:solidFill>
                <a:srgbClr val="1E1E1E"/>
              </a:solidFill>
              <a:latin typeface="Arial" panose="020B0604020202020204"/>
            </a:endParaRPr>
          </a:p>
        </p:txBody>
      </p:sp>
      <p:sp>
        <p:nvSpPr>
          <p:cNvPr id="3" name="Text Box 2"/>
          <p:cNvSpPr txBox="1"/>
          <p:nvPr/>
        </p:nvSpPr>
        <p:spPr>
          <a:xfrm>
            <a:off x="10749280" y="3976370"/>
            <a:ext cx="4064000" cy="450850"/>
          </a:xfrm>
          <a:prstGeom prst="rect">
            <a:avLst/>
          </a:prstGeom>
          <a:noFill/>
        </p:spPr>
        <p:txBody>
          <a:bodyPr wrap="square" rtlCol="0">
            <a:spAutoFit/>
          </a:bodyPr>
          <a:p>
            <a:pPr algn="l">
              <a:lnSpc>
                <a:spcPct val="130000"/>
              </a:lnSpc>
              <a:spcBef>
                <a:spcPts val="300"/>
              </a:spcBef>
              <a:spcAft>
                <a:spcPts val="300"/>
              </a:spcAft>
            </a:pPr>
            <a:endParaRPr lang="en-US" dirty="0" smtClean="0"/>
          </a:p>
        </p:txBody>
      </p:sp>
      <p:sp>
        <p:nvSpPr>
          <p:cNvPr id="12" name="Diagonal Corners Rounded Rectangle 11"/>
          <p:cNvSpPr/>
          <p:nvPr/>
        </p:nvSpPr>
        <p:spPr>
          <a:xfrm>
            <a:off x="6997065" y="1927860"/>
            <a:ext cx="4860290" cy="2837180"/>
          </a:xfrm>
          <a:prstGeom prst="round2Diag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dirty="0">
              <a:solidFill>
                <a:schemeClr val="accent4"/>
              </a:solidFill>
            </a:endParaRPr>
          </a:p>
        </p:txBody>
      </p:sp>
      <p:sp>
        <p:nvSpPr>
          <p:cNvPr id="13" name="Diagonal Corners Rounded Rectangle 12"/>
          <p:cNvSpPr/>
          <p:nvPr/>
        </p:nvSpPr>
        <p:spPr>
          <a:xfrm>
            <a:off x="6997065" y="1927860"/>
            <a:ext cx="4588510" cy="2837180"/>
          </a:xfrm>
          <a:prstGeom prst="round2Diag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dirty="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ndParaRPr>
          </a:p>
        </p:txBody>
      </p:sp>
      <p:sp>
        <p:nvSpPr>
          <p:cNvPr id="14" name="Diagonal Corners Rounded Rectangle 13"/>
          <p:cNvSpPr/>
          <p:nvPr/>
        </p:nvSpPr>
        <p:spPr>
          <a:xfrm>
            <a:off x="6997065" y="1671320"/>
            <a:ext cx="4860290" cy="3237865"/>
          </a:xfrm>
          <a:prstGeom prst="round2DiagRect">
            <a:avLst/>
          </a:prstGeom>
          <a:solidFill>
            <a:schemeClr val="accent3">
              <a:lumMod val="50000"/>
              <a:alpha val="0"/>
            </a:schemeClr>
          </a:solidFill>
          <a:ln w="28575"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defRPr sz="1300" b="1">
                <a:solidFill>
                  <a:srgbClr val="1F4E79"/>
                </a:solidFill>
                <a:latin typeface="Arial" panose="020B0604020202020204"/>
              </a:defRPr>
            </a:pPr>
            <a:r>
              <a:rPr sz="1200">
                <a:solidFill>
                  <a:schemeClr val="accent4">
                    <a:lumMod val="50000"/>
                  </a:schemeClr>
                </a:solidFill>
                <a:sym typeface="+mn-ea"/>
              </a:rPr>
              <a:t>Hồ Sơ Thực Nghiệm &amp; Tái Lập </a:t>
            </a:r>
            <a:endParaRPr sz="1200">
              <a:solidFill>
                <a:schemeClr val="accent4">
                  <a:lumMod val="50000"/>
                </a:schemeClr>
              </a:solidFill>
            </a:endParaRPr>
          </a:p>
          <a:p>
            <a:pPr algn="l">
              <a:spcBef>
                <a:spcPts val="600"/>
              </a:spcBef>
              <a:spcAft>
                <a:spcPts val="200"/>
              </a:spcAft>
            </a:pPr>
            <a:r>
              <a:rPr sz="1200" b="1">
                <a:solidFill>
                  <a:srgbClr val="1E1E1E"/>
                </a:solidFill>
                <a:latin typeface="Arial" panose="020B0604020202020204"/>
                <a:sym typeface="+mn-ea"/>
              </a:rPr>
              <a:t>• Kiểm chứng đạo hàm lý thuyết: </a:t>
            </a:r>
            <a:r>
              <a:rPr sz="1200">
                <a:solidFill>
                  <a:srgbClr val="1E1E1E"/>
                </a:solidFill>
                <a:latin typeface="Arial" panose="020B0604020202020204"/>
                <a:sym typeface="+mn-ea"/>
              </a:rPr>
              <a:t>Đối chiếu giữa đạo hàm giải tích và công thức lượng tử vật lý (Parameter-Shift) đạt sai số cực nhỏ |Δ| &lt; 4.1×10⁻⁸.</a:t>
            </a:r>
            <a:endParaRPr sz="1200">
              <a:solidFill>
                <a:srgbClr val="1E1E1E"/>
              </a:solidFill>
              <a:latin typeface="Arial" panose="020B0604020202020204"/>
            </a:endParaRPr>
          </a:p>
          <a:p>
            <a:pPr algn="l">
              <a:spcBef>
                <a:spcPts val="600"/>
              </a:spcBef>
              <a:spcAft>
                <a:spcPts val="200"/>
              </a:spcAft>
            </a:pPr>
            <a:r>
              <a:rPr sz="1200" b="1">
                <a:solidFill>
                  <a:srgbClr val="1E1E1E"/>
                </a:solidFill>
                <a:latin typeface="Arial" panose="020B0604020202020204"/>
                <a:sym typeface="+mn-ea"/>
              </a:rPr>
              <a:t>•</a:t>
            </a:r>
            <a:r>
              <a:rPr lang="en-US" sz="1200" b="1">
                <a:solidFill>
                  <a:srgbClr val="1E1E1E"/>
                </a:solidFill>
                <a:latin typeface="Arial" panose="020B0604020202020204"/>
                <a:sym typeface="+mn-ea"/>
              </a:rPr>
              <a:t> </a:t>
            </a:r>
            <a:r>
              <a:rPr sz="1200" b="1">
                <a:solidFill>
                  <a:srgbClr val="1E1E1E"/>
                </a:solidFill>
                <a:latin typeface="Arial" panose="020B0604020202020204"/>
                <a:sym typeface="+mn-ea"/>
              </a:rPr>
              <a:t>Demo trực tiếp (Jupyter Notebook): </a:t>
            </a:r>
            <a:r>
              <a:rPr sz="1200">
                <a:solidFill>
                  <a:srgbClr val="1E1E1E"/>
                </a:solidFill>
                <a:latin typeface="Arial" panose="020B0604020202020204"/>
                <a:sym typeface="+mn-ea"/>
              </a:rPr>
              <a:t>File gd4_defense_demo.ipynb sẵn sàng bấm chạy: chọn ảnh siêu âm → trích xuất ảnh đặc trưng lượng tử → dự đoán xác suất ung thư chính xác (p = 0.884).</a:t>
            </a:r>
            <a:endParaRPr sz="1200">
              <a:solidFill>
                <a:srgbClr val="1E1E1E"/>
              </a:solidFill>
              <a:latin typeface="Arial" panose="020B0604020202020204"/>
            </a:endParaRPr>
          </a:p>
          <a:p>
            <a:pPr algn="l">
              <a:spcBef>
                <a:spcPts val="600"/>
              </a:spcBef>
              <a:spcAft>
                <a:spcPts val="200"/>
              </a:spcAft>
            </a:pPr>
            <a:r>
              <a:rPr sz="1200" b="1">
                <a:solidFill>
                  <a:srgbClr val="1E1E1E"/>
                </a:solidFill>
                <a:latin typeface="Arial" panose="020B0604020202020204"/>
                <a:sym typeface="+mn-ea"/>
              </a:rPr>
              <a:t>• Video demo: </a:t>
            </a:r>
            <a:r>
              <a:rPr sz="1200">
                <a:solidFill>
                  <a:srgbClr val="1E1E1E"/>
                </a:solidFill>
                <a:latin typeface="Arial" panose="020B0604020202020204"/>
                <a:sym typeface="+mn-ea"/>
              </a:rPr>
              <a:t>Clip demo quay sẵn 104 giây (demo_defense_backup.mp4) có phụ đề tiếng Việt đầy đủ.</a:t>
            </a:r>
            <a:endParaRPr sz="1200">
              <a:solidFill>
                <a:srgbClr val="1E1E1E"/>
              </a:solidFill>
              <a:latin typeface="Arial" panose="020B0604020202020204"/>
            </a:endParaRPr>
          </a:p>
          <a:p>
            <a:pPr algn="l">
              <a:spcBef>
                <a:spcPts val="600"/>
              </a:spcBef>
              <a:spcAft>
                <a:spcPts val="200"/>
              </a:spcAft>
            </a:pPr>
            <a:r>
              <a:rPr sz="1200" b="1">
                <a:solidFill>
                  <a:srgbClr val="1E1E1E"/>
                </a:solidFill>
                <a:latin typeface="Arial" panose="020B0604020202020204"/>
                <a:sym typeface="+mn-ea"/>
              </a:rPr>
              <a:t>• Cam kết</a:t>
            </a:r>
            <a:r>
              <a:rPr lang="en-US" sz="1200" b="1">
                <a:solidFill>
                  <a:srgbClr val="1E1E1E"/>
                </a:solidFill>
                <a:latin typeface="Arial" panose="020B0604020202020204"/>
                <a:sym typeface="+mn-ea"/>
              </a:rPr>
              <a:t>:</a:t>
            </a:r>
            <a:r>
              <a:rPr sz="1200" b="1">
                <a:solidFill>
                  <a:srgbClr val="1E1E1E"/>
                </a:solidFill>
                <a:latin typeface="Arial" panose="020B0604020202020204"/>
                <a:sym typeface="+mn-ea"/>
              </a:rPr>
              <a:t> </a:t>
            </a:r>
            <a:r>
              <a:rPr sz="1200">
                <a:solidFill>
                  <a:srgbClr val="1E1E1E"/>
                </a:solidFill>
                <a:latin typeface="Arial" panose="020B0604020202020204"/>
                <a:sym typeface="+mn-ea"/>
              </a:rPr>
              <a:t>100% mã nguồn, dữ liệu và nhật ký chạy đều công khai trên GitHub.</a:t>
            </a:r>
            <a:endParaRPr lang="en-US" sz="1200" dirty="0">
              <a:solidFill>
                <a:schemeClr val="accent4"/>
              </a:solidFill>
            </a:endParaRPr>
          </a:p>
        </p:txBody>
      </p:sp>
    </p:spTree>
  </p:cSld>
  <p:clrMapOvr>
    <a:masterClrMapping/>
  </p:clrMapOvr>
</p:sld>
</file>

<file path=ppt/theme/theme1.xml><?xml version="1.0" encoding="utf-8"?>
<a:theme xmlns:a="http://schemas.openxmlformats.org/drawingml/2006/main"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lumMod val="50000"/>
          </a:schemeClr>
        </a:solidFill>
        <a:ln>
          <a:noFill/>
        </a:ln>
      </a:spPr>
      <a:bodyPr rtlCol="0" anchor="ctr"/>
      <a:lstStyle>
        <a:defPPr algn="ctr">
          <a:defRPr dirty="0">
            <a:solidFill>
              <a:schemeClr val="accent4"/>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22225" cap="rnd">
          <a:solidFill>
            <a:schemeClr val="accent3">
              <a:lumMod val="50000"/>
            </a:schemeClr>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30000"/>
          </a:lnSpc>
          <a:spcBef>
            <a:spcPts val="300"/>
          </a:spcBef>
          <a:spcAft>
            <a:spcPts val="300"/>
          </a:spcAft>
          <a:defRPr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9Slide.vn</Template>
  <TotalTime>0</TotalTime>
  <Words>8231</Words>
  <Application>WPS Presentation</Application>
  <PresentationFormat>Widescreen</PresentationFormat>
  <Paragraphs>411</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SimSun</vt:lpstr>
      <vt:lpstr>Wingdings</vt:lpstr>
      <vt:lpstr>Arial</vt:lpstr>
      <vt:lpstr>Times New Roman</vt:lpstr>
      <vt:lpstr>Microsoft YaHei</vt:lpstr>
      <vt:lpstr>Arial Unicode MS</vt:lpstr>
      <vt:lpstr>Calibri</vt:lpstr>
      <vt:lpstr>Office Theme</vt:lpstr>
      <vt:lpstr>TRONG PHÂN LOẠI ẢNH Y TẾ MEDMNIST</vt:lpstr>
      <vt:lpstr>Nội dung báo cáo</vt:lpstr>
      <vt:lpstr>TỔNG QUAN</vt:lpstr>
      <vt:lpstr>1. Bối cảnh Nghiên cứu</vt:lpstr>
      <vt:lpstr>GIẢI PHÁP ĐỀ XUẤT</vt:lpstr>
      <vt:lpstr>2. Nguyên lý Hoạt động: </vt:lpstr>
      <vt:lpstr>2. Thiết kế Mô hình:</vt:lpstr>
      <vt:lpstr>KẾT QUẢ </vt:lpstr>
      <vt:lpstr>3. Thử nghiệm trên BreastMNIST: </vt:lpstr>
      <vt:lpstr>3. Thử nghiệm trên OCTMNIST:</vt:lpstr>
      <vt:lpstr>KẾT LUẬN &amp; HƯỚNG PHÁT TRIỂN </vt:lpstr>
      <vt:lpstr>4. Đúc Kết Thực Tế &amp; Hướng Phát Triển</vt:lpstr>
      <vt:lpstr>HỎI VÀ ĐÁP</vt:lpstr>
      <vt:lpstr>Tài liệu Tham khảo</vt:lpstr>
      <vt:lpstr>Phụ lục </vt:lpstr>
    </vt:vector>
  </TitlesOfParts>
  <Company>9Slide.vn</Company>
  <LinksUpToDate>false</LinksUpToDate>
  <SharedDoc>false</SharedDoc>
  <HyperlinksChanged>false</HyperlinksChanged>
  <AppVersion>14.0000</AppVersion>
  <Manager>9Slide.vn</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creator/>
  <dc:description>9Slide.vn</dc:description>
  <dc:subject>9Slide.vn</dc:subject>
  <cp:category>9Slide.vn</cp:category>
  <cp:lastModifiedBy>Hoàng Nam</cp:lastModifiedBy>
  <cp:revision>659</cp:revision>
  <dcterms:created xsi:type="dcterms:W3CDTF">2022-06-26T12:27:00Z</dcterms:created>
  <dcterms:modified xsi:type="dcterms:W3CDTF">2026-09-07T02:30:07Z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3098E9DB5E6F49F7A09CB72159BD7ECC_12</vt:lpwstr>
  </property>
</Properties>
</file>