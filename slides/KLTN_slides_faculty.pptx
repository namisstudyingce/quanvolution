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7"/>
  </p:notesMasterIdLst>
  <p:sldIdLst>
    <p:sldId id="256" r:id="rId22"/>
    <p:sldId id="257" r:id="rId23"/>
    <p:sldId id="258" r:id="rId24"/>
    <p:sldId id="259" r:id="rId25"/>
    <p:sldId id="260" r:id="rId26"/>
    <p:sldId id="261" r:id="rId27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37"/>
    <p:sldId id="272" r:id="rId38"/>
    <p:sldId id="273" r:id="rId39"/>
    <p:sldId id="274" r:id="rId40"/>
    <p:sldId id="275" r:id="rId41"/>
    <p:sldId id="276" r:id="rId42"/>
    <p:sldId id="277" r:id="rId43"/>
    <p:sldId id="278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EF7D"/>
    <a:srgbClr val="11998E"/>
    <a:srgbClr val="F37335"/>
    <a:srgbClr val="FDC830"/>
    <a:srgbClr val="752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337" autoAdjust="0"/>
    <p:restoredTop sz="88581"/>
  </p:normalViewPr>
  <p:slideViewPr>
    <p:cSldViewPr snapToGrid="0" snapToObjects="1" showGuides="1">
      <p:cViewPr varScale="1">
        <p:scale>
          <a:sx n="156" d="100"/>
          <a:sy n="156" d="100"/>
        </p:scale>
        <p:origin x="1032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.xml"/><Relationship Id="rId23" Type="http://schemas.openxmlformats.org/officeDocument/2006/relationships/slide" Target="slides/slide2.xml"/><Relationship Id="rId24" Type="http://schemas.openxmlformats.org/officeDocument/2006/relationships/slide" Target="slides/slide3.xml"/><Relationship Id="rId25" Type="http://schemas.openxmlformats.org/officeDocument/2006/relationships/slide" Target="slides/slide4.xml"/><Relationship Id="rId26" Type="http://schemas.openxmlformats.org/officeDocument/2006/relationships/slide" Target="slides/slide5.xml"/><Relationship Id="rId27" Type="http://schemas.openxmlformats.org/officeDocument/2006/relationships/slide" Target="slides/slide6.xml"/><Relationship Id="rId28" Type="http://schemas.openxmlformats.org/officeDocument/2006/relationships/slide" Target="slides/slide7.xml"/><Relationship Id="rId29" Type="http://schemas.openxmlformats.org/officeDocument/2006/relationships/slide" Target="slides/slide8.xml"/><Relationship Id="rId30" Type="http://schemas.openxmlformats.org/officeDocument/2006/relationships/slide" Target="slides/slide9.xml"/><Relationship Id="rId31" Type="http://schemas.openxmlformats.org/officeDocument/2006/relationships/slide" Target="slides/slide10.xml"/><Relationship Id="rId32" Type="http://schemas.openxmlformats.org/officeDocument/2006/relationships/slide" Target="slides/slide11.xml"/><Relationship Id="rId33" Type="http://schemas.openxmlformats.org/officeDocument/2006/relationships/slide" Target="slides/slide12.xml"/><Relationship Id="rId34" Type="http://schemas.openxmlformats.org/officeDocument/2006/relationships/slide" Target="slides/slide13.xml"/><Relationship Id="rId35" Type="http://schemas.openxmlformats.org/officeDocument/2006/relationships/slide" Target="slides/slide14.xml"/><Relationship Id="rId36" Type="http://schemas.openxmlformats.org/officeDocument/2006/relationships/slide" Target="slides/slide15.xml"/><Relationship Id="rId37" Type="http://schemas.openxmlformats.org/officeDocument/2006/relationships/slide" Target="slides/slide16.xml"/><Relationship Id="rId38" Type="http://schemas.openxmlformats.org/officeDocument/2006/relationships/slide" Target="slides/slide17.xml"/><Relationship Id="rId39" Type="http://schemas.openxmlformats.org/officeDocument/2006/relationships/slide" Target="slides/slide18.xml"/><Relationship Id="rId40" Type="http://schemas.openxmlformats.org/officeDocument/2006/relationships/slide" Target="slides/slide19.xml"/><Relationship Id="rId41" Type="http://schemas.openxmlformats.org/officeDocument/2006/relationships/slide" Target="slides/slide20.xml"/><Relationship Id="rId42" Type="http://schemas.openxmlformats.org/officeDocument/2006/relationships/slide" Target="slides/slide21.xml"/><Relationship Id="rId43" Type="http://schemas.openxmlformats.org/officeDocument/2006/relationships/slide" Target="slides/slide22.xml"/><Relationship Id="rId44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DB9C57-9DE0-864D-8892-8E383CD10053}" type="datetimeFigureOut">
              <a:rPr lang="en-VN" smtClean="0"/>
              <a:t>31/3/24</a:t>
            </a:fld>
            <a:endParaRPr lang="en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72230F-6A15-1C40-B7C8-A7F6E63A524E}" type="slidenum">
              <a:rPr lang="en-VN" smtClean="0"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66220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0719B2E-DC3C-7989-BF9C-E418B1F120BA}"/>
              </a:ext>
            </a:extLst>
          </p:cNvPr>
          <p:cNvSpPr/>
          <p:nvPr userDrawn="1"/>
        </p:nvSpPr>
        <p:spPr>
          <a:xfrm>
            <a:off x="-24143" y="0"/>
            <a:ext cx="633743" cy="6858000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F8ED77-1B03-1740-9FA5-C31B68B30520}"/>
              </a:ext>
            </a:extLst>
          </p:cNvPr>
          <p:cNvSpPr/>
          <p:nvPr userDrawn="1"/>
        </p:nvSpPr>
        <p:spPr>
          <a:xfrm flipV="1">
            <a:off x="-31247" y="0"/>
            <a:ext cx="633743" cy="6858000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A63ACE-37E2-79AD-3312-2CAEC1D54166}"/>
              </a:ext>
            </a:extLst>
          </p:cNvPr>
          <p:cNvSpPr txBox="1"/>
          <p:nvPr userDrawn="1"/>
        </p:nvSpPr>
        <p:spPr>
          <a:xfrm rot="16200000">
            <a:off x="-1800908" y="4465666"/>
            <a:ext cx="41730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23591"/>
            <a:ext cx="9144000" cy="2387600"/>
          </a:xfrm>
          <a:prstGeom prst="roundRect">
            <a:avLst>
              <a:gd name="adj" fmla="val 3901"/>
            </a:avLst>
          </a:prstGeom>
          <a:noFill/>
          <a:ln w="25400">
            <a:gradFill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4">
                    <a:lumMod val="75000"/>
                  </a:schemeClr>
                </a:gs>
              </a:gsLst>
              <a:lin ang="5400000" scaled="1"/>
            </a:gradFill>
          </a:ln>
        </p:spPr>
        <p:txBody>
          <a:bodyPr anchor="ctr"/>
          <a:lstStyle>
            <a:lvl1pPr algn="ctr">
              <a:defRPr sz="6000" b="1">
                <a:gradFill flip="none" rotWithShape="1">
                  <a:gsLst>
                    <a:gs pos="0">
                      <a:srgbClr val="11998E"/>
                    </a:gs>
                    <a:gs pos="100000">
                      <a:srgbClr val="38EF7D"/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03D80-2A77-FF40-B2F3-C1B60766027B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C394D7-1EFF-FAA3-89F8-A3FE670BE2B5}"/>
              </a:ext>
            </a:extLst>
          </p:cNvPr>
          <p:cNvGrpSpPr/>
          <p:nvPr userDrawn="1"/>
        </p:nvGrpSpPr>
        <p:grpSpPr>
          <a:xfrm>
            <a:off x="11508226" y="243069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358F1D4-800B-8791-DFC5-8A5607735CCD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20D358D-A251-F06A-7DC9-D456AA169459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568A42A-7730-4E7F-BB19-5F94929B0802}"/>
              </a:ext>
            </a:extLst>
          </p:cNvPr>
          <p:cNvGrpSpPr/>
          <p:nvPr userDrawn="1"/>
        </p:nvGrpSpPr>
        <p:grpSpPr>
          <a:xfrm>
            <a:off x="4479985" y="131938"/>
            <a:ext cx="3232030" cy="768394"/>
            <a:chOff x="4280055" y="84406"/>
            <a:chExt cx="3631889" cy="863458"/>
          </a:xfrm>
        </p:grpSpPr>
        <p:sp>
          <p:nvSpPr>
            <p:cNvPr id="23" name="Rounded Rectangle 22">
              <a:extLst>
                <a:ext uri="{FF2B5EF4-FFF2-40B4-BE49-F238E27FC236}">
                  <a16:creationId xmlns:a16="http://schemas.microsoft.com/office/drawing/2014/main" id="{2DB618A9-33C1-376A-428B-F9CC7F7D80AF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CB65CCD6-D2F8-CF1A-F92C-147178B9AE40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8" name="Picture 17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0E79988A-FC21-2FFF-EC33-6DB4853FB1E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20" name="Picture 19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1E57E620-C26D-491A-ECBF-0FCA22233E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269B9A8A-4866-4619-F199-78B5353609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24000" y="5542055"/>
            <a:ext cx="9144000" cy="5191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i="1"/>
            </a:lvl1pPr>
          </a:lstStyle>
          <a:p>
            <a:pPr lvl="0"/>
            <a:r>
              <a:rPr lang="en-VN" dirty="0"/>
              <a:t>Địa điểm, Ngày Tháng Năm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2A9389A2-74BD-31C8-FDCD-6A93E9D759B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730283" y="1550070"/>
            <a:ext cx="2365717" cy="381000"/>
          </a:xfrm>
          <a:prstGeom prst="roundRect">
            <a:avLst>
              <a:gd name="adj" fmla="val 8146"/>
            </a:avLst>
          </a:prstGeom>
          <a:gradFill flip="none" rotWithShape="1">
            <a:gsLst>
              <a:gs pos="100000">
                <a:schemeClr val="accent3">
                  <a:lumMod val="75000"/>
                </a:schemeClr>
              </a:gs>
              <a:gs pos="0">
                <a:schemeClr val="accent4">
                  <a:lumMod val="75000"/>
                </a:schemeClr>
              </a:gs>
            </a:gsLst>
            <a:lin ang="2700000" scaled="1"/>
            <a:tileRect/>
          </a:gradFill>
          <a:effectLst>
            <a:innerShdw blurRad="127000">
              <a:schemeClr val="bg1">
                <a:alpha val="80000"/>
              </a:schemeClr>
            </a:inn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lang="en-VN" sz="1600" b="1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VN" dirty="0"/>
              <a:t>Loại trình bày</a:t>
            </a:r>
          </a:p>
        </p:txBody>
      </p:sp>
      <p:sp>
        <p:nvSpPr>
          <p:cNvPr id="52" name="Text Placeholder 50">
            <a:extLst>
              <a:ext uri="{FF2B5EF4-FFF2-40B4-BE49-F238E27FC236}">
                <a16:creationId xmlns:a16="http://schemas.microsoft.com/office/drawing/2014/main" id="{11F19A4B-2FBF-1F37-52BA-2EEAE4CA8E7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000" y="4309683"/>
            <a:ext cx="3388242" cy="381000"/>
          </a:xfrm>
          <a:prstGeom prst="roundRect">
            <a:avLst>
              <a:gd name="adj" fmla="val 8146"/>
            </a:avLst>
          </a:prstGeom>
          <a:gradFill flip="none" rotWithShape="1">
            <a:gsLst>
              <a:gs pos="100000">
                <a:schemeClr val="accent3">
                  <a:lumMod val="75000"/>
                </a:schemeClr>
              </a:gs>
              <a:gs pos="0">
                <a:schemeClr val="accent4">
                  <a:lumMod val="75000"/>
                </a:schemeClr>
              </a:gs>
            </a:gsLst>
            <a:lin ang="2700000" scaled="1"/>
            <a:tileRect/>
          </a:gradFill>
          <a:effectLst>
            <a:innerShdw blurRad="127000">
              <a:schemeClr val="bg1">
                <a:alpha val="80000"/>
              </a:schemeClr>
            </a:inn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lang="en-VN" sz="1600" b="1" dirty="0">
                <a:solidFill>
                  <a:schemeClr val="bg1"/>
                </a:solidFill>
              </a:defRPr>
            </a:lvl1pPr>
          </a:lstStyle>
          <a:p>
            <a:pPr marL="0" lvl="0" indent="0">
              <a:buNone/>
            </a:pPr>
            <a:r>
              <a:rPr lang="en-VN" dirty="0"/>
              <a:t>Trình bày: …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09692" y="333573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3" name="Freeform 52">
            <a:extLst>
              <a:ext uri="{FF2B5EF4-FFF2-40B4-BE49-F238E27FC236}">
                <a16:creationId xmlns:a16="http://schemas.microsoft.com/office/drawing/2014/main" id="{19DDC379-1E06-2848-14F1-C16A9CCE4619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36403" y="6356350"/>
            <a:ext cx="2743200" cy="365125"/>
          </a:xfrm>
        </p:spPr>
        <p:txBody>
          <a:bodyPr/>
          <a:lstStyle/>
          <a:p>
            <a:fld id="{ACF17CAC-8297-FC4A-82FA-F61255D7A70E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232650" y="6356350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42C0F1-5644-4389-360B-5397956CD38A}"/>
              </a:ext>
            </a:extLst>
          </p:cNvPr>
          <p:cNvSpPr/>
          <p:nvPr userDrawn="1"/>
        </p:nvSpPr>
        <p:spPr>
          <a:xfrm>
            <a:off x="-24143" y="0"/>
            <a:ext cx="4056393" cy="6858000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71B0644-6BE5-3A17-CB9E-03CC0ADBCAC3}"/>
              </a:ext>
            </a:extLst>
          </p:cNvPr>
          <p:cNvSpPr/>
          <p:nvPr userDrawn="1"/>
        </p:nvSpPr>
        <p:spPr>
          <a:xfrm flipV="1">
            <a:off x="-31247" y="0"/>
            <a:ext cx="1804783" cy="6858000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1CABA6-14B3-43D2-ED89-BD749E5AF92A}"/>
              </a:ext>
            </a:extLst>
          </p:cNvPr>
          <p:cNvSpPr txBox="1"/>
          <p:nvPr userDrawn="1"/>
        </p:nvSpPr>
        <p:spPr>
          <a:xfrm rot="16200000">
            <a:off x="-1800908" y="4465666"/>
            <a:ext cx="41730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6CA6459-D804-2D1E-9BE6-04D9777C2161}"/>
              </a:ext>
            </a:extLst>
          </p:cNvPr>
          <p:cNvGrpSpPr/>
          <p:nvPr userDrawn="1"/>
        </p:nvGrpSpPr>
        <p:grpSpPr>
          <a:xfrm>
            <a:off x="4479985" y="131938"/>
            <a:ext cx="3232030" cy="768394"/>
            <a:chOff x="4280055" y="84406"/>
            <a:chExt cx="3631889" cy="863458"/>
          </a:xfrm>
        </p:grpSpPr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55D6C41E-6B27-7E5A-648B-DD401B12DFC5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B567EB7E-D89E-FE6D-1F1D-A9C48547288A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5" name="Picture 14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49BDC9CC-F359-3B37-10BB-43B88207358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6" name="Picture 15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D9063C0E-6124-70AB-5990-6A8D28B5DA3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B48FC94-0045-6DC4-777D-4F5E40C1D399}"/>
              </a:ext>
            </a:extLst>
          </p:cNvPr>
          <p:cNvGrpSpPr/>
          <p:nvPr userDrawn="1"/>
        </p:nvGrpSpPr>
        <p:grpSpPr>
          <a:xfrm>
            <a:off x="11508226" y="243069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9120F02-27FC-FEC5-707D-FDA64409C1B6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3BF5235-1626-C61A-115C-C67CC9015074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09692" y="332284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AA5FA796-6DE2-7146-15EE-C9B175F7F587}"/>
              </a:ext>
            </a:extLst>
          </p:cNvPr>
          <p:cNvSpPr/>
          <p:nvPr userDrawn="1"/>
        </p:nvSpPr>
        <p:spPr>
          <a:xfrm>
            <a:off x="1136821" y="1450428"/>
            <a:ext cx="10210628" cy="4289654"/>
          </a:xfrm>
          <a:prstGeom prst="roundRect">
            <a:avLst>
              <a:gd name="adj" fmla="val 2701"/>
            </a:avLst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2388E92E-709B-64D5-4BEC-56AE8C45F3A5}"/>
              </a:ext>
            </a:extLst>
          </p:cNvPr>
          <p:cNvSpPr/>
          <p:nvPr userDrawn="1"/>
        </p:nvSpPr>
        <p:spPr>
          <a:xfrm>
            <a:off x="1136821" y="1450428"/>
            <a:ext cx="10210628" cy="4289654"/>
          </a:xfrm>
          <a:prstGeom prst="roundRect">
            <a:avLst>
              <a:gd name="adj" fmla="val 2701"/>
            </a:avLst>
          </a:prstGeom>
          <a:gradFill>
            <a:gsLst>
              <a:gs pos="0">
                <a:srgbClr val="38EF7D">
                  <a:alpha val="40000"/>
                </a:srgbClr>
              </a:gs>
              <a:gs pos="100000">
                <a:srgbClr val="11998E">
                  <a:alpha val="40000"/>
                </a:srgbClr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3362" y="2425382"/>
            <a:ext cx="9177548" cy="1505953"/>
          </a:xfrm>
          <a:prstGeom prst="rect">
            <a:avLst/>
          </a:prstGeom>
          <a:noFill/>
          <a:ln w="12700">
            <a:noFill/>
          </a:ln>
          <a:effectLst/>
        </p:spPr>
        <p:txBody>
          <a:bodyPr anchor="ctr">
            <a:norm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53362" y="4108231"/>
            <a:ext cx="5564835" cy="741925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4340540A-BFD6-C001-24D2-E0A446DCF91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3362" y="561276"/>
            <a:ext cx="2052637" cy="1785937"/>
          </a:xfrm>
        </p:spPr>
        <p:txBody>
          <a:bodyPr>
            <a:noAutofit/>
          </a:bodyPr>
          <a:lstStyle>
            <a:lvl1pPr marL="0" indent="0">
              <a:buNone/>
              <a:defRPr sz="11500" b="1">
                <a:solidFill>
                  <a:schemeClr val="bg1">
                    <a:alpha val="65236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 lvl="0"/>
            <a:r>
              <a:rPr lang="en-VN" dirty="0"/>
              <a:t>01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3801A917-2F30-C5E0-9749-96D2AA3258C3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1036767"/>
            <a:ext cx="10980000" cy="890663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00" y="2020279"/>
            <a:ext cx="10980000" cy="4156684"/>
          </a:xfr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3164" y="6356350"/>
            <a:ext cx="2743200" cy="365125"/>
          </a:xfrm>
        </p:spPr>
        <p:txBody>
          <a:bodyPr/>
          <a:lstStyle/>
          <a:p>
            <a:fld id="{A4B08D6D-E5AB-054C-8BBA-2EAE96362CB2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3564" y="6356350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7F0F65-AD9D-F4EF-651A-F8557E5CEDE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92619-8016-D1B1-D5B6-0463FC873115}"/>
              </a:ext>
            </a:extLst>
          </p:cNvPr>
          <p:cNvSpPr/>
          <p:nvPr userDrawn="1"/>
        </p:nvSpPr>
        <p:spPr>
          <a:xfrm rot="5400000" flipV="1">
            <a:off x="578022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4CFDC-8819-F613-CB53-B010209F03B3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47D5C7-4917-CA09-77DC-A3EC771CB75C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5A5037-1013-FEAC-916D-D7685B8E78E3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422944" y="6356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DCEAF726-95E1-8A34-13F1-109FB98C6990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55042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1036767"/>
            <a:ext cx="10980000" cy="890663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00" y="2020279"/>
            <a:ext cx="10980000" cy="4156684"/>
          </a:xfr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3164" y="6356350"/>
            <a:ext cx="2743200" cy="365125"/>
          </a:xfrm>
        </p:spPr>
        <p:txBody>
          <a:bodyPr/>
          <a:lstStyle/>
          <a:p>
            <a:fld id="{A4B08D6D-E5AB-054C-8BBA-2EAE96362CB2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3564" y="6356350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7F0F65-AD9D-F4EF-651A-F8557E5CEDE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92619-8016-D1B1-D5B6-0463FC873115}"/>
              </a:ext>
            </a:extLst>
          </p:cNvPr>
          <p:cNvSpPr/>
          <p:nvPr userDrawn="1"/>
        </p:nvSpPr>
        <p:spPr>
          <a:xfrm rot="5400000" flipV="1">
            <a:off x="578022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4CFDC-8819-F613-CB53-B010209F03B3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47D5C7-4917-CA09-77DC-A3EC771CB75C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5A5037-1013-FEAC-916D-D7685B8E78E3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422944" y="6356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DCEAF726-95E1-8A34-13F1-109FB98C6990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428045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1036767"/>
            <a:ext cx="10980000" cy="890663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00" y="2020279"/>
            <a:ext cx="10980000" cy="4156684"/>
          </a:xfr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3164" y="6356350"/>
            <a:ext cx="2743200" cy="365125"/>
          </a:xfrm>
        </p:spPr>
        <p:txBody>
          <a:bodyPr/>
          <a:lstStyle/>
          <a:p>
            <a:fld id="{A4B08D6D-E5AB-054C-8BBA-2EAE96362CB2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3564" y="6356350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7F0F65-AD9D-F4EF-651A-F8557E5CEDE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92619-8016-D1B1-D5B6-0463FC873115}"/>
              </a:ext>
            </a:extLst>
          </p:cNvPr>
          <p:cNvSpPr/>
          <p:nvPr userDrawn="1"/>
        </p:nvSpPr>
        <p:spPr>
          <a:xfrm rot="5400000" flipV="1">
            <a:off x="578022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4CFDC-8819-F613-CB53-B010209F03B3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47D5C7-4917-CA09-77DC-A3EC771CB75C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5A5037-1013-FEAC-916D-D7685B8E78E3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422944" y="6356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DCEAF726-95E1-8A34-13F1-109FB98C6990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44348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1036767"/>
            <a:ext cx="10980000" cy="890663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00" y="2020279"/>
            <a:ext cx="10980000" cy="4156684"/>
          </a:xfr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3164" y="6356350"/>
            <a:ext cx="2743200" cy="365125"/>
          </a:xfrm>
        </p:spPr>
        <p:txBody>
          <a:bodyPr/>
          <a:lstStyle/>
          <a:p>
            <a:fld id="{A4B08D6D-E5AB-054C-8BBA-2EAE96362CB2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3564" y="6356350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7F0F65-AD9D-F4EF-651A-F8557E5CEDE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92619-8016-D1B1-D5B6-0463FC873115}"/>
              </a:ext>
            </a:extLst>
          </p:cNvPr>
          <p:cNvSpPr/>
          <p:nvPr userDrawn="1"/>
        </p:nvSpPr>
        <p:spPr>
          <a:xfrm rot="5400000" flipV="1">
            <a:off x="578022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4CFDC-8819-F613-CB53-B010209F03B3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47D5C7-4917-CA09-77DC-A3EC771CB75C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5A5037-1013-FEAC-916D-D7685B8E78E3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422944" y="6356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DCEAF726-95E1-8A34-13F1-109FB98C6990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110370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1036767"/>
            <a:ext cx="10980000" cy="890663"/>
          </a:xfrm>
        </p:spPr>
        <p:txBody>
          <a:bodyPr/>
          <a:lstStyle>
            <a:lvl1pPr marL="0" indent="0">
              <a:buFont typeface="+mj-lt"/>
              <a:buNone/>
              <a:defRPr b="1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6000" y="2020279"/>
            <a:ext cx="10980000" cy="4156684"/>
          </a:xfrm>
        </p:spPr>
        <p:txBody>
          <a:bodyPr/>
          <a:lstStyle>
            <a:lvl1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33164" y="6356350"/>
            <a:ext cx="2743200" cy="365125"/>
          </a:xfrm>
        </p:spPr>
        <p:txBody>
          <a:bodyPr/>
          <a:lstStyle/>
          <a:p>
            <a:fld id="{A4B08D6D-E5AB-054C-8BBA-2EAE96362CB2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233564" y="6356350"/>
            <a:ext cx="4114800" cy="365125"/>
          </a:xfrm>
        </p:spPr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07F0F65-AD9D-F4EF-651A-F8557E5CEDE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chemeClr val="accent3">
                  <a:lumMod val="75000"/>
                </a:schemeClr>
              </a:gs>
              <a:gs pos="100000">
                <a:schemeClr val="accent4">
                  <a:lumMod val="75000"/>
                </a:schemeClr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792619-8016-D1B1-D5B6-0463FC873115}"/>
              </a:ext>
            </a:extLst>
          </p:cNvPr>
          <p:cNvSpPr/>
          <p:nvPr userDrawn="1"/>
        </p:nvSpPr>
        <p:spPr>
          <a:xfrm rot="5400000" flipV="1">
            <a:off x="578022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34CFDC-8819-F613-CB53-B010209F03B3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47D5C7-4917-CA09-77DC-A3EC771CB75C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48D4D6A6-CC45-52A4-171D-81125CDEE0B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E10A2D28-A8FF-8313-ADCB-2B72C390FACF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1E73120D-A83C-0746-0C19-5132936E24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FF279D30-BA02-4EF4-72A0-69A0DFA1F1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15A5037-1013-FEAC-916D-D7685B8E78E3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6836040-223F-32E9-6652-247D1B1776AC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C7C8B3B-CA71-8CB4-C831-5785E5171D6A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6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10422944" y="6356350"/>
            <a:ext cx="2743200" cy="36512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Freeform 23">
            <a:extLst>
              <a:ext uri="{FF2B5EF4-FFF2-40B4-BE49-F238E27FC236}">
                <a16:creationId xmlns:a16="http://schemas.microsoft.com/office/drawing/2014/main" id="{DCEAF726-95E1-8A34-13F1-109FB98C6990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221615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898975"/>
            <a:ext cx="10980000" cy="841231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4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6856" y="2006210"/>
            <a:ext cx="5310000" cy="417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6000" y="2006210"/>
            <a:ext cx="5310000" cy="41707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E05FC-80DB-0148-874D-D86DE9D2ADC5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5501B7-06E2-F246-2BAD-EAF23122D87C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FA2C82-F7CF-516D-BCFE-BD30ECC9EA5A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B8F8FF-3914-88F4-7096-A2992F1DABC0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79A1157-FF7F-7C1B-C247-077067BBC028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87F4C074-B87D-1D6E-559E-9B5F5A6D59D5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051A38B1-9970-6D8A-99F0-1519F63F8C21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4" name="Picture 13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CDAB1087-5677-0CD0-2E97-0AC0475A5D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5" name="Picture 14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75F57DD9-9F2F-64B5-ABD6-42254D27DA8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4EDAAF6-0642-D0AC-8393-BCA7C5A21D37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D9D6F2C-9702-AFF6-0F7A-DB2E2C1FF67A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FED086E-27AD-496B-CF1A-0F2B00E50490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19" name="Freeform 18">
            <a:extLst>
              <a:ext uri="{FF2B5EF4-FFF2-40B4-BE49-F238E27FC236}">
                <a16:creationId xmlns:a16="http://schemas.microsoft.com/office/drawing/2014/main" id="{C849CBBA-8A36-61D9-7C3A-A5B8C98344BA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09692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891895"/>
            <a:ext cx="10980000" cy="989289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4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6001" y="1992588"/>
            <a:ext cx="5310000" cy="643036"/>
          </a:xfrm>
        </p:spPr>
        <p:txBody>
          <a:bodyPr anchor="ctr"/>
          <a:lstStyle>
            <a:lvl1pPr marL="0" indent="0">
              <a:buNone/>
              <a:defRPr sz="2400" b="1">
                <a:gradFill flip="none" rotWithShape="1">
                  <a:gsLst>
                    <a:gs pos="0">
                      <a:schemeClr val="accent6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6001" y="2747028"/>
            <a:ext cx="5310000" cy="34426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6000" y="1992588"/>
            <a:ext cx="5310000" cy="643036"/>
          </a:xfrm>
        </p:spPr>
        <p:txBody>
          <a:bodyPr anchor="ctr">
            <a:normAutofit/>
          </a:bodyPr>
          <a:lstStyle>
            <a:lvl1pPr marL="0" indent="0">
              <a:buNone/>
              <a:defRPr lang="en-US" sz="2400" b="1" kern="1200" dirty="0">
                <a:gradFill flip="none" rotWithShape="1">
                  <a:gsLst>
                    <a:gs pos="0">
                      <a:schemeClr val="accent6"/>
                    </a:gs>
                    <a:gs pos="100000">
                      <a:schemeClr val="accent5"/>
                    </a:gs>
                  </a:gsLst>
                  <a:lin ang="2700000" scaled="1"/>
                  <a:tileRect/>
                </a:gra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6000" y="2747028"/>
            <a:ext cx="5310000" cy="34426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5D97B-A544-724E-B7AA-E954CECFEC59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F7C7FE-91AA-777B-FCF1-8DFE0AC663E2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62D67D-95A8-A852-CF14-572C6CE00ED0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71CB91-0E23-8BF0-4ADC-5082D6650DF4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AAD86C4-FCFD-9291-27AD-78AEB135B122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1CF0A3C9-A5C5-7885-0000-B445E4181054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5" name="Rounded Rectangle 14">
              <a:extLst>
                <a:ext uri="{FF2B5EF4-FFF2-40B4-BE49-F238E27FC236}">
                  <a16:creationId xmlns:a16="http://schemas.microsoft.com/office/drawing/2014/main" id="{2A842F66-7AA0-4602-5FF9-D5131812A65A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6" name="Picture 15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B096FE08-51CC-1D46-80F1-45BD3824B1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7" name="Picture 16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49B7CFC8-73D7-D65B-98B9-1026DEA312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A207177-F45D-1E4B-327B-7ADB21C03E0D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944A9A0-279D-4287-22A6-B50BEFA9D41A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59E2F26-1088-5258-841C-AB0BAAE822E4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21" name="Freeform 20">
            <a:extLst>
              <a:ext uri="{FF2B5EF4-FFF2-40B4-BE49-F238E27FC236}">
                <a16:creationId xmlns:a16="http://schemas.microsoft.com/office/drawing/2014/main" id="{E418F7BB-B3EC-2462-55FF-B70CB9656121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09692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6000" y="977990"/>
            <a:ext cx="10980000" cy="986400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4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20595-1D13-FB4B-A345-0906822BCC7D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636FC2-729D-C9CA-CC90-21D4CBEC73A2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A385C0-495A-0190-FBE8-231CFC660C3A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6AA5F0-C810-9BFE-4A24-47254E96DDA4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7F5DC64-C53E-D570-F572-A07974B9F1B5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FA9113C1-A485-B1D0-18A2-2B4ACB6C023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581A74BC-FADD-5AAC-4592-F1F01A7FEE2B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2" name="Picture 11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03279EC9-0774-3A5C-2866-2FEBE99211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3" name="Picture 12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40729B2C-F0E2-C8ED-820D-2150BC39293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D48359-0185-411D-3829-537B58B51408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6F2E26B-6E6E-A080-698A-20804C4088BF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E87EB44-478E-3F0B-3713-00B3ED19FFD9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725A6CA3-8A6F-8240-FE9F-93A63D7F2742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409692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7E87-33E4-774F-A870-A86FB4A2E684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7E87-33E4-774F-A870-A86FB4A2E684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69587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D7E87-33E4-774F-A870-A86FB4A2E684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9712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6" y="1248198"/>
            <a:ext cx="4114799" cy="1399587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0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247490"/>
            <a:ext cx="6325038" cy="47885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7226" y="2777068"/>
            <a:ext cx="4114799" cy="326691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C5163-90AE-AD4E-90CC-EF8132230884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9F4E612-1058-8C98-5698-29AC0F96CCFC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6C02E4-C8F1-CFE1-7D10-8623040C9C70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41C53F-A49B-53F0-C3F1-679406363096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4D11EC5-BDDA-E9D0-4DEA-3DF925376418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1D52B6A8-0087-00B0-3232-F07D0531A071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4A6EF4E7-68D7-4757-F5BC-40A00600395C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4" name="Picture 13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FF366716-D0A3-BA9D-EAEF-1DD9CCC2F25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5" name="Picture 14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B3C5B766-CE3D-A784-0576-67400911DFF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CC0EBB2-4B0D-F995-4530-D9916005BC53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F1E5B57-26E0-13A1-B4C3-FBB674F761F8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01CDAB9-F5F1-D42C-1271-4A7D18D9DC06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19" name="Freeform 18">
            <a:extLst>
              <a:ext uri="{FF2B5EF4-FFF2-40B4-BE49-F238E27FC236}">
                <a16:creationId xmlns:a16="http://schemas.microsoft.com/office/drawing/2014/main" id="{2AB873A6-A6DD-3337-0E8F-2FC03C939D1C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09692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226" y="1270699"/>
            <a:ext cx="4114799" cy="1162180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0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270699"/>
            <a:ext cx="6325038" cy="479649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7226" y="2561454"/>
            <a:ext cx="4114799" cy="35057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3818E-E997-CB43-BA3A-7A12F66A1845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772E24-BD94-18AA-FD01-31FA7CF5560F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E4A83D-52D2-F989-EF30-67F8142259A4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0737FF-EF11-8E07-04CA-FAD856E16DB6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AD20DF5-E25A-3691-7DBA-3D6427D54E16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667AD773-D1F6-2C2E-459A-06DB6685C3FB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638EDDB1-984D-1061-4FC7-D2B6F17C5211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4" name="Picture 13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E076CEEA-0F0E-CB1E-716A-FD615E82AB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5" name="Picture 14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AE0E7314-9B82-0D4E-10FD-26E7AC94AE8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87DE05D-821F-6133-B08D-FBA35FA266C4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20B1677-C94F-846B-77EE-9A193D11F54B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5A92C3F-4715-4909-6588-378EC050C246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19" name="Freeform 18">
            <a:extLst>
              <a:ext uri="{FF2B5EF4-FFF2-40B4-BE49-F238E27FC236}">
                <a16:creationId xmlns:a16="http://schemas.microsoft.com/office/drawing/2014/main" id="{AC99D0E8-C446-4E6E-2E7F-3C5E6A007D9D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09692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29761"/>
            <a:ext cx="10515600" cy="776548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4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792404"/>
            <a:ext cx="10515600" cy="438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C75B1-5554-9E4B-9A38-5905F72F5940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DC0A23-1328-52C6-A081-D12BD93902E5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5CE3DD9-51D1-E19D-3E06-90C65EDEDC8F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BB84F3-1D66-E2E8-E826-723A4E767341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CEAF201-E1DC-4486-4B93-4B7F751A4654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E5497DE0-0B16-BC6B-6FF5-9B929CD769D5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329FDB57-B8ED-7771-901B-1E7618CEFA1A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70695794-09CF-65D2-FE84-CDEAC81942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07E79F0D-50D3-99AC-B977-26D27AD098B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6E71496-B352-9AE6-2AFB-7F84245DBA7F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41E81DB-4E8D-E98B-BF91-1CFFC0BAEBDF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3025DD8-AFB9-10B6-DDE8-D2282F9E5CE3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id="{4F0D81A6-FA21-21F6-FF6F-EFBBD913E859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09692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038421"/>
            <a:ext cx="2628900" cy="5138542"/>
          </a:xfrm>
        </p:spPr>
        <p:txBody>
          <a:bodyPr vert="eaVer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Font typeface="+mj-lt"/>
              <a:buNone/>
              <a:defRPr lang="en-US" sz="4400" b="1" kern="1200" dirty="0">
                <a:gradFill flip="none" rotWithShape="1">
                  <a:gsLst>
                    <a:gs pos="0">
                      <a:schemeClr val="accent4">
                        <a:lumMod val="75000"/>
                      </a:schemeClr>
                    </a:gs>
                    <a:gs pos="100000">
                      <a:schemeClr val="accent3">
                        <a:lumMod val="75000"/>
                      </a:schemeClr>
                    </a:gs>
                  </a:gsLst>
                  <a:lin ang="16200000" scaled="1"/>
                  <a:tileRect/>
                </a:gra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038421"/>
            <a:ext cx="7734300" cy="51385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64986-AD58-F748-BD5B-19DAFB14C4B2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7F3936-136F-C194-2C47-66CE68C8B563}"/>
              </a:ext>
            </a:extLst>
          </p:cNvPr>
          <p:cNvSpPr/>
          <p:nvPr userDrawn="1"/>
        </p:nvSpPr>
        <p:spPr>
          <a:xfrm rot="5400000">
            <a:off x="5778985" y="-5780045"/>
            <a:ext cx="631552" cy="12194479"/>
          </a:xfrm>
          <a:prstGeom prst="rect">
            <a:avLst/>
          </a:prstGeom>
          <a:gradFill>
            <a:gsLst>
              <a:gs pos="0">
                <a:srgbClr val="38EF7D"/>
              </a:gs>
              <a:gs pos="100000">
                <a:srgbClr val="11998E"/>
              </a:gs>
            </a:gsLst>
            <a:lin ang="5400000" scaled="1"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AECB53-429D-BB1E-41F9-39259E111926}"/>
              </a:ext>
            </a:extLst>
          </p:cNvPr>
          <p:cNvSpPr/>
          <p:nvPr userDrawn="1"/>
        </p:nvSpPr>
        <p:spPr>
          <a:xfrm rot="5400000" flipV="1">
            <a:off x="5778984" y="-5781463"/>
            <a:ext cx="631552" cy="12194479"/>
          </a:xfrm>
          <a:prstGeom prst="rect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275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02EFEB-91F7-F4A9-6DC7-57C29D79F9F9}"/>
              </a:ext>
            </a:extLst>
          </p:cNvPr>
          <p:cNvSpPr txBox="1"/>
          <p:nvPr userDrawn="1"/>
        </p:nvSpPr>
        <p:spPr>
          <a:xfrm>
            <a:off x="240281" y="141423"/>
            <a:ext cx="7420291" cy="337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VN" sz="1600" b="1" dirty="0">
                <a:solidFill>
                  <a:schemeClr val="bg1"/>
                </a:solidFill>
              </a:rPr>
              <a:t>FACULTY OF COMPUTER ENGINEERING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8202369-F8E5-A40E-96BF-5D9E8B5F1F16}"/>
              </a:ext>
            </a:extLst>
          </p:cNvPr>
          <p:cNvGrpSpPr/>
          <p:nvPr userDrawn="1"/>
        </p:nvGrpSpPr>
        <p:grpSpPr>
          <a:xfrm>
            <a:off x="4479985" y="241694"/>
            <a:ext cx="3232030" cy="768394"/>
            <a:chOff x="4280055" y="84406"/>
            <a:chExt cx="3631889" cy="863458"/>
          </a:xfrm>
        </p:grpSpPr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548153D4-0D7E-5E40-CC29-BA0D3438A6E0}"/>
                </a:ext>
              </a:extLst>
            </p:cNvPr>
            <p:cNvSpPr/>
            <p:nvPr userDrawn="1"/>
          </p:nvSpPr>
          <p:spPr>
            <a:xfrm>
              <a:off x="4280055" y="155868"/>
              <a:ext cx="3631889" cy="71764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0">
                  <a:srgbClr val="38EF7D"/>
                </a:gs>
                <a:gs pos="100000">
                  <a:srgbClr val="752AFF"/>
                </a:gs>
              </a:gsLst>
              <a:lin ang="2700000" scaled="1"/>
              <a:tileRect/>
            </a:gradFill>
            <a:ln>
              <a:noFill/>
            </a:ln>
            <a:effectLst>
              <a:softEdge rad="508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25D12D13-7CA6-581B-369D-0786B7CDA747}"/>
                </a:ext>
              </a:extLst>
            </p:cNvPr>
            <p:cNvSpPr/>
            <p:nvPr userDrawn="1"/>
          </p:nvSpPr>
          <p:spPr>
            <a:xfrm>
              <a:off x="4345594" y="214327"/>
              <a:ext cx="3500812" cy="60072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pic>
          <p:nvPicPr>
            <p:cNvPr id="13" name="Picture 12" descr="Icon&#10;&#10;Description automatically generated with medium confidence">
              <a:extLst>
                <a:ext uri="{FF2B5EF4-FFF2-40B4-BE49-F238E27FC236}">
                  <a16:creationId xmlns:a16="http://schemas.microsoft.com/office/drawing/2014/main" id="{C7D78A2B-7E0F-7276-F0FD-6896232239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15084" y="84406"/>
              <a:ext cx="871486" cy="863458"/>
            </a:xfrm>
            <a:prstGeom prst="rect">
              <a:avLst/>
            </a:prstGeom>
          </p:spPr>
        </p:pic>
        <p:pic>
          <p:nvPicPr>
            <p:cNvPr id="14" name="Picture 13" descr="A picture containing clipart, vector graphics&#10;&#10;Description automatically generated">
              <a:extLst>
                <a:ext uri="{FF2B5EF4-FFF2-40B4-BE49-F238E27FC236}">
                  <a16:creationId xmlns:a16="http://schemas.microsoft.com/office/drawing/2014/main" id="{774A90A5-5FD0-9383-6265-C82BA61F99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005430" y="111027"/>
              <a:ext cx="979518" cy="810216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4949A0B-E506-5DE7-2A23-C2CA5436DE0A}"/>
              </a:ext>
            </a:extLst>
          </p:cNvPr>
          <p:cNvGrpSpPr/>
          <p:nvPr userDrawn="1"/>
        </p:nvGrpSpPr>
        <p:grpSpPr>
          <a:xfrm>
            <a:off x="11508226" y="6270255"/>
            <a:ext cx="546132" cy="546132"/>
            <a:chOff x="11082048" y="197383"/>
            <a:chExt cx="486579" cy="486579"/>
          </a:xfrm>
          <a:gradFill>
            <a:gsLst>
              <a:gs pos="0">
                <a:srgbClr val="38EF7D">
                  <a:alpha val="65273"/>
                </a:srgbClr>
              </a:gs>
              <a:gs pos="100000">
                <a:srgbClr val="11998E">
                  <a:alpha val="65000"/>
                </a:srgbClr>
              </a:gs>
            </a:gsLst>
            <a:lin ang="2700000" scaled="1"/>
          </a:gradFill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D395D56-A0D5-B2F3-8B05-9F07E63BF0C4}"/>
                </a:ext>
              </a:extLst>
            </p:cNvPr>
            <p:cNvSpPr/>
            <p:nvPr userDrawn="1"/>
          </p:nvSpPr>
          <p:spPr>
            <a:xfrm>
              <a:off x="11082048" y="197383"/>
              <a:ext cx="486579" cy="486579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BF5558D-A677-95F7-5700-2D1E71FBD838}"/>
                </a:ext>
              </a:extLst>
            </p:cNvPr>
            <p:cNvSpPr/>
            <p:nvPr userDrawn="1"/>
          </p:nvSpPr>
          <p:spPr>
            <a:xfrm>
              <a:off x="11215170" y="330505"/>
              <a:ext cx="220337" cy="220337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</p:grpSp>
      <p:sp>
        <p:nvSpPr>
          <p:cNvPr id="18" name="Freeform 17">
            <a:extLst>
              <a:ext uri="{FF2B5EF4-FFF2-40B4-BE49-F238E27FC236}">
                <a16:creationId xmlns:a16="http://schemas.microsoft.com/office/drawing/2014/main" id="{A797F9EA-0DAE-4EA8-F91E-D25EC18E94F5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09692" y="6356350"/>
            <a:ext cx="2743200" cy="365125"/>
          </a:xfr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9Slide.vn - 2019">
            <a:extLst>
              <a:ext uri="{FF2B5EF4-FFF2-40B4-BE49-F238E27FC236}">
                <a16:creationId xmlns:a16="http://schemas.microsoft.com/office/drawing/2014/main" id="{2E2EF8C9-F38D-9516-1D87-18E6996ECB8C}"/>
              </a:ext>
            </a:extLst>
          </p:cNvPr>
          <p:cNvSpPr txBox="1"/>
          <p:nvPr userDrawn="1"/>
        </p:nvSpPr>
        <p:spPr>
          <a:xfrm>
            <a:off x="0" y="-1543110"/>
            <a:ext cx="12192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US" sz="2000">
                <a:solidFill>
                  <a:srgbClr val="C3C3C3"/>
                </a:solidFill>
              </a:rPr>
              <a:t>www.9slide.vn</a:t>
            </a:r>
            <a:endParaRPr lang="en-VN" sz="2000">
              <a:solidFill>
                <a:srgbClr val="C3C3C3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7EE0CA-0453-9B47-838C-B39080F57770}" type="datetime3">
              <a:rPr lang="en-US" smtClean="0"/>
              <a:t>31 March 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Copyrights 2024 CE-UIT. All Rights Reserved.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F631ED36-F92A-CE11-0084-292D548DE0CF}"/>
              </a:ext>
            </a:extLst>
          </p:cNvPr>
          <p:cNvSpPr/>
          <p:nvPr userDrawn="1"/>
        </p:nvSpPr>
        <p:spPr>
          <a:xfrm>
            <a:off x="0" y="1418"/>
            <a:ext cx="12194479" cy="6863661"/>
          </a:xfrm>
          <a:custGeom>
            <a:avLst/>
            <a:gdLst>
              <a:gd name="connsiteX0" fmla="*/ 0 w 12194479"/>
              <a:gd name="connsiteY0" fmla="*/ 6598375 h 6863661"/>
              <a:gd name="connsiteX1" fmla="*/ 262456 w 12194479"/>
              <a:gd name="connsiteY1" fmla="*/ 6860831 h 6863661"/>
              <a:gd name="connsiteX2" fmla="*/ 11932023 w 12194479"/>
              <a:gd name="connsiteY2" fmla="*/ 6860831 h 6863661"/>
              <a:gd name="connsiteX3" fmla="*/ 12194479 w 12194479"/>
              <a:gd name="connsiteY3" fmla="*/ 6598375 h 6863661"/>
              <a:gd name="connsiteX4" fmla="*/ 12194479 w 12194479"/>
              <a:gd name="connsiteY4" fmla="*/ 6863661 h 6863661"/>
              <a:gd name="connsiteX5" fmla="*/ 0 w 12194479"/>
              <a:gd name="connsiteY5" fmla="*/ 6863661 h 6863661"/>
              <a:gd name="connsiteX6" fmla="*/ 0 w 12194479"/>
              <a:gd name="connsiteY6" fmla="*/ 0 h 6863661"/>
              <a:gd name="connsiteX7" fmla="*/ 12194479 w 12194479"/>
              <a:gd name="connsiteY7" fmla="*/ 0 h 6863661"/>
              <a:gd name="connsiteX8" fmla="*/ 12194479 w 12194479"/>
              <a:gd name="connsiteY8" fmla="*/ 265287 h 6863661"/>
              <a:gd name="connsiteX9" fmla="*/ 11932023 w 12194479"/>
              <a:gd name="connsiteY9" fmla="*/ 2831 h 6863661"/>
              <a:gd name="connsiteX10" fmla="*/ 262456 w 12194479"/>
              <a:gd name="connsiteY10" fmla="*/ 2831 h 6863661"/>
              <a:gd name="connsiteX11" fmla="*/ 0 w 12194479"/>
              <a:gd name="connsiteY11" fmla="*/ 265287 h 68636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4479" h="6863661">
                <a:moveTo>
                  <a:pt x="0" y="6598375"/>
                </a:moveTo>
                <a:cubicBezTo>
                  <a:pt x="0" y="6743325"/>
                  <a:pt x="117506" y="6860831"/>
                  <a:pt x="262456" y="6860831"/>
                </a:cubicBezTo>
                <a:lnTo>
                  <a:pt x="11932023" y="6860831"/>
                </a:lnTo>
                <a:cubicBezTo>
                  <a:pt x="12076973" y="6860831"/>
                  <a:pt x="12194479" y="6743325"/>
                  <a:pt x="12194479" y="6598375"/>
                </a:cubicBezTo>
                <a:lnTo>
                  <a:pt x="12194479" y="6863661"/>
                </a:lnTo>
                <a:lnTo>
                  <a:pt x="0" y="6863661"/>
                </a:lnTo>
                <a:close/>
                <a:moveTo>
                  <a:pt x="0" y="0"/>
                </a:moveTo>
                <a:lnTo>
                  <a:pt x="12194479" y="0"/>
                </a:lnTo>
                <a:lnTo>
                  <a:pt x="12194479" y="265287"/>
                </a:lnTo>
                <a:cubicBezTo>
                  <a:pt x="12194479" y="120337"/>
                  <a:pt x="12076973" y="2831"/>
                  <a:pt x="11932023" y="2831"/>
                </a:cubicBezTo>
                <a:lnTo>
                  <a:pt x="262456" y="2831"/>
                </a:lnTo>
                <a:cubicBezTo>
                  <a:pt x="117506" y="2831"/>
                  <a:pt x="0" y="120337"/>
                  <a:pt x="0" y="265287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4" r:id="rId4"/>
    <p:sldLayoutId id="2147483663" r:id="rId5"/>
    <p:sldLayoutId id="2147483662" r:id="rId6"/>
    <p:sldLayoutId id="2147483661" r:id="rId7"/>
    <p:sldLayoutId id="2147483652" r:id="rId8"/>
    <p:sldLayoutId id="2147483653" r:id="rId9"/>
    <p:sldLayoutId id="2147483654" r:id="rId10"/>
    <p:sldLayoutId id="2147483655" r:id="rId11"/>
    <p:sldLayoutId id="2147483666" r:id="rId12"/>
    <p:sldLayoutId id="2147483665" r:id="rId13"/>
    <p:sldLayoutId id="2147483656" r:id="rId14"/>
    <p:sldLayoutId id="2147483657" r:id="rId15"/>
    <p:sldLayoutId id="2147483658" r:id="rId16"/>
    <p:sldLayoutId id="2147483659" r:id="rId1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Phần 1: Bối cảnh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Bài báo SOICT 2026 (Springer CCIS) — đã nộp, đang bình duyệt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31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Đề tài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Quanvolution 4-qubit phân loại ảnh y tế MedMNIST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Benchmark đối xứng 1:1 với CNN cổ điển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10 seeds × 20 epochs × 6 metrics y tế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1 / 22</a:t>
            </a:r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Phần 1: Bối cảnh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Bài báo SOICT 2026 (Springer CCIS) — đã nộp, đang bình duyệt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31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Đề tài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Quanvolution 4-qubit phân loại ảnh y tế MedMNIST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Benchmark đối xứng 1:1 với CNN cổ điển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10 seeds × 20 epochs × 6 metrics y tế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Phần 1: Bối cảnh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Ba khoảng trống của literature QML y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27704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L1 — Baseline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CNN tùy tiện, chênh hàng nghìn tham số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Không cô lập tầng lượng tử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5488" y="1417320"/>
            <a:ext cx="3727704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L2 — Thiếu thống kê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Chỉ 1–3 runs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Không CI / Wilcoxon / effect 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68056" y="1417320"/>
            <a:ext cx="3727704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L3 — Fixed vs Trainable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Chưa lượng hóa trên cùng thiết lập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2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Phần 1: Bối cảnh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Ba khoảng trống của literature QML y tế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27704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L1 — Baseline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CNN tùy tiện, chênh hàng nghìn tham số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Không cô lập tầng lượng tử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5488" y="1417320"/>
            <a:ext cx="3727704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L2 — Thiếu thống kê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Chỉ 1–3 runs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Không CI / Wilcoxon / effect size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68056" y="1417320"/>
            <a:ext cx="3727704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L3 — Fixed vs Trainable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Chưa lượng hóa trên cùng thiết lập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Phần 2: Phương pháp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Nguyên lý Quanvolution: mạch lượng tử = bộ lọc ảnh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31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Cơ chế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Patch 2×2 → mã hóa góc RY(πx) → 4 qubit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Đo ⟨Z⟩ → 4 kênh feature map [−1,1]</a:t>
            </a:r>
          </a:p>
          <a:p>
            <a:pPr>
              <a:spcBef>
                <a:spcPts val="1000"/>
              </a:spcBef>
            </a:pPr>
            <a:r>
              <a:rPr sz="2800" b="1">
                <a:solidFill>
                  <a:srgbClr val="2E75B6"/>
                </a:solidFill>
                <a:latin typeface="Arial"/>
              </a:rPr>
              <a:t>196 patches/ảnh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3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Phần 2: Phương pháp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Nguyên lý Quanvolution: mạch lượng tử = bộ lọc ảnh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31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Cơ chế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Patch 2×2 → mã hóa góc RY(πx) → 4 qubit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Đo ⟨Z⟩ → 4 kênh feature map [−1,1]</a:t>
            </a:r>
          </a:p>
          <a:p>
            <a:pPr>
              <a:spcBef>
                <a:spcPts val="1000"/>
              </a:spcBef>
            </a:pPr>
            <a:r>
              <a:rPr sz="2800" b="1">
                <a:solidFill>
                  <a:srgbClr val="2E75B6"/>
                </a:solidFill>
                <a:latin typeface="Arial"/>
              </a:rPr>
              <a:t>196 patches/ảnh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Phần 2: Phương pháp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Ba họ ansatz — trục so sánh trung tâm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27704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Basic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1 trục RY + CNOT vòng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4L tham số</a:t>
            </a:r>
          </a:p>
          <a:p>
            <a:pPr>
              <a:spcBef>
                <a:spcPts val="1000"/>
              </a:spcBef>
            </a:pPr>
            <a:r>
              <a:rPr sz="2800" b="1">
                <a:solidFill>
                  <a:srgbClr val="2E75B6"/>
                </a:solidFill>
                <a:latin typeface="Arial"/>
              </a:rPr>
              <a:t>8 (L2)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5488" y="1417320"/>
            <a:ext cx="3727704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Strongly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3 trục U₃ + rối mở rộng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12L tham số</a:t>
            </a:r>
          </a:p>
          <a:p>
            <a:pPr>
              <a:spcBef>
                <a:spcPts val="1000"/>
              </a:spcBef>
            </a:pPr>
            <a:r>
              <a:rPr sz="2800" b="1">
                <a:solidFill>
                  <a:srgbClr val="2E75B6"/>
                </a:solidFill>
                <a:latin typeface="Arial"/>
              </a:rPr>
              <a:t>24 (L2)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68056" y="1417320"/>
            <a:ext cx="3727704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Random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Haar-random, đóng băng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0 tham số</a:t>
            </a:r>
          </a:p>
          <a:p>
            <a:pPr>
              <a:spcBef>
                <a:spcPts val="1000"/>
              </a:spcBef>
            </a:pPr>
            <a:r>
              <a:rPr sz="2800" b="1">
                <a:solidFill>
                  <a:srgbClr val="2E75B6"/>
                </a:solidFill>
                <a:latin typeface="Arial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4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Phần 2: Phương pháp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Ba họ ansatz — trục so sánh trung tâm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3727704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Basic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1 trục RY + CNOT vòng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4L tham số</a:t>
            </a:r>
          </a:p>
          <a:p>
            <a:pPr>
              <a:spcBef>
                <a:spcPts val="1000"/>
              </a:spcBef>
            </a:pPr>
            <a:r>
              <a:rPr sz="2800" b="1">
                <a:solidFill>
                  <a:srgbClr val="2E75B6"/>
                </a:solidFill>
                <a:latin typeface="Arial"/>
              </a:rPr>
              <a:t>8 (L2)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5488" y="1417320"/>
            <a:ext cx="3727704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Strongly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3 trục U₃ + rối mở rộng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12L tham số</a:t>
            </a:r>
          </a:p>
          <a:p>
            <a:pPr>
              <a:spcBef>
                <a:spcPts val="1000"/>
              </a:spcBef>
            </a:pPr>
            <a:r>
              <a:rPr sz="2800" b="1">
                <a:solidFill>
                  <a:srgbClr val="2E75B6"/>
                </a:solidFill>
                <a:latin typeface="Arial"/>
              </a:rPr>
              <a:t>24 (L2)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68056" y="1417320"/>
            <a:ext cx="3727704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Random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Haar-random, đóng băng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0 tham số</a:t>
            </a:r>
          </a:p>
          <a:p>
            <a:pPr>
              <a:spcBef>
                <a:spcPts val="1000"/>
              </a:spcBef>
            </a:pPr>
            <a:r>
              <a:rPr sz="2800" b="1">
                <a:solidFill>
                  <a:srgbClr val="2E75B6"/>
                </a:solidFill>
                <a:latin typeface="Arial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Phần 2: Phương pháp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Đối xứng 1:1 — head cổ điển giống hệt nhau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59155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Head cố định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BN(4) → ReLU → Linear(784→K)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K=2: 1,570 · K=4: 3,140</a:t>
            </a:r>
          </a:p>
          <a:p>
            <a:pPr>
              <a:spcBef>
                <a:spcPts val="1000"/>
              </a:spcBef>
            </a:pPr>
            <a:r>
              <a:rPr sz="2800" b="1">
                <a:solidFill>
                  <a:srgbClr val="2E75B6"/>
                </a:solidFill>
                <a:latin typeface="Arial"/>
              </a:rPr>
              <a:t>Chênh kernel: 20 tham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49340" y="1417320"/>
            <a:ext cx="559155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Ý nghĩa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Chênh lệch hiệu năng quy hết về phép biến đổi đặc trưng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5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Phần 2: Phương pháp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Đối xứng 1:1 — head cổ điển giống hệt nhau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59155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Head cố định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BN(4) → ReLU → Linear(784→K)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K=2: 1,570 · K=4: 3,140</a:t>
            </a:r>
          </a:p>
          <a:p>
            <a:pPr>
              <a:spcBef>
                <a:spcPts val="1000"/>
              </a:spcBef>
            </a:pPr>
            <a:r>
              <a:rPr sz="2800" b="1">
                <a:solidFill>
                  <a:srgbClr val="2E75B6"/>
                </a:solidFill>
                <a:latin typeface="Arial"/>
              </a:rPr>
              <a:t>Chênh kernel: 20 tham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49340" y="1417320"/>
            <a:ext cx="559155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Ý nghĩa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Chênh lệch hiệu năng quy hết về phép biến đổi đặc trưng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Phần 2: Phương pháp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6 metrics cho dữ liệu y tế lệch lớp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59155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Ngưỡng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Accuracy (tham khảo)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Balanced Acc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F1 macro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MCC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49340" y="1417320"/>
            <a:ext cx="559155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Xếp hạng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ROC-AUC (OvR macro)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PR-AUC — metric lâm sàng số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6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Phần 2: Phương pháp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6 metrics cho dữ liệu y tế lệch lớp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59155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Ngưỡng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Accuracy (tham khảo)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Balanced Acc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F1 macro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MCC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49340" y="1417320"/>
            <a:ext cx="559155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Xếp hạng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ROC-AUC (OvR macro)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PR-AUC — metric lâm sàng số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Phần 2: Phương pháp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Kiến trúc phần mềm 4 tầng + kiểm chứng đạo hàm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31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4 tầng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Dữ liệu → Mô hình → Thí nghiệm → Đầu ra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Mọi số qua kiểm định tự động</a:t>
            </a:r>
          </a:p>
          <a:p>
            <a:pPr>
              <a:spcBef>
                <a:spcPts val="1000"/>
              </a:spcBef>
            </a:pPr>
            <a:r>
              <a:rPr sz="2800" b="1">
                <a:solidFill>
                  <a:srgbClr val="2E75B6"/>
                </a:solidFill>
                <a:latin typeface="Arial"/>
              </a:rPr>
              <a:t>|Δ| &lt; 4.1×10⁻⁸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7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Phần 2: Phương pháp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Kiến trúc phần mềm 4 tầng + kiểm chứng đạo hàm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31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4 tầng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Dữ liệu → Mô hình → Thí nghiệm → Đầu ra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Mọi số qua kiểm định tự động</a:t>
            </a:r>
          </a:p>
          <a:p>
            <a:pPr>
              <a:spcBef>
                <a:spcPts val="1000"/>
              </a:spcBef>
            </a:pPr>
            <a:r>
              <a:rPr sz="2800" b="1">
                <a:solidFill>
                  <a:srgbClr val="2E75B6"/>
                </a:solidFill>
                <a:latin typeface="Arial"/>
              </a:rPr>
              <a:t>|Δ| &lt; 4.1×10⁻⁸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Phần 3: Kết quả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BreastMNIST: mạch tĩnh vượt CNN (10 seeds)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59155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Quán quân ROC-AUC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Fixed Basic: 0.8521 ± 0.0095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CNN: 0.8336 ± 0.0259</a:t>
            </a:r>
          </a:p>
          <a:p>
            <a:pPr>
              <a:spcBef>
                <a:spcPts val="1000"/>
              </a:spcBef>
            </a:pPr>
            <a:r>
              <a:rPr sz="2800" b="1">
                <a:solidFill>
                  <a:srgbClr val="2E75B6"/>
                </a:solidFill>
                <a:latin typeface="Arial"/>
              </a:rPr>
              <a:t>p = 0.0298 · d = +0.815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49340" y="1417320"/>
            <a:ext cx="559155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Quán quân PR-AUC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Fixed Strongly: 0.9182 ± 0.0071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d = +1.332 so với CNN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8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Phần 3: Kết quả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BreastMNIST: mạch tĩnh vượt CNN (10 seeds)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59155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Quán quân ROC-AUC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Fixed Basic: 0.8521 ± 0.0095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CNN: 0.8336 ± 0.0259</a:t>
            </a:r>
          </a:p>
          <a:p>
            <a:pPr>
              <a:spcBef>
                <a:spcPts val="1000"/>
              </a:spcBef>
            </a:pPr>
            <a:r>
              <a:rPr sz="2800" b="1">
                <a:solidFill>
                  <a:srgbClr val="2E75B6"/>
                </a:solidFill>
                <a:latin typeface="Arial"/>
              </a:rPr>
              <a:t>p = 0.0298 · d = +0.815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49340" y="1417320"/>
            <a:ext cx="559155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Quán quân PR-AUC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Fixed Strongly: 0.9182 ± 0.0071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d = +1.332 so với CNN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Phần 3: Kết quả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Ổn định phương sai ~2.7× — structural regularizer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31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Giải thích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std 0.0095 vs 0.0259 (tỷ 2.7263×)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Mạch tĩnh = bộ điều hòa cấu trúc, chống overfit 546 mẫu</a:t>
            </a:r>
          </a:p>
          <a:p>
            <a:pPr>
              <a:spcBef>
                <a:spcPts val="1000"/>
              </a:spcBef>
            </a:pPr>
            <a:r>
              <a:rPr sz="2800" b="1">
                <a:solidFill>
                  <a:srgbClr val="2E75B6"/>
                </a:solidFill>
                <a:latin typeface="Arial"/>
              </a:rPr>
              <a:t>~2.7×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9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Phần 3: Kết quả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Ổn định phương sai ~2.7× — structural regularizer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31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Giải thích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std 0.0095 vs 0.0259 (tỷ 2.7263×)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Mạch tĩnh = bộ điều hòa cấu trúc, chống overfit 546 mẫu</a:t>
            </a:r>
          </a:p>
          <a:p>
            <a:pPr>
              <a:spcBef>
                <a:spcPts val="1000"/>
              </a:spcBef>
            </a:pPr>
            <a:r>
              <a:rPr sz="2800" b="1">
                <a:solidFill>
                  <a:srgbClr val="2E75B6"/>
                </a:solidFill>
                <a:latin typeface="Arial"/>
              </a:rPr>
              <a:t>~2.7×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Phần 3: Kết quả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OCTMNIST: CNN áp đảo toàn diện (10 seeds)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59155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CNN dẫn đầu 6/6 metrics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ROC-AUC 0.7505 ± 0.0240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BAcc 0.4433 ± 0.0135</a:t>
            </a:r>
          </a:p>
          <a:p>
            <a:pPr>
              <a:spcBef>
                <a:spcPts val="1000"/>
              </a:spcBef>
            </a:pPr>
            <a:r>
              <a:rPr sz="2800" b="1">
                <a:solidFill>
                  <a:srgbClr val="2E75B6"/>
                </a:solidFill>
                <a:latin typeface="Arial"/>
              </a:rPr>
              <a:t>d = +2.108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49340" y="1417320"/>
            <a:ext cx="559155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Nguyên nhân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Expressibility bottleneck 4-qubit L=1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10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Phần 3: Kết quả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OCTMNIST: CNN áp đảo toàn diện (10 seeds)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59155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CNN dẫn đầu 6/6 metrics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ROC-AUC 0.7505 ± 0.0240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BAcc 0.4433 ± 0.0135</a:t>
            </a:r>
          </a:p>
          <a:p>
            <a:pPr>
              <a:spcBef>
                <a:spcPts val="1000"/>
              </a:spcBef>
            </a:pPr>
            <a:r>
              <a:rPr sz="2800" b="1">
                <a:solidFill>
                  <a:srgbClr val="2E75B6"/>
                </a:solidFill>
                <a:latin typeface="Arial"/>
              </a:rPr>
              <a:t>d = +2.108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49340" y="1417320"/>
            <a:ext cx="559155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Nguyên nhân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Expressibility bottleneck 4-qubit L=1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Phần 3: Kết quả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Nội bộ strongly: tự học &gt; tĩnh, hòa quán quân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59155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Cùng họ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Trainable 0.6922 ± 0.0199 vs Fixed 0.6690 ± 0.0055</a:t>
            </a:r>
          </a:p>
          <a:p>
            <a:pPr>
              <a:spcBef>
                <a:spcPts val="1000"/>
              </a:spcBef>
            </a:pPr>
            <a:r>
              <a:rPr sz="2800" b="1">
                <a:solidFill>
                  <a:srgbClr val="2E75B6"/>
                </a:solidFill>
                <a:latin typeface="Arial"/>
              </a:rPr>
              <a:t>Δ+0.0232 · p=0.0098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49340" y="1417320"/>
            <a:ext cx="559155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Vs quán quân random_L1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0.6912 ± 0.0071 — hòa (p=0.8875)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11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Phần 3: Kết quả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Nội bộ strongly: tự học &gt; tĩnh, hòa quán quân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59155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Cùng họ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Trainable 0.6922 ± 0.0199 vs Fixed 0.6690 ± 0.0055</a:t>
            </a:r>
          </a:p>
          <a:p>
            <a:pPr>
              <a:spcBef>
                <a:spcPts val="1000"/>
              </a:spcBef>
            </a:pPr>
            <a:r>
              <a:rPr sz="2800" b="1">
                <a:solidFill>
                  <a:srgbClr val="2E75B6"/>
                </a:solidFill>
                <a:latin typeface="Arial"/>
              </a:rPr>
              <a:t>Δ+0.0232 · p=0.0098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49340" y="1417320"/>
            <a:ext cx="559155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Vs quán quân random_L1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0.6912 ± 0.0071 — hòa (p=0.8875)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Phần 3: Kết quả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Gradient khỏe 0.2–0.5 — không Barren Plateaus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31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Sanity check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Seed-mean 0.2–0.5, đỉnh ~1.3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Mạch 4-qubit nông</a:t>
            </a:r>
          </a:p>
          <a:p>
            <a:pPr>
              <a:spcBef>
                <a:spcPts val="1000"/>
              </a:spcBef>
            </a:pPr>
            <a:r>
              <a:rPr sz="2800" b="1">
                <a:solidFill>
                  <a:srgbClr val="2E75B6"/>
                </a:solidFill>
                <a:latin typeface="Arial"/>
              </a:rPr>
              <a:t>0.2–0.5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12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Phần 3: Kết quả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Gradient khỏe 0.2–0.5 — không Barren Plateaus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31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Sanity check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Seed-mean 0.2–0.5, đỉnh ~1.3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Mạch 4-qubit nông</a:t>
            </a:r>
          </a:p>
          <a:p>
            <a:pPr>
              <a:spcBef>
                <a:spcPts val="1000"/>
              </a:spcBef>
            </a:pPr>
            <a:r>
              <a:rPr sz="2800" b="1">
                <a:solidFill>
                  <a:srgbClr val="2E75B6"/>
                </a:solidFill>
                <a:latin typeface="Arial"/>
              </a:rPr>
              <a:t>0.2–0.5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Phần 3: Kết quả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Chi phí: precompute là bắt buộc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31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CPU suy luận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CNN 0.31 ms vs Quanv 220 ms</a:t>
            </a:r>
          </a:p>
          <a:p>
            <a:pPr>
              <a:spcBef>
                <a:spcPts val="1000"/>
              </a:spcBef>
            </a:pPr>
            <a:r>
              <a:rPr sz="2800" b="1">
                <a:solidFill>
                  <a:srgbClr val="2E75B6"/>
                </a:solidFill>
                <a:latin typeface="Arial"/>
              </a:rPr>
              <a:t>~710×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13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Phần 3: Kết quả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Chi phí: precompute là bắt buộc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31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CPU suy luận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CNN 0.31 ms vs Quanv 220 ms</a:t>
            </a:r>
          </a:p>
          <a:p>
            <a:pPr>
              <a:spcBef>
                <a:spcPts val="1000"/>
              </a:spcBef>
            </a:pPr>
            <a:r>
              <a:rPr sz="2800" b="1">
                <a:solidFill>
                  <a:srgbClr val="2E75B6"/>
                </a:solidFill>
                <a:latin typeface="Arial"/>
              </a:rPr>
              <a:t>~710×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Phần 4: Kết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Ba kết luận trung thực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31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Kết luận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Ưu thế phụ thuộc chế độ dữ liệu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Mạch tĩnh 0 tham số = inductive bias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Trainability chỉ cục bộ trong cùng họ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14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Phần 4: Kết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Ba kết luận trung thực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31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Kết luận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Ưu thế phụ thuộc chế độ dữ liệu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Mạch tĩnh 0 tham số = inductive bias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Trainability chỉ cục bộ trong cùng họ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Phần 4: Đóng góp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Bài báo SOICT 2026 — đã nộp, đang bình duyệt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31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4 đóng góp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Benchmark đối xứng + data-regime boundary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Tài liệu tái lập + bản thảo quốc tế</a:t>
            </a:r>
          </a:p>
          <a:p>
            <a:pPr>
              <a:spcBef>
                <a:spcPts val="1000"/>
              </a:spcBef>
            </a:pPr>
            <a:r>
              <a:rPr sz="2800" b="1">
                <a:solidFill>
                  <a:srgbClr val="2E75B6"/>
                </a:solidFill>
                <a:latin typeface="Arial"/>
              </a:rPr>
              <a:t>Springer CCIS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15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Phần 4: Đóng góp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Bài báo SOICT 2026 — đã nộp, đang bình duyệt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31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4 đóng góp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Benchmark đối xứng + data-regime boundary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Tài liệu tái lập + bản thảo quốc tế</a:t>
            </a:r>
          </a:p>
          <a:p>
            <a:pPr>
              <a:spcBef>
                <a:spcPts val="1000"/>
              </a:spcBef>
            </a:pPr>
            <a:r>
              <a:rPr sz="2800" b="1">
                <a:solidFill>
                  <a:srgbClr val="2E75B6"/>
                </a:solidFill>
                <a:latin typeface="Arial"/>
              </a:rPr>
              <a:t>Springer CCIS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Phần 4: Kết luận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4 hướng phát triển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31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Tiếp theo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GPU cuQuantum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NISQ IBM thật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Full OCTMNIST 97k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Encoding HUAR/Hamiltonian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Phần 5: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Demo live: ảnh → feature map → dự đoán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31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Live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Train head 1.3s trên feature precompute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Malignant idx 6 — p = 0.884</a:t>
            </a:r>
          </a:p>
          <a:p>
            <a:pPr>
              <a:spcBef>
                <a:spcPts val="1000"/>
              </a:spcBef>
            </a:pPr>
            <a:r>
              <a:rPr sz="2800" b="1">
                <a:solidFill>
                  <a:srgbClr val="2E75B6"/>
                </a:solidFill>
                <a:latin typeface="Arial"/>
              </a:rPr>
              <a:t>1.47×10⁻⁸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Phần 5: Cam kết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Liêm chính &amp; tái lập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83112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Bằng chứng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Mọi số truy vết JSON gốc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Tag soict-submission-v4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19/19 refs đã xác minh</a:t>
            </a:r>
          </a:p>
          <a:p>
            <a:pPr>
              <a:spcBef>
                <a:spcPts val="1000"/>
              </a:spcBef>
            </a:pPr>
            <a:r>
              <a:rPr sz="2800" b="1">
                <a:solidFill>
                  <a:srgbClr val="2E75B6"/>
                </a:solidFill>
                <a:latin typeface="Arial"/>
              </a:rPr>
              <a:t>92/92 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F4E79"/>
                </a:solidFill>
                <a:latin typeface="Arial"/>
              </a:rPr>
              <a:t>Q&amp;A — Trân trọng cảm ơn Hội đồng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E75B6"/>
                </a:solidFill>
                <a:latin typeface="Arial"/>
              </a:rPr>
              <a:t>Mã nguồn &amp; dữ liệu: github.com/NamIsStudyingCE/Quanvolution (tag soict-submission-v4)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Phụ lục phòng vệ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Backup 1 — Kiểm định thống kê đầy đủ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279577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Breast CNN vs Fixed Basic (AUC)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Δ = −0.0186 · p_t = 0.0298 · p_w = 0.0254 · d = −0.815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53562" y="1417320"/>
            <a:ext cx="279577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Breast CNN vs Fixed Strongly (PR-AUC)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Δ = −0.0140 · p_t = 0.0023 · p_w = 0.0059 · d = −1.332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04204" y="1417320"/>
            <a:ext cx="279577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OCT CNN vs Trainable Strongly (AUC)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Δ = +0.0583 · p_t ≈ 0.0001 · p_w = 0.0020 · d = +2.108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54846" y="1417320"/>
            <a:ext cx="2795778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OCT Trainable vs Fixed Strongly (AUC)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Δ = +0.0232 · p_t = 0.0090 · p_w = 0.0098 · d = +1.050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22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Phụ lục phòng vệ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Backup 2 — Phân rã tham số đối xứng 1:1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59155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BreastMNIST K=2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CNN: 20 kernel + 8 BN + 1,570 head = 1,598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Fixed: 0 kernel + 8 BN + 1,570 head = 1,578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49340" y="1417320"/>
            <a:ext cx="559155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OCTMNIST K=4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CNN: 3,168 · Fixed: 3,148 · Trainable Strongly: 3,160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22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Phụ lục phòng vệ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Backup 3 — Kiểm chứng đạo hàm Parameter-Shift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59155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Hai đường tính gradient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Analytic backprop (default.qubit)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Parameter-Shift Rule: ∂F/∂θ = [F(θ+π/2) − F(θ−π/2)]/2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49340" y="1417320"/>
            <a:ext cx="559155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Kết quả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|Δ| &lt; 4.1×10⁻⁸ — sai số số học float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22 /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E75B6"/>
                </a:solidFill>
                <a:latin typeface="Arial"/>
              </a:rPr>
              <a:t>Phụ lục phòng vệ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4E79"/>
                </a:solidFill>
                <a:latin typeface="Arial"/>
              </a:rPr>
              <a:t>Backup 4 — Hồ sơ demo dự phòng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59155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Demo notebook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Ảnh test idx 6 (malignant) → p = 0.884 — phân loại đúng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Live vs precompute: sai lệch 1.47×10⁻⁸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49340" y="1417320"/>
            <a:ext cx="5591556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1F4E79"/>
                </a:solidFill>
                <a:latin typeface="Arial"/>
              </a:rPr>
              <a:t>Video dự phòng</a:t>
            </a:r>
          </a:p>
          <a:p>
            <a:pPr>
              <a:spcBef>
                <a:spcPts val="600"/>
              </a:spcBef>
            </a:pPr>
            <a:r>
              <a:rPr sz="1350">
                <a:solidFill>
                  <a:srgbClr val="262626"/>
                </a:solidFill>
                <a:latin typeface="Arial"/>
              </a:rPr>
              <a:t>• demo_defense_backup.mp4 — 104 giây, phụ đề tiếng Việt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81360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8888"/>
                </a:solidFill>
                <a:latin typeface="Arial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CE Green v2">
      <a:dk1>
        <a:srgbClr val="000000"/>
      </a:dk1>
      <a:lt1>
        <a:srgbClr val="FFFFFF"/>
      </a:lt1>
      <a:dk2>
        <a:srgbClr val="455F51"/>
      </a:dk2>
      <a:lt2>
        <a:srgbClr val="E3DED1"/>
      </a:lt2>
      <a:accent1>
        <a:srgbClr val="549E39"/>
      </a:accent1>
      <a:accent2>
        <a:srgbClr val="0071FF"/>
      </a:accent2>
      <a:accent3>
        <a:srgbClr val="38EF7D"/>
      </a:accent3>
      <a:accent4>
        <a:srgbClr val="029676"/>
      </a:accent4>
      <a:accent5>
        <a:srgbClr val="F5AF19"/>
      </a:accent5>
      <a:accent6>
        <a:srgbClr val="F12711"/>
      </a:accent6>
      <a:hlink>
        <a:srgbClr val="6B9F25"/>
      </a:hlink>
      <a:folHlink>
        <a:srgbClr val="BA6906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3">
            <a:lumMod val="50000"/>
          </a:schemeClr>
        </a:solidFill>
        <a:ln>
          <a:noFill/>
        </a:ln>
      </a:spPr>
      <a:bodyPr rtlCol="0" anchor="ctr"/>
      <a:lstStyle>
        <a:defPPr algn="ctr">
          <a:defRPr dirty="0">
            <a:solidFill>
              <a:schemeClr val="accent4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 cap="rnd">
          <a:solidFill>
            <a:schemeClr val="accent3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30000"/>
          </a:lnSpc>
          <a:spcBef>
            <a:spcPts val="300"/>
          </a:spcBef>
          <a:spcAft>
            <a:spcPts val="300"/>
          </a:spcAft>
          <a:defRPr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2983</TotalTime>
  <Words>413</Words>
  <Application>Microsoft Macintosh PowerPoint</Application>
  <PresentationFormat>Widescreen</PresentationFormat>
  <Paragraphs>73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TÊN KHÓA LUẬN</vt:lpstr>
      <vt:lpstr>Nội dung báo cáo</vt:lpstr>
      <vt:lpstr>TỔNG QUAN ĐỀ TÀI NGHIÊN CỨU</vt:lpstr>
      <vt:lpstr>1. Tổng quan đề tài nghiên cứu</vt:lpstr>
      <vt:lpstr>GIẢI PHÁP ĐỀ XUẤT CỦA ĐỀ TÀI</vt:lpstr>
      <vt:lpstr>2. Giải pháp đề xuất của đề tài</vt:lpstr>
      <vt:lpstr>2. Giải pháp đề xuất của đề tài</vt:lpstr>
      <vt:lpstr>KẾT QUẢ CỦA GIẢI PHÁP ĐỀ XUẤT</vt:lpstr>
      <vt:lpstr>3. Kết quả của giải pháp đề xuất</vt:lpstr>
      <vt:lpstr>3. Kết quả của giải pháp đề xuất</vt:lpstr>
      <vt:lpstr>KẾT LUẬN VÀ HƯỚNG PHÁT TRIỂN CỦA ĐỀ TÀI</vt:lpstr>
      <vt:lpstr>4. Kết luận và hướng phát triển của đề tài</vt:lpstr>
      <vt:lpstr>Tài liệu tham khảo</vt:lpstr>
      <vt:lpstr>HỎI VÀ ĐÁP</vt:lpstr>
      <vt:lpstr>Phụ lục (nếu có)</vt:lpstr>
    </vt:vector>
  </TitlesOfParts>
  <Manager>9Slide.vn</Manager>
  <Company>9Slide.vn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9Slide.vn</dc:title>
  <dc:subject>9Slide.vn</dc:subject>
  <dc:creator/>
  <dc:description>9Slide.vn</dc:description>
  <cp:lastModifiedBy>Trần Hoàng Lộc</cp:lastModifiedBy>
  <cp:revision>651</cp:revision>
  <dcterms:created xsi:type="dcterms:W3CDTF">2022-06-26T12:27:32Z</dcterms:created>
  <dcterms:modified xsi:type="dcterms:W3CDTF">2024-03-31T16:12:12Z</dcterms:modified>
  <cp:category>9Slide.vn</cp:category>
</cp:coreProperties>
</file>