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777240"/>
            <a:ext cx="10362895" cy="365760"/>
          </a:xfrm>
          <a:prstGeom prst="rect">
            <a:avLst/>
          </a:prstGeom>
          <a:noFill/>
        </p:spPr>
        <p:txBody>
          <a:bodyPr wrap="none">
            <a:spAutoFit/>
          </a:bodyPr>
          <a:lstStyle/>
          <a:p>
            <a:pPr>
              <a:defRPr sz="1200" b="1">
                <a:solidFill>
                  <a:srgbClr val="BED7F5"/>
                </a:solidFill>
                <a:latin typeface="Arial"/>
              </a:defRPr>
            </a:pPr>
            <a:r>
              <a:t>ĐẠI HỌC QUỐC GIA TP. HỒ CHÍ MINH  ·  TRƯỜNG ĐẠI HỌC CÔNG NGHỆ THÔNG TIN  ·  KHOA KỸ THUẬT MÁY TÍNH</a:t>
            </a:r>
          </a:p>
        </p:txBody>
      </p:sp>
      <p:sp>
        <p:nvSpPr>
          <p:cNvPr id="3" name="Rounded Rectangle 2"/>
          <p:cNvSpPr/>
          <p:nvPr/>
        </p:nvSpPr>
        <p:spPr>
          <a:xfrm>
            <a:off x="914400" y="1325880"/>
            <a:ext cx="7498079" cy="329184"/>
          </a:xfrm>
          <a:prstGeom prst="roundRect">
            <a:avLst/>
          </a:prstGeom>
          <a:solidFill>
            <a:srgbClr val="285F91"/>
          </a:solidFill>
          <a:ln>
            <a:solidFill>
              <a:srgbClr val="DC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353312"/>
            <a:ext cx="7315200" cy="274320"/>
          </a:xfrm>
          <a:prstGeom prst="rect">
            <a:avLst/>
          </a:prstGeom>
          <a:noFill/>
        </p:spPr>
        <p:txBody>
          <a:bodyPr wrap="none">
            <a:spAutoFit/>
          </a:bodyPr>
          <a:lstStyle/>
          <a:p>
            <a:pPr>
              <a:defRPr sz="1050" b="1">
                <a:solidFill>
                  <a:srgbClr val="DCEBFF"/>
                </a:solidFill>
                <a:latin typeface="Arial"/>
              </a:defRPr>
            </a:pPr>
            <a:r>
              <a:t>BÀI BÁO HỘI NGHỊ QUỐC TẾ: ĐÃ NỘP &amp; ĐANG BÌNH DUYỆT TẠI SOICT 2026 (SPRINGER CCIS)</a:t>
            </a:r>
          </a:p>
        </p:txBody>
      </p:sp>
      <p:sp>
        <p:nvSpPr>
          <p:cNvPr id="5" name="TextBox 4"/>
          <p:cNvSpPr txBox="1"/>
          <p:nvPr/>
        </p:nvSpPr>
        <p:spPr>
          <a:xfrm>
            <a:off x="914400" y="1874519"/>
            <a:ext cx="10362895" cy="1828800"/>
          </a:xfrm>
          <a:prstGeom prst="rect">
            <a:avLst/>
          </a:prstGeom>
          <a:noFill/>
        </p:spPr>
        <p:txBody>
          <a:bodyPr wrap="square">
            <a:spAutoFit/>
          </a:bodyPr>
          <a:lstStyle/>
          <a:p>
            <a:pPr>
              <a:defRPr sz="2800" b="1">
                <a:solidFill>
                  <a:srgbClr val="FFFFFF"/>
                </a:solidFill>
                <a:latin typeface="Arial"/>
              </a:defRPr>
            </a:pPr>
            <a:r>
              <a:t>NGHIÊN CỨU VÀ ỨNG DỤNG LỚP TÍCH CHẬP LƯỢNG TỬ (QUANVOLUTION)</a:t>
            </a:r>
            <a:br/>
            <a:r>
              <a:t>TRONG PHÂN LOẠI ẢNH Y TẾ MEDMNIST</a:t>
            </a:r>
          </a:p>
          <a:p>
            <a:pPr>
              <a:spcBef>
                <a:spcPts val="800"/>
              </a:spcBef>
              <a:defRPr sz="1500" i="1">
                <a:solidFill>
                  <a:srgbClr val="D2E4FA"/>
                </a:solidFill>
                <a:latin typeface="Arial"/>
              </a:defRPr>
            </a:pPr>
            <a:r>
              <a:t>Đánh giá Thực nghiệm Đối xứng 1:1 giữa Mạch Lượng tử Tĩnh và Tự học trên Nền tảng Đa Hạt giống Khả Tái lập</a:t>
            </a:r>
          </a:p>
        </p:txBody>
      </p:sp>
      <p:sp>
        <p:nvSpPr>
          <p:cNvPr id="6" name="Rectangle 5"/>
          <p:cNvSpPr/>
          <p:nvPr/>
        </p:nvSpPr>
        <p:spPr>
          <a:xfrm>
            <a:off x="914400" y="3977639"/>
            <a:ext cx="3200400" cy="36576"/>
          </a:xfrm>
          <a:prstGeom prst="rect">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51960"/>
            <a:ext cx="10362895" cy="1645920"/>
          </a:xfrm>
          <a:prstGeom prst="rect">
            <a:avLst/>
          </a:prstGeom>
          <a:noFill/>
        </p:spPr>
        <p:txBody>
          <a:bodyPr wrap="none">
            <a:spAutoFit/>
          </a:bodyPr>
          <a:lstStyle/>
          <a:p>
            <a:pPr>
              <a:defRPr sz="1400" b="1">
                <a:solidFill>
                  <a:srgbClr val="FFFFFF"/>
                </a:solidFill>
                <a:latin typeface="Arial"/>
              </a:defRPr>
            </a:pPr>
            <a:r>
              <a:t>Báo cáo Khóa luận Tốt nghiệp Kỹ sư Ngành Kỹ thuật Máy tính</a:t>
            </a:r>
          </a:p>
          <a:p>
            <a:pPr>
              <a:lnSpc>
                <a:spcPct val="125000"/>
              </a:lnSpc>
              <a:spcBef>
                <a:spcPts val="600"/>
              </a:spcBef>
              <a:defRPr sz="1250">
                <a:solidFill>
                  <a:srgbClr val="DCE6F5"/>
                </a:solidFill>
                <a:latin typeface="Arial"/>
              </a:defRPr>
            </a:pPr>
            <a:r>
              <a:t>• Sinh viên thực hiện: Nguyễn Hạo Nam (NamIsStudyingCE)</a:t>
            </a:r>
            <a:br/>
            <a:r>
              <a:t>• Giảng viên hướng dẫn: TS. Nguyễn Duy Xuân Bách</a:t>
            </a:r>
            <a:br/>
            <a:r>
              <a:t>• Thời gian &amp; Địa điểm: TP. Hồ Chí Minh —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1: BỐI CẢNH &amp; ĐỘNG LỰC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Dữ liệu y tế khan hiếm và lệch lớp tự nhiên khiến Accuracy trở thành thước đo sai lầm</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Đặc thù Phương thái Hình ảnh Y tế</a:t>
            </a:r>
          </a:p>
          <a:p>
            <a:pPr>
              <a:lnSpc>
                <a:spcPct val="115000"/>
              </a:lnSpc>
              <a:spcAft>
                <a:spcPts val="700"/>
              </a:spcAft>
            </a:pPr>
            <a:r>
              <a:rPr b="1" sz="1150">
                <a:solidFill>
                  <a:srgbClr val="282828"/>
                </a:solidFill>
                <a:latin typeface="Arial"/>
              </a:rPr>
              <a:t>• Siêu âm tuyến vú (BUS): </a:t>
            </a:r>
            <a:r>
              <a:rPr sz="1150">
                <a:solidFill>
                  <a:srgbClr val="282828"/>
                </a:solidFill>
                <a:latin typeface="Arial"/>
              </a:rPr>
              <a:t>An toàn, không nhiễm xạ, tối ưu cho phụ nữ mô tuyến vú đặc; song chịu nhiễu đốm âm học (speckle noise) và biên độ tương phản thấp.</a:t>
            </a:r>
          </a:p>
          <a:p>
            <a:pPr>
              <a:lnSpc>
                <a:spcPct val="115000"/>
              </a:lnSpc>
              <a:spcAft>
                <a:spcPts val="700"/>
              </a:spcAft>
            </a:pPr>
            <a:r>
              <a:rPr b="1" sz="1150">
                <a:solidFill>
                  <a:srgbClr val="282828"/>
                </a:solidFill>
                <a:latin typeface="Arial"/>
              </a:rPr>
              <a:t>• Cắt lớp quang học võng mạc (OCT): </a:t>
            </a:r>
            <a:r>
              <a:rPr sz="1150">
                <a:solidFill>
                  <a:srgbClr val="282828"/>
                </a:solidFill>
                <a:latin typeface="Arial"/>
              </a:rPr>
              <a:t>Tiêu chuẩn vàng vi thể đáy mắt (CNV, DME, Drusen); khối lượng chụp diện rộng tạo áp lực đọc ảnh khổng lồ cho bác sĩ.</a:t>
            </a:r>
          </a:p>
          <a:p>
            <a:pPr>
              <a:lnSpc>
                <a:spcPct val="115000"/>
              </a:lnSpc>
              <a:spcAft>
                <a:spcPts val="700"/>
              </a:spcAft>
            </a:pPr>
            <a:r>
              <a:rPr b="1" sz="1150">
                <a:solidFill>
                  <a:srgbClr val="282828"/>
                </a:solidFill>
                <a:latin typeface="Arial"/>
              </a:rPr>
              <a:t>• Vai trò của hệ thống CAD: </a:t>
            </a:r>
            <a:r>
              <a:rPr sz="1150">
                <a:solidFill>
                  <a:srgbClr val="282828"/>
                </a:solidFill>
                <a:latin typeface="Arial"/>
              </a:rPr>
              <a:t>Đóng vai trò 'second opinion' khách quan, giảm tải sai sót do mệt mỏi thị giác và nắm bắt tương quan mô bệnh học cục bộ.</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Bẫy Mất cân bằng Lớp &amp; Rủi ro Lâm sàng</a:t>
            </a:r>
          </a:p>
          <a:p>
            <a:pPr>
              <a:lnSpc>
                <a:spcPct val="115000"/>
              </a:lnSpc>
              <a:spcAft>
                <a:spcPts val="700"/>
              </a:spcAft>
            </a:pPr>
            <a:r>
              <a:rPr b="1" sz="1150">
                <a:solidFill>
                  <a:srgbClr val="282828"/>
                </a:solidFill>
                <a:latin typeface="Arial"/>
              </a:rPr>
              <a:t>• Lệch lớp tự nhiên: </a:t>
            </a:r>
            <a:r>
              <a:rPr sz="1150">
                <a:solidFill>
                  <a:srgbClr val="282828"/>
                </a:solidFill>
                <a:latin typeface="Arial"/>
              </a:rPr>
              <a:t>Ca ác tính luôn chiếm thiểu số. Ví dụ BreastMNIST có tỷ lệ 73% lành tính / 27% ác tính.</a:t>
            </a:r>
          </a:p>
          <a:p>
            <a:pPr>
              <a:lnSpc>
                <a:spcPct val="115000"/>
              </a:lnSpc>
              <a:spcAft>
                <a:spcPts val="700"/>
              </a:spcAft>
            </a:pPr>
            <a:r>
              <a:rPr b="1" sz="1150">
                <a:solidFill>
                  <a:srgbClr val="282828"/>
                </a:solidFill>
                <a:latin typeface="Arial"/>
              </a:rPr>
              <a:t>• Thất bại của Accuracy: </a:t>
            </a:r>
            <a:r>
              <a:rPr sz="1150">
                <a:solidFill>
                  <a:srgbClr val="282828"/>
                </a:solidFill>
                <a:latin typeface="Arial"/>
              </a:rPr>
              <a:t>Một bộ phân loại đoán 100% 'Lành tính' vẫn đạt Accuracy 73%, nhưng bỏ sót 100% ca ác tính (Recall = 0%).</a:t>
            </a:r>
          </a:p>
          <a:p>
            <a:pPr>
              <a:lnSpc>
                <a:spcPct val="115000"/>
              </a:lnSpc>
              <a:spcAft>
                <a:spcPts val="700"/>
              </a:spcAft>
            </a:pPr>
            <a:r>
              <a:rPr b="1" sz="1150">
                <a:solidFill>
                  <a:srgbClr val="282828"/>
                </a:solidFill>
                <a:latin typeface="Arial"/>
              </a:rPr>
              <a:t>• Chi phí bất đối xứng (Asymmetric Cost): </a:t>
            </a:r>
            <a:r>
              <a:rPr sz="1150">
                <a:solidFill>
                  <a:srgbClr val="282828"/>
                </a:solidFill>
                <a:latin typeface="Arial"/>
              </a:rPr>
              <a:t>Âm tính giả (False Negative — bỏ sót ung thư) gây hậu quả sinh mạng nghiêm trọng hơn nhiều so với Dương tính giả.</a:t>
            </a:r>
          </a:p>
          <a:p>
            <a:pPr>
              <a:lnSpc>
                <a:spcPct val="115000"/>
              </a:lnSpc>
              <a:spcAft>
                <a:spcPts val="700"/>
              </a:spcAft>
            </a:pPr>
            <a:r>
              <a:rPr b="1" sz="1150">
                <a:solidFill>
                  <a:srgbClr val="282828"/>
                </a:solidFill>
                <a:latin typeface="Arial"/>
              </a:rPr>
              <a:t>• Giải pháp phương pháp luận: </a:t>
            </a:r>
            <a:r>
              <a:rPr sz="1150">
                <a:solidFill>
                  <a:srgbClr val="282828"/>
                </a:solidFill>
                <a:latin typeface="Arial"/>
              </a:rPr>
              <a:t>Bắt buộc đánh giá đa chiều với Balanced Accuracy, F1 Macro, MCC và đặc biệt là PR-AUC — thước đo vàng cho lớp thiểu số.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1: BỐI CẢNH &amp; ĐỘNG LỰC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Mạng Quanvolution đề xuất cơ chế trích xuất đặc trưng phi tuyến trong không gian Hilbert 2^N chiều</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3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Nguyên lý Mạng Tích chập Lượng tử (Quanvolution)</a:t>
            </a:r>
          </a:p>
          <a:p>
            <a:pPr>
              <a:lnSpc>
                <a:spcPct val="115000"/>
              </a:lnSpc>
              <a:spcAft>
                <a:spcPts val="700"/>
              </a:spcAft>
            </a:pPr>
            <a:r>
              <a:rPr b="1" sz="1150">
                <a:solidFill>
                  <a:srgbClr val="282828"/>
                </a:solidFill>
                <a:latin typeface="Arial"/>
              </a:rPr>
              <a:t>• Khởi xướng (Henderson et al. 2020): </a:t>
            </a:r>
            <a:r>
              <a:rPr sz="1150">
                <a:solidFill>
                  <a:srgbClr val="282828"/>
                </a:solidFill>
                <a:latin typeface="Arial"/>
              </a:rPr>
              <a:t>Thay thế bộ lọc tích chập tuyến tính cổ điển bằng mạch lượng tử biến phân (VQC) trượt cục bộ trên ảnh.</a:t>
            </a:r>
          </a:p>
          <a:p>
            <a:pPr>
              <a:lnSpc>
                <a:spcPct val="115000"/>
              </a:lnSpc>
              <a:spcAft>
                <a:spcPts val="700"/>
              </a:spcAft>
            </a:pPr>
            <a:r>
              <a:rPr b="1" sz="1150">
                <a:solidFill>
                  <a:srgbClr val="282828"/>
                </a:solidFill>
                <a:latin typeface="Arial"/>
              </a:rPr>
              <a:t>• Không gian Hilbert 16 chiều: </a:t>
            </a:r>
            <a:r>
              <a:rPr sz="1150">
                <a:solidFill>
                  <a:srgbClr val="282828"/>
                </a:solidFill>
                <a:latin typeface="Arial"/>
              </a:rPr>
              <a:t>Mỗi patch 2×2 (4 pixel) được mã hóa vào 4 qubit; trạng thái lượng tử mở rộng ra không gian Hilbert 2⁴ = 16 chiều.</a:t>
            </a:r>
          </a:p>
          <a:p>
            <a:pPr>
              <a:lnSpc>
                <a:spcPct val="115000"/>
              </a:lnSpc>
              <a:spcAft>
                <a:spcPts val="700"/>
              </a:spcAft>
            </a:pPr>
            <a:r>
              <a:rPr b="1" sz="1150">
                <a:solidFill>
                  <a:srgbClr val="282828"/>
                </a:solidFill>
                <a:latin typeface="Arial"/>
              </a:rPr>
              <a:t>• Phép đo kỳ vọng Pauli-Z: </a:t>
            </a:r>
            <a:r>
              <a:rPr sz="1150">
                <a:solidFill>
                  <a:srgbClr val="282828"/>
                </a:solidFill>
                <a:latin typeface="Arial"/>
              </a:rPr>
              <a:t>Đo kỳ vọng trên từng qubit để thu về 4 giá trị thực [-1, 1], tạo thành 4 kênh feature map.</a:t>
            </a:r>
          </a:p>
          <a:p>
            <a:pPr>
              <a:lnSpc>
                <a:spcPct val="115000"/>
              </a:lnSpc>
              <a:spcAft>
                <a:spcPts val="700"/>
              </a:spcAft>
            </a:pPr>
            <a:r>
              <a:rPr b="1" sz="1150">
                <a:solidFill>
                  <a:srgbClr val="282828"/>
                </a:solidFill>
                <a:latin typeface="Arial"/>
              </a:rPr>
              <a:t>• Khác biệt với QCNN (Cong 2019): </a:t>
            </a:r>
            <a:r>
              <a:rPr sz="1150">
                <a:solidFill>
                  <a:srgbClr val="282828"/>
                </a:solidFill>
                <a:latin typeface="Arial"/>
              </a:rPr>
              <a:t>QCNN lượng tử hóa toàn mạng; Quanvolution là kiến trúc lai — mạch lượng tử trích xuất đặc trưng, phân loại do head cổ điển đảm nhiệm.</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Thiên kiến Quy nạp Lượng tử (Quantum Inductive Bias)</a:t>
            </a:r>
          </a:p>
          <a:p>
            <a:pPr>
              <a:lnSpc>
                <a:spcPct val="115000"/>
              </a:lnSpc>
              <a:spcAft>
                <a:spcPts val="700"/>
              </a:spcAft>
            </a:pPr>
            <a:r>
              <a:rPr b="1" sz="1150">
                <a:solidFill>
                  <a:srgbClr val="282828"/>
                </a:solidFill>
                <a:latin typeface="Arial"/>
              </a:rPr>
              <a:t>• Bản chất quy nạp (Kübler et al. 2021): </a:t>
            </a:r>
            <a:r>
              <a:rPr sz="1150">
                <a:solidFill>
                  <a:srgbClr val="282828"/>
                </a:solidFill>
                <a:latin typeface="Arial"/>
              </a:rPr>
              <a:t>Mạch lượng tử sở hữu inductive bias riêng, đặc biệt hiệu quả trên các tương quan topo phức tạp.</a:t>
            </a:r>
          </a:p>
          <a:p>
            <a:pPr>
              <a:lnSpc>
                <a:spcPct val="115000"/>
              </a:lnSpc>
              <a:spcAft>
                <a:spcPts val="700"/>
              </a:spcAft>
            </a:pPr>
            <a:r>
              <a:rPr b="1" sz="1150">
                <a:solidFill>
                  <a:srgbClr val="282828"/>
                </a:solidFill>
                <a:latin typeface="Arial"/>
              </a:rPr>
              <a:t>• Mệnh đề 'Power of Data' (Huang et al. 2021): </a:t>
            </a:r>
            <a:r>
              <a:rPr sz="1150">
                <a:solidFill>
                  <a:srgbClr val="282828"/>
                </a:solidFill>
                <a:latin typeface="Arial"/>
              </a:rPr>
              <a:t>Lợi thế lượng tử phụ thuộc chặt vào bản chất dữ liệu; dữ liệu lớn có thể xóa nhòa ưu thế của mạch lượng tử nông.</a:t>
            </a:r>
          </a:p>
          <a:p>
            <a:pPr>
              <a:lnSpc>
                <a:spcPct val="115000"/>
              </a:lnSpc>
              <a:spcAft>
                <a:spcPts val="700"/>
              </a:spcAft>
            </a:pPr>
            <a:r>
              <a:rPr b="1" sz="1150">
                <a:solidFill>
                  <a:srgbClr val="282828"/>
                </a:solidFill>
                <a:latin typeface="Arial"/>
              </a:rPr>
              <a:t>• Triết lý đánh giá (Schuld &amp; Killoran 2022): </a:t>
            </a:r>
            <a:r>
              <a:rPr sz="1150">
                <a:solidFill>
                  <a:srgbClr val="282828"/>
                </a:solidFill>
                <a:latin typeface="Arial"/>
              </a:rPr>
              <a:t>Mục tiêu QML hiện nay không phải thổi phồng 'Quantum Advantage', mà là hiểu rõ khi nào và vì sao thành phần lượng tử có lợi.</a:t>
            </a:r>
          </a:p>
          <a:p>
            <a:pPr>
              <a:lnSpc>
                <a:spcPct val="115000"/>
              </a:lnSpc>
              <a:spcAft>
                <a:spcPts val="700"/>
              </a:spcAft>
            </a:pPr>
            <a:r>
              <a:rPr b="1" sz="1150">
                <a:solidFill>
                  <a:srgbClr val="282828"/>
                </a:solidFill>
                <a:latin typeface="Arial"/>
              </a:rPr>
              <a:t>• Đóng góp của đề tài: </a:t>
            </a:r>
            <a:r>
              <a:rPr sz="1150">
                <a:solidFill>
                  <a:srgbClr val="282828"/>
                </a:solidFill>
                <a:latin typeface="Arial"/>
              </a:rPr>
              <a:t>Lần đầu tiên phân định ranh giới hiệu quả theo 2 thái cực dữ liệu (nhỏ/lệch lớp vs lớn/đa lớp).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1: BỐI CẢNH &amp; ĐỘNG LỰC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Đề tài giải quyết 3 khoảng trống lớn của literature thông qua khung benchmark đối xứng 1:1</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4 / 22</a:t>
            </a:r>
          </a:p>
        </p:txBody>
      </p:sp>
      <p:sp>
        <p:nvSpPr>
          <p:cNvPr id="8" name="Rounded Rectangle 7"/>
          <p:cNvSpPr/>
          <p:nvPr/>
        </p:nvSpPr>
        <p:spPr>
          <a:xfrm>
            <a:off x="731520" y="1417320"/>
            <a:ext cx="3328416" cy="4663440"/>
          </a:xfrm>
          <a:prstGeom prst="roundRect">
            <a:avLst/>
          </a:prstGeom>
          <a:solidFill>
            <a:srgbClr val="F6F9FC"/>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L1: Baseline Bất đối xứng</a:t>
            </a:r>
          </a:p>
          <a:p>
            <a:pPr>
              <a:lnSpc>
                <a:spcPct val="115000"/>
              </a:lnSpc>
              <a:spcAft>
                <a:spcPts val="700"/>
              </a:spcAft>
            </a:pPr>
            <a:r>
              <a:rPr b="1" sz="1150">
                <a:solidFill>
                  <a:srgbClr val="282828"/>
                </a:solidFill>
                <a:latin typeface="Arial"/>
              </a:rPr>
              <a:t>• Thực trạng: </a:t>
            </a:r>
            <a:r>
              <a:rPr sz="1150">
                <a:solidFill>
                  <a:srgbClr val="282828"/>
                </a:solidFill>
                <a:latin typeface="Arial"/>
              </a:rPr>
              <a:t>Literature so sánh với các CNN cổ điển tùy tiện, chênh lệch hàng nghìn tham số, gây sai lệch kết luận.</a:t>
            </a:r>
          </a:p>
          <a:p>
            <a:pPr>
              <a:lnSpc>
                <a:spcPct val="115000"/>
              </a:lnSpc>
              <a:spcAft>
                <a:spcPts val="700"/>
              </a:spcAft>
            </a:pPr>
            <a:r>
              <a:rPr b="1" sz="1150">
                <a:solidFill>
                  <a:srgbClr val="282828"/>
                </a:solidFill>
                <a:latin typeface="Arial"/>
              </a:rPr>
              <a:t>• Giải pháp đề tài: </a:t>
            </a:r>
            <a:r>
              <a:rPr sz="1150">
                <a:solidFill>
                  <a:srgbClr val="282828"/>
                </a:solidFill>
                <a:latin typeface="Arial"/>
              </a:rPr>
              <a:t>Thiết kế baseline CNN đối xứng 1:1: cùng đầu ra 784 chiều, cùng classifier head, chênh lệch toàn mạng đúng 20 tham số Conv2D.</a:t>
            </a:r>
          </a:p>
          <a:p>
            <a:pPr>
              <a:lnSpc>
                <a:spcPct val="115000"/>
              </a:lnSpc>
              <a:spcAft>
                <a:spcPts val="700"/>
              </a:spcAft>
            </a:pPr>
            <a:r>
              <a:rPr b="1" sz="1150">
                <a:solidFill>
                  <a:srgbClr val="282828"/>
                </a:solidFill>
                <a:latin typeface="Arial"/>
              </a:rPr>
              <a:t>• Ý nghĩa: </a:t>
            </a:r>
            <a:r>
              <a:rPr sz="1150">
                <a:solidFill>
                  <a:srgbClr val="282828"/>
                </a:solidFill>
                <a:latin typeface="Arial"/>
              </a:rPr>
              <a:t>Mọi chênh lệch hiệu năng đều quy về bản chất phép biến đổi đặc trưng.</a:t>
            </a:r>
          </a:p>
        </p:txBody>
      </p:sp>
      <p:sp>
        <p:nvSpPr>
          <p:cNvPr id="10" name="Rounded Rectangle 9"/>
          <p:cNvSpPr/>
          <p:nvPr/>
        </p:nvSpPr>
        <p:spPr>
          <a:xfrm>
            <a:off x="4425696" y="1417320"/>
            <a:ext cx="3328416" cy="4663440"/>
          </a:xfrm>
          <a:prstGeom prst="roundRect">
            <a:avLst/>
          </a:prstGeom>
          <a:solidFill>
            <a:srgbClr val="F6F9FC"/>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L2: Đánh giá Thiếu Thống kê</a:t>
            </a:r>
          </a:p>
          <a:p>
            <a:pPr>
              <a:lnSpc>
                <a:spcPct val="115000"/>
              </a:lnSpc>
              <a:spcAft>
                <a:spcPts val="700"/>
              </a:spcAft>
            </a:pPr>
            <a:r>
              <a:rPr b="1" sz="1150">
                <a:solidFill>
                  <a:srgbClr val="282828"/>
                </a:solidFill>
                <a:latin typeface="Arial"/>
              </a:rPr>
              <a:t>• Thực trạng: </a:t>
            </a:r>
            <a:r>
              <a:rPr sz="1150">
                <a:solidFill>
                  <a:srgbClr val="282828"/>
                </a:solidFill>
                <a:latin typeface="Arial"/>
              </a:rPr>
              <a:t>Phần lớn công trình QML chỉ chạy 1–3 runs ngẫu nhiên, thiếu độ lệch chuẩn, khoảng tin cậy và kiểm định.</a:t>
            </a:r>
          </a:p>
          <a:p>
            <a:pPr>
              <a:lnSpc>
                <a:spcPct val="115000"/>
              </a:lnSpc>
              <a:spcAft>
                <a:spcPts val="700"/>
              </a:spcAft>
            </a:pPr>
            <a:r>
              <a:rPr b="1" sz="1150">
                <a:solidFill>
                  <a:srgbClr val="282828"/>
                </a:solidFill>
                <a:latin typeface="Arial"/>
              </a:rPr>
              <a:t>• Giải pháp đề tài: </a:t>
            </a:r>
            <a:r>
              <a:rPr sz="1150">
                <a:solidFill>
                  <a:srgbClr val="282828"/>
                </a:solidFill>
                <a:latin typeface="Arial"/>
              </a:rPr>
              <a:t>10 hạt giống cố định (S = {0, 42, ..., 2222}), kiểm định kép Paired t-test + Wilcoxon, đo Cohen's d và CI 95%.</a:t>
            </a:r>
          </a:p>
          <a:p>
            <a:pPr>
              <a:lnSpc>
                <a:spcPct val="115000"/>
              </a:lnSpc>
              <a:spcAft>
                <a:spcPts val="700"/>
              </a:spcAft>
            </a:pPr>
            <a:r>
              <a:rPr b="1" sz="1150">
                <a:solidFill>
                  <a:srgbClr val="282828"/>
                </a:solidFill>
                <a:latin typeface="Arial"/>
              </a:rPr>
              <a:t>• Ý nghĩa: </a:t>
            </a:r>
            <a:r>
              <a:rPr sz="1150">
                <a:solidFill>
                  <a:srgbClr val="282828"/>
                </a:solidFill>
                <a:latin typeface="Arial"/>
              </a:rPr>
              <a:t>Loại trừ triệt để yếu tố may rủi do khởi tạo ngẫu nhiên.</a:t>
            </a:r>
          </a:p>
        </p:txBody>
      </p:sp>
      <p:sp>
        <p:nvSpPr>
          <p:cNvPr id="12" name="Rounded Rectangle 11"/>
          <p:cNvSpPr/>
          <p:nvPr/>
        </p:nvSpPr>
        <p:spPr>
          <a:xfrm>
            <a:off x="8119872" y="1417320"/>
            <a:ext cx="3328416" cy="4663440"/>
          </a:xfrm>
          <a:prstGeom prst="roundRect">
            <a:avLst/>
          </a:prstGeom>
          <a:solidFill>
            <a:srgbClr val="F6F9FC"/>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L3: Mạch Tĩnh vs Tự học</a:t>
            </a:r>
          </a:p>
          <a:p>
            <a:pPr>
              <a:lnSpc>
                <a:spcPct val="115000"/>
              </a:lnSpc>
              <a:spcAft>
                <a:spcPts val="700"/>
              </a:spcAft>
            </a:pPr>
            <a:r>
              <a:rPr b="1" sz="1150">
                <a:solidFill>
                  <a:srgbClr val="282828"/>
                </a:solidFill>
                <a:latin typeface="Arial"/>
              </a:rPr>
              <a:t>• Thực trạng: </a:t>
            </a:r>
            <a:r>
              <a:rPr sz="1150">
                <a:solidFill>
                  <a:srgbClr val="282828"/>
                </a:solidFill>
                <a:latin typeface="Arial"/>
              </a:rPr>
              <a:t>Tranh luận giữa cố định góc quay (Fixed) và học vi phân (Trainable) chưa được lượng hóa trên cùng bài toán.</a:t>
            </a:r>
          </a:p>
          <a:p>
            <a:pPr>
              <a:lnSpc>
                <a:spcPct val="115000"/>
              </a:lnSpc>
              <a:spcAft>
                <a:spcPts val="700"/>
              </a:spcAft>
            </a:pPr>
            <a:r>
              <a:rPr b="1" sz="1150">
                <a:solidFill>
                  <a:srgbClr val="282828"/>
                </a:solidFill>
                <a:latin typeface="Arial"/>
              </a:rPr>
              <a:t>• Giải pháp đề tài: </a:t>
            </a:r>
            <a:r>
              <a:rPr sz="1150">
                <a:solidFill>
                  <a:srgbClr val="282828"/>
                </a:solidFill>
                <a:latin typeface="Arial"/>
              </a:rPr>
              <a:t>Ma trận 3 tầng (Classical CNN, Fixed Quanv, Trainable Quanv) đo đạc chi phí phần cứng CPU chính xác.</a:t>
            </a:r>
          </a:p>
          <a:p>
            <a:pPr>
              <a:lnSpc>
                <a:spcPct val="115000"/>
              </a:lnSpc>
              <a:spcAft>
                <a:spcPts val="700"/>
              </a:spcAft>
            </a:pPr>
            <a:r>
              <a:rPr b="1" sz="1150">
                <a:solidFill>
                  <a:srgbClr val="282828"/>
                </a:solidFill>
                <a:latin typeface="Arial"/>
              </a:rPr>
              <a:t>• Ý nghĩa: </a:t>
            </a:r>
            <a:r>
              <a:rPr sz="1150">
                <a:solidFill>
                  <a:srgbClr val="282828"/>
                </a:solidFill>
                <a:latin typeface="Arial"/>
              </a:rPr>
              <a:t>Xác định rõ sự đánh đổi giữa dung lượng biểu diễn và chi phí tính toán.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Kiến trúc pipeline đối xứng 1:1 cố định hoàn toàn Classifier Head giữa hai phía</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5 / 22</a:t>
            </a:r>
          </a:p>
        </p:txBody>
      </p:sp>
      <p:pic>
        <p:nvPicPr>
          <p:cNvPr id="8" name="Picture 7" descr="Fig1_quanvolution_pipeline.png"/>
          <p:cNvPicPr>
            <a:picLocks noChangeAspect="1"/>
          </p:cNvPicPr>
          <p:nvPr/>
        </p:nvPicPr>
        <p:blipFill>
          <a:blip r:embed="rId2"/>
          <a:stretch>
            <a:fillRect/>
          </a:stretch>
        </p:blipFill>
        <p:spPr>
          <a:xfrm>
            <a:off x="731520" y="1508760"/>
            <a:ext cx="5852160" cy="2649068"/>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rã Tham số &amp; Đối xứng Thiết kế</a:t>
            </a:r>
          </a:p>
          <a:p>
            <a:pPr>
              <a:lnSpc>
                <a:spcPct val="115000"/>
              </a:lnSpc>
              <a:spcAft>
                <a:spcPts val="700"/>
              </a:spcAft>
            </a:pPr>
            <a:r>
              <a:rPr b="1" sz="1150">
                <a:solidFill>
                  <a:srgbClr val="282828"/>
                </a:solidFill>
                <a:latin typeface="Arial"/>
              </a:rPr>
              <a:t>• Classifier Head cố định 100%: </a:t>
            </a:r>
            <a:r>
              <a:rPr sz="1150">
                <a:solidFill>
                  <a:srgbClr val="282828"/>
                </a:solidFill>
                <a:latin typeface="Arial"/>
              </a:rPr>
              <a:t>BatchNorm2d(4) → ReLU → Flatten → Linear(784 → K). Cấu trúc giống hệt nhau giữa Classical CNN và Quanvolution.</a:t>
            </a:r>
          </a:p>
          <a:p>
            <a:pPr>
              <a:lnSpc>
                <a:spcPct val="115000"/>
              </a:lnSpc>
              <a:spcAft>
                <a:spcPts val="700"/>
              </a:spcAft>
            </a:pPr>
            <a:r>
              <a:rPr b="1" sz="1150">
                <a:solidFill>
                  <a:srgbClr val="282828"/>
                </a:solidFill>
                <a:latin typeface="Arial"/>
              </a:rPr>
              <a:t>• BreastMNIST (K=2): </a:t>
            </a:r>
            <a:r>
              <a:rPr sz="1150">
                <a:solidFill>
                  <a:srgbClr val="282828"/>
                </a:solidFill>
                <a:latin typeface="Arial"/>
              </a:rPr>
              <a:t>Head Linear = 1,570 params (tổng Head+BN = 1,578). Toàn mạng CNN = 1,598 params. Chênh lệch đúng 20 tham số Conv2D.</a:t>
            </a:r>
          </a:p>
          <a:p>
            <a:pPr>
              <a:lnSpc>
                <a:spcPct val="115000"/>
              </a:lnSpc>
              <a:spcAft>
                <a:spcPts val="700"/>
              </a:spcAft>
            </a:pPr>
            <a:r>
              <a:rPr b="1" sz="1150">
                <a:solidFill>
                  <a:srgbClr val="282828"/>
                </a:solidFill>
                <a:latin typeface="Arial"/>
              </a:rPr>
              <a:t>• OCTMNIST (K=4): </a:t>
            </a:r>
            <a:r>
              <a:rPr sz="1150">
                <a:solidFill>
                  <a:srgbClr val="282828"/>
                </a:solidFill>
                <a:latin typeface="Arial"/>
              </a:rPr>
              <a:t>Head Linear = 3,140 params (tổng Head+BN = 3,148). Toàn mạng CNN = 3,168 params. Chênh lệch đúng 20 tham số Conv2D.</a:t>
            </a:r>
          </a:p>
          <a:p>
            <a:pPr>
              <a:lnSpc>
                <a:spcPct val="115000"/>
              </a:lnSpc>
              <a:spcAft>
                <a:spcPts val="700"/>
              </a:spcAft>
            </a:pPr>
            <a:r>
              <a:rPr b="1" sz="1150">
                <a:solidFill>
                  <a:srgbClr val="282828"/>
                </a:solidFill>
                <a:latin typeface="Arial"/>
              </a:rPr>
              <a:t>• Mạch Quanv Tĩnh: </a:t>
            </a:r>
            <a:r>
              <a:rPr sz="1150">
                <a:solidFill>
                  <a:srgbClr val="282828"/>
                </a:solidFill>
                <a:latin typeface="Arial"/>
              </a:rPr>
              <a:t>0 tham số học được (kernel hoàn toàn đóng băng).</a:t>
            </a:r>
          </a:p>
          <a:p>
            <a:pPr>
              <a:lnSpc>
                <a:spcPct val="115000"/>
              </a:lnSpc>
              <a:spcAft>
                <a:spcPts val="700"/>
              </a:spcAft>
            </a:pPr>
            <a:r>
              <a:rPr b="1" sz="1150">
                <a:solidFill>
                  <a:srgbClr val="282828"/>
                </a:solidFill>
                <a:latin typeface="Arial"/>
              </a:rPr>
              <a:t>• Mạch Quanv Tự học: </a:t>
            </a:r>
            <a:r>
              <a:rPr sz="1150">
                <a:solidFill>
                  <a:srgbClr val="282828"/>
                </a:solidFill>
                <a:latin typeface="Arial"/>
              </a:rPr>
              <a:t>8 tham số (basic_L2) hoặc 24 tham số (strongly_L2) học đồng thời với head qua Adam lr kép.</a:t>
            </a:r>
          </a:p>
          <a:p>
            <a:pPr>
              <a:lnSpc>
                <a:spcPct val="115000"/>
              </a:lnSpc>
              <a:spcAft>
                <a:spcPts val="700"/>
              </a:spcAft>
            </a:pPr>
            <a:r>
              <a:rPr b="1" sz="1150">
                <a:solidFill>
                  <a:srgbClr val="282828"/>
                </a:solidFill>
                <a:latin typeface="Arial"/>
              </a:rPr>
              <a:t>• Kết luận: </a:t>
            </a:r>
            <a:r>
              <a:rPr sz="1150">
                <a:solidFill>
                  <a:srgbClr val="282828"/>
                </a:solidFill>
                <a:latin typeface="Arial"/>
              </a:rPr>
              <a:t>Loại bỏ hoàn toàn thiên kiến dung lượng tham số (Capacity Bias).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Ba họ ansatz khảo sát biểu diễn từ mạch đơn giản có cấu trúc đến mạch vướng víu toàn cục</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6 / 22</a:t>
            </a:r>
          </a:p>
        </p:txBody>
      </p:sp>
      <p:sp>
        <p:nvSpPr>
          <p:cNvPr id="8" name="Rounded Rectangle 7"/>
          <p:cNvSpPr/>
          <p:nvPr/>
        </p:nvSpPr>
        <p:spPr>
          <a:xfrm>
            <a:off x="731520" y="1417320"/>
            <a:ext cx="10728655" cy="1051560"/>
          </a:xfrm>
          <a:prstGeom prst="roundRect">
            <a:avLst/>
          </a:prstGeom>
          <a:solidFill>
            <a:srgbClr val="FEFAEB"/>
          </a:solidFill>
          <a:ln w="15240">
            <a:solidFill>
              <a:srgbClr val="E6B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10271455" cy="649224"/>
          </a:xfrm>
          <a:prstGeom prst="rect">
            <a:avLst/>
          </a:prstGeom>
          <a:noFill/>
        </p:spPr>
        <p:txBody>
          <a:bodyPr wrap="square" lIns="0" rIns="0" tIns="0" bIns="0">
            <a:spAutoFit/>
          </a:bodyPr>
          <a:lstStyle/>
          <a:p>
            <a:pPr>
              <a:spcAft>
                <a:spcPts val="1000"/>
              </a:spcAft>
              <a:defRPr sz="1300" b="1">
                <a:solidFill>
                  <a:srgbClr val="1F4E79"/>
                </a:solidFill>
                <a:latin typeface="Arial"/>
              </a:defRPr>
            </a:pPr>
            <a:r>
              <a:t>Quy trình Mã hóa Góc &amp; Phép đo Kỳ vọng Pauli-Z</a:t>
            </a:r>
          </a:p>
          <a:p>
            <a:pPr>
              <a:lnSpc>
                <a:spcPct val="115000"/>
              </a:lnSpc>
              <a:spcAft>
                <a:spcPts val="700"/>
              </a:spcAft>
            </a:pPr>
            <a:r>
              <a:rPr b="1" sz="1150">
                <a:solidFill>
                  <a:srgbClr val="282828"/>
                </a:solidFill>
                <a:latin typeface="Arial"/>
              </a:rPr>
              <a:t>• Mã hóa góc (Angle Encoding): </a:t>
            </a:r>
            <a:r>
              <a:rPr sz="1150">
                <a:solidFill>
                  <a:srgbClr val="282828"/>
                </a:solidFill>
                <a:latin typeface="Arial"/>
              </a:rPr>
              <a:t>Mỗi patch 2×2 x = (x0, x1, x2, x3) ∈ [0, 1] được nạp vào trạng thái |ψ(x)⟩ = ⊗_i RY(π·x_i)|0⟩.</a:t>
            </a:r>
          </a:p>
          <a:p>
            <a:pPr>
              <a:lnSpc>
                <a:spcPct val="115000"/>
              </a:lnSpc>
              <a:spcAft>
                <a:spcPts val="700"/>
              </a:spcAft>
            </a:pPr>
            <a:r>
              <a:rPr b="1" sz="1150">
                <a:solidFill>
                  <a:srgbClr val="282828"/>
                </a:solidFill>
                <a:latin typeface="Arial"/>
              </a:rPr>
              <a:t>• Biến đổi &amp; Phép đo: </a:t>
            </a:r>
            <a:r>
              <a:rPr sz="1150">
                <a:solidFill>
                  <a:srgbClr val="282828"/>
                </a:solidFill>
                <a:latin typeface="Arial"/>
              </a:rPr>
              <a:t>Qua ansatz U(θ), thu tensor đặc trưng: Fi(u, v) = ⟨Φ(x, θ)| Z_i |Φ(x, θ)⟩ ∈ [-1, 1] với i ∈ {0, 1, 2, 3}.</a:t>
            </a:r>
          </a:p>
        </p:txBody>
      </p:sp>
      <p:sp>
        <p:nvSpPr>
          <p:cNvPr id="10" name="Rounded Rectangle 9"/>
          <p:cNvSpPr/>
          <p:nvPr/>
        </p:nvSpPr>
        <p:spPr>
          <a:xfrm>
            <a:off x="731520" y="2651760"/>
            <a:ext cx="3328416" cy="342900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52928"/>
            <a:ext cx="2871216" cy="3026664"/>
          </a:xfrm>
          <a:prstGeom prst="rect">
            <a:avLst/>
          </a:prstGeom>
          <a:noFill/>
        </p:spPr>
        <p:txBody>
          <a:bodyPr wrap="square" lIns="0" rIns="0" tIns="0" bIns="0">
            <a:spAutoFit/>
          </a:bodyPr>
          <a:lstStyle/>
          <a:p>
            <a:pPr>
              <a:spcAft>
                <a:spcPts val="1000"/>
              </a:spcAft>
              <a:defRPr sz="1300" b="1">
                <a:solidFill>
                  <a:srgbClr val="1F4E79"/>
                </a:solidFill>
                <a:latin typeface="Arial"/>
              </a:defRPr>
            </a:pPr>
            <a:r>
              <a:t>1. BasicEntanglerLayers</a:t>
            </a:r>
          </a:p>
          <a:p>
            <a:pPr>
              <a:lnSpc>
                <a:spcPct val="115000"/>
              </a:lnSpc>
              <a:spcAft>
                <a:spcPts val="700"/>
              </a:spcAft>
            </a:pPr>
            <a:r>
              <a:rPr b="1" sz="1150">
                <a:solidFill>
                  <a:srgbClr val="282828"/>
                </a:solidFill>
                <a:latin typeface="Arial"/>
              </a:rPr>
              <a:t>• Cấu trúc mạch: </a:t>
            </a:r>
            <a:r>
              <a:rPr sz="1150">
                <a:solidFill>
                  <a:srgbClr val="282828"/>
                </a:solidFill>
                <a:latin typeface="Arial"/>
              </a:rPr>
              <a:t>Cổng quay RY(θ) + vòng CNOT lân cận (qubit 0-1, 1-2, 2-3, 3-0).</a:t>
            </a:r>
          </a:p>
          <a:p>
            <a:pPr>
              <a:lnSpc>
                <a:spcPct val="115000"/>
              </a:lnSpc>
              <a:spcAft>
                <a:spcPts val="700"/>
              </a:spcAft>
            </a:pPr>
            <a:r>
              <a:rPr b="1" sz="1150">
                <a:solidFill>
                  <a:srgbClr val="282828"/>
                </a:solidFill>
                <a:latin typeface="Arial"/>
              </a:rPr>
              <a:t>• Số tham số: </a:t>
            </a:r>
            <a:r>
              <a:rPr sz="1150">
                <a:solidFill>
                  <a:srgbClr val="282828"/>
                </a:solidFill>
                <a:latin typeface="Arial"/>
              </a:rPr>
              <a:t>4 tham số / tầng (với L=2: 8 tham số học được).</a:t>
            </a:r>
          </a:p>
          <a:p>
            <a:pPr>
              <a:lnSpc>
                <a:spcPct val="115000"/>
              </a:lnSpc>
              <a:spcAft>
                <a:spcPts val="700"/>
              </a:spcAft>
            </a:pPr>
            <a:r>
              <a:rPr b="1" sz="1150">
                <a:solidFill>
                  <a:srgbClr val="282828"/>
                </a:solidFill>
                <a:latin typeface="Arial"/>
              </a:rPr>
              <a:t>• Đặc tính: </a:t>
            </a:r>
            <a:r>
              <a:rPr sz="1150">
                <a:solidFill>
                  <a:srgbClr val="282828"/>
                </a:solidFill>
                <a:latin typeface="Arial"/>
              </a:rPr>
              <a:t>Đơn giản, bảo toàn tính cục bộ, tối ưu cho dữ liệu quy mô nhỏ.</a:t>
            </a:r>
          </a:p>
        </p:txBody>
      </p:sp>
      <p:sp>
        <p:nvSpPr>
          <p:cNvPr id="12" name="Rounded Rectangle 11"/>
          <p:cNvSpPr/>
          <p:nvPr/>
        </p:nvSpPr>
        <p:spPr>
          <a:xfrm>
            <a:off x="4425696" y="2651760"/>
            <a:ext cx="3328416" cy="342900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2852928"/>
            <a:ext cx="2871216" cy="3026664"/>
          </a:xfrm>
          <a:prstGeom prst="rect">
            <a:avLst/>
          </a:prstGeom>
          <a:noFill/>
        </p:spPr>
        <p:txBody>
          <a:bodyPr wrap="square" lIns="0" rIns="0" tIns="0" bIns="0">
            <a:spAutoFit/>
          </a:bodyPr>
          <a:lstStyle/>
          <a:p>
            <a:pPr>
              <a:spcAft>
                <a:spcPts val="1000"/>
              </a:spcAft>
              <a:defRPr sz="1300" b="1">
                <a:solidFill>
                  <a:srgbClr val="1F4E79"/>
                </a:solidFill>
                <a:latin typeface="Arial"/>
              </a:defRPr>
            </a:pPr>
            <a:r>
              <a:t>2. StronglyEntanglingLayers</a:t>
            </a:r>
          </a:p>
          <a:p>
            <a:pPr>
              <a:lnSpc>
                <a:spcPct val="115000"/>
              </a:lnSpc>
              <a:spcAft>
                <a:spcPts val="700"/>
              </a:spcAft>
            </a:pPr>
            <a:r>
              <a:rPr b="1" sz="1150">
                <a:solidFill>
                  <a:srgbClr val="282828"/>
                </a:solidFill>
                <a:latin typeface="Arial"/>
              </a:rPr>
              <a:t>• Cấu trúc mạch: </a:t>
            </a:r>
            <a:r>
              <a:rPr sz="1150">
                <a:solidFill>
                  <a:srgbClr val="282828"/>
                </a:solidFill>
                <a:latin typeface="Arial"/>
              </a:rPr>
              <a:t>Ba cổng quay tổng quát R(α, β, γ) trên mỗi qubit + CNOT mở rộng tầm xa.</a:t>
            </a:r>
          </a:p>
          <a:p>
            <a:pPr>
              <a:lnSpc>
                <a:spcPct val="115000"/>
              </a:lnSpc>
              <a:spcAft>
                <a:spcPts val="700"/>
              </a:spcAft>
            </a:pPr>
            <a:r>
              <a:rPr b="1" sz="1150">
                <a:solidFill>
                  <a:srgbClr val="282828"/>
                </a:solidFill>
                <a:latin typeface="Arial"/>
              </a:rPr>
              <a:t>• Số tham số: </a:t>
            </a:r>
            <a:r>
              <a:rPr sz="1150">
                <a:solidFill>
                  <a:srgbClr val="282828"/>
                </a:solidFill>
                <a:latin typeface="Arial"/>
              </a:rPr>
              <a:t>12 tham số / tầng (với L=2: 24 tham số học được).</a:t>
            </a:r>
          </a:p>
          <a:p>
            <a:pPr>
              <a:lnSpc>
                <a:spcPct val="115000"/>
              </a:lnSpc>
              <a:spcAft>
                <a:spcPts val="700"/>
              </a:spcAft>
            </a:pPr>
            <a:r>
              <a:rPr b="1" sz="1150">
                <a:solidFill>
                  <a:srgbClr val="282828"/>
                </a:solidFill>
                <a:latin typeface="Arial"/>
              </a:rPr>
              <a:t>• Đặc tính: </a:t>
            </a:r>
            <a:r>
              <a:rPr sz="1150">
                <a:solidFill>
                  <a:srgbClr val="282828"/>
                </a:solidFill>
                <a:latin typeface="Arial"/>
              </a:rPr>
              <a:t>Không gian Hilbert giàu vướng víu và siêu vị, độ biểu đạt cao nhất.</a:t>
            </a:r>
          </a:p>
        </p:txBody>
      </p:sp>
      <p:sp>
        <p:nvSpPr>
          <p:cNvPr id="14" name="Rounded Rectangle 13"/>
          <p:cNvSpPr/>
          <p:nvPr/>
        </p:nvSpPr>
        <p:spPr>
          <a:xfrm>
            <a:off x="8119872" y="2651760"/>
            <a:ext cx="3328416" cy="342900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8472" y="2852928"/>
            <a:ext cx="2871216" cy="3026664"/>
          </a:xfrm>
          <a:prstGeom prst="rect">
            <a:avLst/>
          </a:prstGeom>
          <a:noFill/>
        </p:spPr>
        <p:txBody>
          <a:bodyPr wrap="square" lIns="0" rIns="0" tIns="0" bIns="0">
            <a:spAutoFit/>
          </a:bodyPr>
          <a:lstStyle/>
          <a:p>
            <a:pPr>
              <a:spcAft>
                <a:spcPts val="1000"/>
              </a:spcAft>
              <a:defRPr sz="1300" b="1">
                <a:solidFill>
                  <a:srgbClr val="1F4E79"/>
                </a:solidFill>
                <a:latin typeface="Arial"/>
              </a:defRPr>
            </a:pPr>
            <a:r>
              <a:t>3. RandomLayers</a:t>
            </a:r>
          </a:p>
          <a:p>
            <a:pPr>
              <a:lnSpc>
                <a:spcPct val="115000"/>
              </a:lnSpc>
              <a:spcAft>
                <a:spcPts val="700"/>
              </a:spcAft>
            </a:pPr>
            <a:r>
              <a:rPr b="1" sz="1150">
                <a:solidFill>
                  <a:srgbClr val="282828"/>
                </a:solidFill>
                <a:latin typeface="Arial"/>
              </a:rPr>
              <a:t>• Cấu trúc mạch: </a:t>
            </a:r>
            <a:r>
              <a:rPr sz="1150">
                <a:solidFill>
                  <a:srgbClr val="282828"/>
                </a:solidFill>
                <a:latin typeface="Arial"/>
              </a:rPr>
              <a:t>Cổng quay Haar-random phân bố đều kết hợp CNOT ngẫu nhiên cố định.</a:t>
            </a:r>
          </a:p>
          <a:p>
            <a:pPr>
              <a:lnSpc>
                <a:spcPct val="115000"/>
              </a:lnSpc>
              <a:spcAft>
                <a:spcPts val="700"/>
              </a:spcAft>
            </a:pPr>
            <a:r>
              <a:rPr b="1" sz="1150">
                <a:solidFill>
                  <a:srgbClr val="282828"/>
                </a:solidFill>
                <a:latin typeface="Arial"/>
              </a:rPr>
              <a:t>• Số tham số: </a:t>
            </a:r>
            <a:r>
              <a:rPr sz="1150">
                <a:solidFill>
                  <a:srgbClr val="282828"/>
                </a:solidFill>
                <a:latin typeface="Arial"/>
              </a:rPr>
              <a:t>0 tham số học được (kernel đóng băng hoàn toàn).</a:t>
            </a:r>
          </a:p>
          <a:p>
            <a:pPr>
              <a:lnSpc>
                <a:spcPct val="115000"/>
              </a:lnSpc>
              <a:spcAft>
                <a:spcPts val="700"/>
              </a:spcAft>
            </a:pPr>
            <a:r>
              <a:rPr b="1" sz="1150">
                <a:solidFill>
                  <a:srgbClr val="282828"/>
                </a:solidFill>
                <a:latin typeface="Arial"/>
              </a:rPr>
              <a:t>• Đặc tính: </a:t>
            </a:r>
            <a:r>
              <a:rPr sz="1150">
                <a:solidFill>
                  <a:srgbClr val="282828"/>
                </a:solidFill>
                <a:latin typeface="Arial"/>
              </a:rPr>
              <a:t>Phép chiếu ngẫu nhiên phi tuyến; quán quân khảo sát GĐ2 trên OCT.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Hệ thống 6 chỉ số đánh giá đa chiều bảo đảm độ tin cậy trên bài toán y tế mất cân bằng</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7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Nhóm Chỉ số Phân loại Ngưỡng (Threshold Metrics)</a:t>
            </a:r>
          </a:p>
          <a:p>
            <a:pPr>
              <a:lnSpc>
                <a:spcPct val="115000"/>
              </a:lnSpc>
              <a:spcAft>
                <a:spcPts val="700"/>
              </a:spcAft>
            </a:pPr>
            <a:r>
              <a:rPr b="1" sz="1150">
                <a:solidFill>
                  <a:srgbClr val="282828"/>
                </a:solidFill>
                <a:latin typeface="Arial"/>
              </a:rPr>
              <a:t>• Accuracy = (TP + TN) / Tổng: </a:t>
            </a:r>
            <a:r>
              <a:rPr sz="1150">
                <a:solidFill>
                  <a:srgbClr val="282828"/>
                </a:solidFill>
                <a:latin typeface="Arial"/>
              </a:rPr>
              <a:t>Thước đo tổng thể; bị chi phối bởi lớp đa số (lành tính), chỉ mang tính tham khảo sơ bộ.</a:t>
            </a:r>
          </a:p>
          <a:p>
            <a:pPr>
              <a:lnSpc>
                <a:spcPct val="115000"/>
              </a:lnSpc>
              <a:spcAft>
                <a:spcPts val="700"/>
              </a:spcAft>
            </a:pPr>
            <a:r>
              <a:rPr b="1" sz="1150">
                <a:solidFill>
                  <a:srgbClr val="282828"/>
                </a:solidFill>
                <a:latin typeface="Arial"/>
              </a:rPr>
              <a:t>• Balanced Accuracy = (Sens + Spec) / 2: </a:t>
            </a:r>
            <a:r>
              <a:rPr sz="1150">
                <a:solidFill>
                  <a:srgbClr val="282828"/>
                </a:solidFill>
                <a:latin typeface="Arial"/>
              </a:rPr>
              <a:t>Trung bình cộng độ nhận diện đúng trên từng lớp; phản ánh công bằng hiệu năng lâm sàng.</a:t>
            </a:r>
          </a:p>
          <a:p>
            <a:pPr>
              <a:lnSpc>
                <a:spcPct val="115000"/>
              </a:lnSpc>
              <a:spcAft>
                <a:spcPts val="700"/>
              </a:spcAft>
            </a:pPr>
            <a:r>
              <a:rPr b="1" sz="1150">
                <a:solidFill>
                  <a:srgbClr val="282828"/>
                </a:solidFill>
                <a:latin typeface="Arial"/>
              </a:rPr>
              <a:t>• F1-score (Macro) = (1/K) · ∑ F1_k: </a:t>
            </a:r>
            <a:r>
              <a:rPr sz="1150">
                <a:solidFill>
                  <a:srgbClr val="282828"/>
                </a:solidFill>
                <a:latin typeface="Arial"/>
              </a:rPr>
              <a:t>Trung bình điều hòa giữa Precision và Recall; quy ước macro phạt nặng mô hình bỏ sót lớp thiểu số.</a:t>
            </a:r>
          </a:p>
          <a:p>
            <a:pPr>
              <a:lnSpc>
                <a:spcPct val="115000"/>
              </a:lnSpc>
              <a:spcAft>
                <a:spcPts val="700"/>
              </a:spcAft>
            </a:pPr>
            <a:r>
              <a:rPr b="1" sz="1150">
                <a:solidFill>
                  <a:srgbClr val="282828"/>
                </a:solidFill>
                <a:latin typeface="Arial"/>
              </a:rPr>
              <a:t>• MCC = (TP·TN − FP·FN) / √[...]: </a:t>
            </a:r>
            <a:r>
              <a:rPr sz="1150">
                <a:solidFill>
                  <a:srgbClr val="282828"/>
                </a:solidFill>
                <a:latin typeface="Arial"/>
              </a:rPr>
              <a:t>Hệ số tương quan Matthews [-1, +1]; chỉ số khắt khe nhất, chỉ cao khi dự đoán đúng cả 4 góc ma trận nhầm lẫn.</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Nhóm Chỉ số Xếp hạng Lâm sàng (Ranking Metrics)</a:t>
            </a:r>
          </a:p>
          <a:p>
            <a:pPr>
              <a:lnSpc>
                <a:spcPct val="115000"/>
              </a:lnSpc>
              <a:spcAft>
                <a:spcPts val="700"/>
              </a:spcAft>
            </a:pPr>
            <a:r>
              <a:rPr b="1" sz="1150">
                <a:solidFill>
                  <a:srgbClr val="282828"/>
                </a:solidFill>
                <a:latin typeface="Arial"/>
              </a:rPr>
              <a:t>• ROC-AUC (One-vs-Rest Macro): </a:t>
            </a:r>
            <a:r>
              <a:rPr sz="1150">
                <a:solidFill>
                  <a:srgbClr val="282828"/>
                </a:solidFill>
                <a:latin typeface="Arial"/>
              </a:rPr>
              <a:t>Đo diện tích dưới đường cong TPR vs FPR trên mọi ngưỡng; xác suất xếp hạng mẫu dương cao hơn mẫu âm ngẫu nhiên.</a:t>
            </a:r>
          </a:p>
          <a:p>
            <a:pPr>
              <a:lnSpc>
                <a:spcPct val="115000"/>
              </a:lnSpc>
              <a:spcAft>
                <a:spcPts val="700"/>
              </a:spcAft>
            </a:pPr>
            <a:r>
              <a:rPr b="1" sz="1150">
                <a:solidFill>
                  <a:srgbClr val="282828"/>
                </a:solidFill>
                <a:latin typeface="Arial"/>
              </a:rPr>
              <a:t>• Quy ước Đa lớp: </a:t>
            </a:r>
            <a:r>
              <a:rPr sz="1150">
                <a:solidFill>
                  <a:srgbClr val="282828"/>
                </a:solidFill>
                <a:latin typeface="Arial"/>
              </a:rPr>
              <a:t>Áp dụng cơ chế One-vs-Rest trung bình vĩ mô macro cho bài toán OCTMNIST 4 lớp bệnh lý.</a:t>
            </a:r>
          </a:p>
          <a:p>
            <a:pPr>
              <a:lnSpc>
                <a:spcPct val="115000"/>
              </a:lnSpc>
              <a:spcAft>
                <a:spcPts val="700"/>
              </a:spcAft>
            </a:pPr>
            <a:r>
              <a:rPr b="1" sz="1150">
                <a:solidFill>
                  <a:srgbClr val="282828"/>
                </a:solidFill>
                <a:latin typeface="Arial"/>
              </a:rPr>
              <a:t>• PR-AUC (Precision-Recall AUC): </a:t>
            </a:r>
            <a:r>
              <a:rPr sz="1150">
                <a:solidFill>
                  <a:srgbClr val="282828"/>
                </a:solidFill>
                <a:latin typeface="Arial"/>
              </a:rPr>
              <a:t>CHỈ SỐ VÀNG TRONG Y TẾ khi ca ác tính hiếm gặp; không bị làm sai lệch bởi số lượng lớn ca âm tính thật (TN).</a:t>
            </a:r>
          </a:p>
          <a:p>
            <a:pPr>
              <a:lnSpc>
                <a:spcPct val="115000"/>
              </a:lnSpc>
              <a:spcAft>
                <a:spcPts val="700"/>
              </a:spcAft>
            </a:pPr>
            <a:r>
              <a:rPr b="1" sz="1150">
                <a:solidFill>
                  <a:srgbClr val="282828"/>
                </a:solidFill>
                <a:latin typeface="Arial"/>
              </a:rPr>
              <a:t>• Kiểm định Thống kê Kép: </a:t>
            </a:r>
            <a:r>
              <a:rPr sz="1150">
                <a:solidFill>
                  <a:srgbClr val="282828"/>
                </a:solidFill>
                <a:latin typeface="Arial"/>
              </a:rPr>
              <a:t>Paired Student's t-test song hành cùng Wilcoxon signed-rank test (α=0.05), chuẩn hóa bằng kích thước hiệu ứng Cohen's 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2: PHƯƠNG PHÁP NGHIÊN CỨU</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Kiến trúc phần mềm 4 tầng và kiểm chứng đạo hàm giải tích đạt độ chính xác vật lý &lt; 4.1e-8</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8 / 22</a:t>
            </a:r>
          </a:p>
        </p:txBody>
      </p:sp>
      <p:pic>
        <p:nvPicPr>
          <p:cNvPr id="8" name="Picture 7" descr="fig_software_architecture.png"/>
          <p:cNvPicPr>
            <a:picLocks noChangeAspect="1"/>
          </p:cNvPicPr>
          <p:nvPr/>
        </p:nvPicPr>
        <p:blipFill>
          <a:blip r:embed="rId2"/>
          <a:stretch>
            <a:fillRect/>
          </a:stretch>
        </p:blipFill>
        <p:spPr>
          <a:xfrm>
            <a:off x="731520" y="1508760"/>
            <a:ext cx="5852160" cy="3717410"/>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Thiết kế Hệ thống &amp; Kiểm chứng Vật lý</a:t>
            </a:r>
          </a:p>
          <a:p>
            <a:pPr>
              <a:lnSpc>
                <a:spcPct val="115000"/>
              </a:lnSpc>
              <a:spcAft>
                <a:spcPts val="700"/>
              </a:spcAft>
            </a:pPr>
            <a:r>
              <a:rPr b="1" sz="1150">
                <a:solidFill>
                  <a:srgbClr val="282828"/>
                </a:solidFill>
                <a:latin typeface="Arial"/>
              </a:rPr>
              <a:t>• Kiến trúc 4 tầng chuẩn mực: </a:t>
            </a:r>
            <a:r>
              <a:rPr sz="1150">
                <a:solidFill>
                  <a:srgbClr val="282828"/>
                </a:solidFill>
                <a:latin typeface="Arial"/>
              </a:rPr>
              <a:t>Dữ liệu (medmnist_loader) → Mô hình (circuits/trainable_quanv) → Thí nghiệm (10 seeds run_gd3.py) → Đầu ra/Kiểm định.</a:t>
            </a:r>
          </a:p>
          <a:p>
            <a:pPr>
              <a:lnSpc>
                <a:spcPct val="115000"/>
              </a:lnSpc>
              <a:spcAft>
                <a:spcPts val="700"/>
              </a:spcAft>
            </a:pPr>
            <a:r>
              <a:rPr b="1" sz="1150">
                <a:solidFill>
                  <a:srgbClr val="282828"/>
                </a:solidFill>
                <a:latin typeface="Arial"/>
              </a:rPr>
              <a:t>• Bảo toàn tính toàn vẹn: </a:t>
            </a:r>
            <a:r>
              <a:rPr sz="1150">
                <a:solidFill>
                  <a:srgbClr val="282828"/>
                </a:solidFill>
                <a:latin typeface="Arial"/>
              </a:rPr>
              <a:t>Tự động kiểm tra tensor [B, 4, 14, 14], khoảng [-1, 1], bẫy lỗi NaN/Inf trong vi phân; cố định seed_everything đồng bộ.</a:t>
            </a:r>
          </a:p>
          <a:p>
            <a:pPr>
              <a:lnSpc>
                <a:spcPct val="115000"/>
              </a:lnSpc>
              <a:spcAft>
                <a:spcPts val="700"/>
              </a:spcAft>
            </a:pPr>
            <a:r>
              <a:rPr b="1" sz="1150">
                <a:solidFill>
                  <a:srgbClr val="282828"/>
                </a:solidFill>
                <a:latin typeface="Arial"/>
              </a:rPr>
              <a:t>• Kiểm chứng Đạo hàm Vật lý: </a:t>
            </a:r>
            <a:r>
              <a:rPr sz="1150">
                <a:solidFill>
                  <a:srgbClr val="282828"/>
                </a:solidFill>
                <a:latin typeface="Arial"/>
              </a:rPr>
              <a:t>Trước khi chạy 110 runs, gradient vi phân PyTorch (statevector) được đối chứng trực tiếp với Parameter-Shift Rule:</a:t>
            </a:r>
          </a:p>
          <a:p>
            <a:pPr>
              <a:lnSpc>
                <a:spcPct val="115000"/>
              </a:lnSpc>
              <a:spcAft>
                <a:spcPts val="700"/>
              </a:spcAft>
            </a:pPr>
            <a:r>
              <a:rPr b="1" sz="1150">
                <a:solidFill>
                  <a:srgbClr val="282828"/>
                </a:solidFill>
                <a:latin typeface="Arial"/>
              </a:rPr>
              <a:t>• Công thức Shift-Rule: </a:t>
            </a:r>
            <a:r>
              <a:rPr sz="1150">
                <a:solidFill>
                  <a:srgbClr val="282828"/>
                </a:solidFill>
                <a:latin typeface="Arial"/>
              </a:rPr>
              <a:t>∂F / ∂θ = [F(θ + π/2) − F(θ − π/2)] / 2.</a:t>
            </a:r>
          </a:p>
          <a:p>
            <a:pPr>
              <a:lnSpc>
                <a:spcPct val="115000"/>
              </a:lnSpc>
              <a:spcAft>
                <a:spcPts val="700"/>
              </a:spcAft>
            </a:pPr>
            <a:r>
              <a:rPr b="1" sz="1150">
                <a:solidFill>
                  <a:srgbClr val="282828"/>
                </a:solidFill>
                <a:latin typeface="Arial"/>
              </a:rPr>
              <a:t>• Sai lệch đo được: </a:t>
            </a:r>
            <a:r>
              <a:rPr sz="1150">
                <a:solidFill>
                  <a:srgbClr val="282828"/>
                </a:solidFill>
                <a:latin typeface="Arial"/>
              </a:rPr>
              <a:t>|Δ| &lt; 4.1 × 10⁻⁸ — cấp độ sai số float32/64, khẳng định thuật toán lan truyền ngược phản ánh chính xác 100% động học vật lý.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Trên dữ liệu nhỏ lệch lớp BreastMNIST: Mạch lượng tử tĩnh vượt trội Classical CNN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9 / 22</a:t>
            </a:r>
          </a:p>
        </p:txBody>
      </p:sp>
      <p:pic>
        <p:nvPicPr>
          <p:cNvPr id="8" name="Picture 7" descr="Fig3_breastmnist_benchmark.png"/>
          <p:cNvPicPr>
            <a:picLocks noChangeAspect="1"/>
          </p:cNvPicPr>
          <p:nvPr/>
        </p:nvPicPr>
        <p:blipFill>
          <a:blip r:embed="rId2"/>
          <a:stretch>
            <a:fillRect/>
          </a:stretch>
        </p:blipFill>
        <p:spPr>
          <a:xfrm>
            <a:off x="731520" y="1508760"/>
            <a:ext cx="5852160" cy="3228554"/>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quả 10-Seed trên BreastMNIST (Bảng 4.1)</a:t>
            </a:r>
          </a:p>
          <a:p>
            <a:pPr>
              <a:lnSpc>
                <a:spcPct val="115000"/>
              </a:lnSpc>
              <a:spcAft>
                <a:spcPts val="700"/>
              </a:spcAft>
            </a:pPr>
            <a:r>
              <a:rPr b="1" sz="1150">
                <a:solidFill>
                  <a:srgbClr val="282828"/>
                </a:solidFill>
                <a:latin typeface="Arial"/>
              </a:rPr>
              <a:t>• Fixed Basic L2 đạt ROC-AUC cao nhất: </a:t>
            </a:r>
            <a:r>
              <a:rPr sz="1150">
                <a:solidFill>
                  <a:srgbClr val="282828"/>
                </a:solidFill>
                <a:latin typeface="Arial"/>
              </a:rPr>
              <a:t>0.8521 ± 0.0095 [0.8453, 0.8589], vượt CNN (0.8336 ± 0.0259) có ý nghĩa thống kê (p_ttest = 0.0298, p_wilcoxon = 0.0254, Cohen's d = +0.815).</a:t>
            </a:r>
          </a:p>
          <a:p>
            <a:pPr>
              <a:lnSpc>
                <a:spcPct val="115000"/>
              </a:lnSpc>
              <a:spcAft>
                <a:spcPts val="700"/>
              </a:spcAft>
            </a:pPr>
            <a:r>
              <a:rPr b="1" sz="1150">
                <a:solidFill>
                  <a:srgbClr val="282828"/>
                </a:solidFill>
                <a:latin typeface="Arial"/>
              </a:rPr>
              <a:t>• Fixed Strongly L2 đạt PR-AUC cao nhất: </a:t>
            </a:r>
            <a:r>
              <a:rPr sz="1150">
                <a:solidFill>
                  <a:srgbClr val="282828"/>
                </a:solidFill>
                <a:latin typeface="Arial"/>
              </a:rPr>
              <a:t>0.9182 ± 0.0071 [0.9131, 0.9232], vượt CNN (0.9041 ± 0.0100) với ý nghĩa thống kê rất cao (p_ttest = 0.0023, p_wilcoxon = 0.0059, d = +1.332).</a:t>
            </a:r>
          </a:p>
          <a:p>
            <a:pPr>
              <a:lnSpc>
                <a:spcPct val="115000"/>
              </a:lnSpc>
              <a:spcAft>
                <a:spcPts val="700"/>
              </a:spcAft>
            </a:pPr>
            <a:r>
              <a:rPr b="1" sz="1150">
                <a:solidFill>
                  <a:srgbClr val="282828"/>
                </a:solidFill>
                <a:latin typeface="Arial"/>
              </a:rPr>
              <a:t>• Ổn định phương sai gấp ~2.7 lần: </a:t>
            </a:r>
            <a:r>
              <a:rPr sz="1150">
                <a:solidFill>
                  <a:srgbClr val="282828"/>
                </a:solidFill>
                <a:latin typeface="Arial"/>
              </a:rPr>
              <a:t>Độ lệch chuẩn ROC-AUC của Fixed Basic là 0.0095 so với 0.0259 của CNN (tỷ số 2.7263×), kháng biến động hạt giống xuất sắc.</a:t>
            </a:r>
          </a:p>
          <a:p>
            <a:pPr>
              <a:lnSpc>
                <a:spcPct val="115000"/>
              </a:lnSpc>
              <a:spcAft>
                <a:spcPts val="700"/>
              </a:spcAft>
            </a:pPr>
            <a:r>
              <a:rPr b="1" sz="1150">
                <a:solidFill>
                  <a:srgbClr val="282828"/>
                </a:solidFill>
                <a:latin typeface="Arial"/>
              </a:rPr>
              <a:t>• Trainable Strongly đạt Balanced Acc cao nhất: </a:t>
            </a:r>
            <a:r>
              <a:rPr sz="1150">
                <a:solidFill>
                  <a:srgbClr val="282828"/>
                </a:solidFill>
                <a:latin typeface="Arial"/>
              </a:rPr>
              <a:t>0.6945 ± 0.0451 (+0.0344 so với Fixed Strongly, d = +0.677), khác biệt với CNN không có ý nghĩa thống kê (p = 0.6701).</a:t>
            </a:r>
          </a:p>
          <a:p>
            <a:pPr>
              <a:lnSpc>
                <a:spcPct val="115000"/>
              </a:lnSpc>
              <a:spcAft>
                <a:spcPts val="700"/>
              </a:spcAft>
            </a:pPr>
            <a:r>
              <a:rPr b="1" sz="1150">
                <a:solidFill>
                  <a:srgbClr val="282828"/>
                </a:solidFill>
                <a:latin typeface="Arial"/>
              </a:rPr>
              <a:t>• Kết luận: </a:t>
            </a:r>
            <a:r>
              <a:rPr sz="1150">
                <a:solidFill>
                  <a:srgbClr val="282828"/>
                </a:solidFill>
                <a:latin typeface="Arial"/>
              </a:rPr>
              <a:t>Thêm tham số tự học không tự động mang lại hiệu năng cao hơn.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Cơ chế giải thích: Mạch tĩnh đóng vai trò như một bộ điều hòa cấu trúc (Structural Regularizer)</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10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Giả thuyết Điều hòa Cấu trúc (Structural Regularizer)</a:t>
            </a:r>
          </a:p>
          <a:p>
            <a:pPr>
              <a:lnSpc>
                <a:spcPct val="115000"/>
              </a:lnSpc>
              <a:spcAft>
                <a:spcPts val="700"/>
              </a:spcAft>
            </a:pPr>
            <a:r>
              <a:rPr b="1" sz="1150">
                <a:solidFill>
                  <a:srgbClr val="282828"/>
                </a:solidFill>
                <a:latin typeface="Arial"/>
              </a:rPr>
              <a:t>• Bối cảnh 546 mẫu huấn luyện: </a:t>
            </a:r>
            <a:r>
              <a:rPr sz="1150">
                <a:solidFill>
                  <a:srgbClr val="282828"/>
                </a:solidFill>
                <a:latin typeface="Arial"/>
              </a:rPr>
              <a:t>Trên tập dữ liệu nhỏ, CNN cổ điển với kernel tự do dễ khớp vào nhiễu đốm âm học của ảnh siêu âm.</a:t>
            </a:r>
          </a:p>
          <a:p>
            <a:pPr>
              <a:lnSpc>
                <a:spcPct val="115000"/>
              </a:lnSpc>
              <a:spcAft>
                <a:spcPts val="700"/>
              </a:spcAft>
            </a:pPr>
            <a:r>
              <a:rPr b="1" sz="1150">
                <a:solidFill>
                  <a:srgbClr val="282828"/>
                </a:solidFill>
                <a:latin typeface="Arial"/>
              </a:rPr>
              <a:t>• Miền giá trị bị chặn [-1, 1]: </a:t>
            </a:r>
            <a:r>
              <a:rPr sz="1150">
                <a:solidFill>
                  <a:srgbClr val="282828"/>
                </a:solidFill>
                <a:latin typeface="Arial"/>
              </a:rPr>
              <a:t>Mạch tĩnh ánh xạ patch ảnh qua phép đo Pauli-Z bị chặn nghiêm ngặt trong đoạn [-1, 1].</a:t>
            </a:r>
          </a:p>
          <a:p>
            <a:pPr>
              <a:lnSpc>
                <a:spcPct val="115000"/>
              </a:lnSpc>
              <a:spcAft>
                <a:spcPts val="700"/>
              </a:spcAft>
            </a:pPr>
            <a:r>
              <a:rPr b="1" sz="1150">
                <a:solidFill>
                  <a:srgbClr val="282828"/>
                </a:solidFill>
                <a:latin typeface="Arial"/>
              </a:rPr>
              <a:t>• Thu hẹp không gian tìm kiếm: </a:t>
            </a:r>
            <a:r>
              <a:rPr sz="1150">
                <a:solidFill>
                  <a:srgbClr val="282828"/>
                </a:solidFill>
                <a:latin typeface="Arial"/>
              </a:rPr>
              <a:t>Head phía sau chỉ có 1,570 tham số tuyến tính, tiếp nhận đặc trưng cố định nên không gian tìm kiếm trọng số bị thu hẹp.</a:t>
            </a:r>
          </a:p>
          <a:p>
            <a:pPr>
              <a:lnSpc>
                <a:spcPct val="115000"/>
              </a:lnSpc>
              <a:spcAft>
                <a:spcPts val="700"/>
              </a:spcAft>
            </a:pPr>
            <a:r>
              <a:rPr b="1" sz="1150">
                <a:solidFill>
                  <a:srgbClr val="282828"/>
                </a:solidFill>
                <a:latin typeface="Arial"/>
              </a:rPr>
              <a:t>• Kháng biến động khởi tạo: </a:t>
            </a:r>
            <a:r>
              <a:rPr sz="1150">
                <a:solidFill>
                  <a:srgbClr val="282828"/>
                </a:solidFill>
                <a:latin typeface="Arial"/>
              </a:rPr>
              <a:t>Mô hình ít nhạy cảm với thay đổi hạt giống seed, giải thích vì sao độ lệch chuẩn giảm tới 2.7 lần.</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Bảo tồn Xếp hạng Lâm sàng (PR-AUC Ranking)</a:t>
            </a:r>
          </a:p>
          <a:p>
            <a:pPr>
              <a:lnSpc>
                <a:spcPct val="115000"/>
              </a:lnSpc>
              <a:spcAft>
                <a:spcPts val="700"/>
              </a:spcAft>
            </a:pPr>
            <a:r>
              <a:rPr b="1" sz="1150">
                <a:solidFill>
                  <a:srgbClr val="282828"/>
                </a:solidFill>
                <a:latin typeface="Arial"/>
              </a:rPr>
              <a:t>• Ưu thế Mạch Strongly-Entangling: </a:t>
            </a:r>
            <a:r>
              <a:rPr sz="1150">
                <a:solidFill>
                  <a:srgbClr val="282828"/>
                </a:solidFill>
                <a:latin typeface="Arial"/>
              </a:rPr>
              <a:t>Chứa đầy đủ cổng quay 3 trục và CNOT mở rộng, tạo bản đồ đặc trưng có tính phân tách phi tuyến cao.</a:t>
            </a:r>
          </a:p>
          <a:p>
            <a:pPr>
              <a:lnSpc>
                <a:spcPct val="115000"/>
              </a:lnSpc>
              <a:spcAft>
                <a:spcPts val="700"/>
              </a:spcAft>
            </a:pPr>
            <a:r>
              <a:rPr b="1" sz="1150">
                <a:solidFill>
                  <a:srgbClr val="282828"/>
                </a:solidFill>
                <a:latin typeface="Arial"/>
              </a:rPr>
              <a:t>• Xếp hạng mẫu thiểu số chuẩn xác: </a:t>
            </a:r>
            <a:r>
              <a:rPr sz="1150">
                <a:solidFill>
                  <a:srgbClr val="282828"/>
                </a:solidFill>
                <a:latin typeface="Arial"/>
              </a:rPr>
              <a:t>Đặc trưng vướng víu giúp head gán xác suất phân tách rõ ràng giữa u lành và u ác tính ở các ngưỡng quyết định cao.</a:t>
            </a:r>
          </a:p>
          <a:p>
            <a:pPr>
              <a:lnSpc>
                <a:spcPct val="115000"/>
              </a:lnSpc>
              <a:spcAft>
                <a:spcPts val="700"/>
              </a:spcAft>
            </a:pPr>
            <a:r>
              <a:rPr b="1" sz="1150">
                <a:solidFill>
                  <a:srgbClr val="282828"/>
                </a:solidFill>
                <a:latin typeface="Arial"/>
              </a:rPr>
              <a:t>• Biểu hiện Quantum Inductive Bias: </a:t>
            </a:r>
            <a:r>
              <a:rPr sz="1150">
                <a:solidFill>
                  <a:srgbClr val="282828"/>
                </a:solidFill>
                <a:latin typeface="Arial"/>
              </a:rPr>
              <a:t>Cấu trúc topo của mạch lượng tử, chứ không phải số lượng tham số, là yếu tố mang lại lợi thế.</a:t>
            </a:r>
          </a:p>
          <a:p>
            <a:pPr>
              <a:lnSpc>
                <a:spcPct val="115000"/>
              </a:lnSpc>
              <a:spcAft>
                <a:spcPts val="700"/>
              </a:spcAft>
            </a:pPr>
            <a:r>
              <a:rPr b="1" sz="1150">
                <a:solidFill>
                  <a:srgbClr val="282828"/>
                </a:solidFill>
                <a:latin typeface="Arial"/>
              </a:rPr>
              <a:t>• Hiệu quả thực tiễn: </a:t>
            </a:r>
            <a:r>
              <a:rPr sz="1150">
                <a:solidFill>
                  <a:srgbClr val="282828"/>
                </a:solidFill>
                <a:latin typeface="Arial"/>
              </a:rPr>
              <a:t>Đạt PR-AUC 0.9182 mà không cần tốn bất kỳ chi phí huấn luyện nào cho kernel (0 tham số tự học).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Trên dữ liệu lớn đa lớp OCTMNIST: Classical CNN áp đảo toàn diện mọi mô hình lượng tử</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11 / 22</a:t>
            </a:r>
          </a:p>
        </p:txBody>
      </p:sp>
      <p:pic>
        <p:nvPicPr>
          <p:cNvPr id="8" name="Picture 7" descr="Fig3_octmnist_benchmark.png"/>
          <p:cNvPicPr>
            <a:picLocks noChangeAspect="1"/>
          </p:cNvPicPr>
          <p:nvPr/>
        </p:nvPicPr>
        <p:blipFill>
          <a:blip r:embed="rId2"/>
          <a:stretch>
            <a:fillRect/>
          </a:stretch>
        </p:blipFill>
        <p:spPr>
          <a:xfrm>
            <a:off x="731520" y="1508760"/>
            <a:ext cx="5852160" cy="3228554"/>
          </a:xfrm>
          <a:prstGeom prst="rect">
            <a:avLst/>
          </a:prstGeom>
        </p:spPr>
      </p:pic>
      <p:sp>
        <p:nvSpPr>
          <p:cNvPr id="9" name="Rounded Rectangle 8"/>
          <p:cNvSpPr/>
          <p:nvPr/>
        </p:nvSpPr>
        <p:spPr>
          <a:xfrm>
            <a:off x="6858000" y="1417320"/>
            <a:ext cx="460217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618488"/>
            <a:ext cx="414497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quả 10-Seed trên OCTMNIST (Bảng 4.2 &amp; 4.3)</a:t>
            </a:r>
          </a:p>
          <a:p>
            <a:pPr>
              <a:lnSpc>
                <a:spcPct val="115000"/>
              </a:lnSpc>
              <a:spcAft>
                <a:spcPts val="700"/>
              </a:spcAft>
            </a:pPr>
            <a:r>
              <a:rPr b="1" sz="1150">
                <a:solidFill>
                  <a:srgbClr val="282828"/>
                </a:solidFill>
                <a:latin typeface="Arial"/>
              </a:rPr>
              <a:t>• Classical CNN dẫn đầu áp đảo cả 6 metrics: </a:t>
            </a:r>
            <a:r>
              <a:rPr sz="1150">
                <a:solidFill>
                  <a:srgbClr val="282828"/>
                </a:solidFill>
                <a:latin typeface="Arial"/>
              </a:rPr>
              <a:t>ROC-AUC 0.7505 ± 0.0240, PR-AUC 0.4991 ± 0.0297, Balanced Acc 0.4433 ± 0.0135, F1 Macro 0.3206 ± 0.0175, MCC 0.3156 ± 0.0198.</a:t>
            </a:r>
          </a:p>
          <a:p>
            <a:pPr>
              <a:lnSpc>
                <a:spcPct val="115000"/>
              </a:lnSpc>
              <a:spcAft>
                <a:spcPts val="700"/>
              </a:spcAft>
            </a:pPr>
            <a:r>
              <a:rPr b="1" sz="1150">
                <a:solidFill>
                  <a:srgbClr val="282828"/>
                </a:solidFill>
                <a:latin typeface="Arial"/>
              </a:rPr>
              <a:t>• Khoảng cách thống kê khổng lồ: </a:t>
            </a:r>
            <a:r>
              <a:rPr sz="1150">
                <a:solidFill>
                  <a:srgbClr val="282828"/>
                </a:solidFill>
                <a:latin typeface="Arial"/>
              </a:rPr>
              <a:t>CNN vượt mô hình lượng tử tốt nhất (Trainable Strongly) với Δ = +0.0583 ROC-AUC (p ≈ 0.0001, Cohen's d = +2.108) và Balanced Acc (d = +1.874).</a:t>
            </a:r>
          </a:p>
          <a:p>
            <a:pPr>
              <a:lnSpc>
                <a:spcPct val="115000"/>
              </a:lnSpc>
              <a:spcAft>
                <a:spcPts val="700"/>
              </a:spcAft>
            </a:pPr>
            <a:r>
              <a:rPr b="1" sz="1150">
                <a:solidFill>
                  <a:srgbClr val="282828"/>
                </a:solidFill>
                <a:latin typeface="Arial"/>
              </a:rPr>
              <a:t>• Nguyên nhân Expressibility Bottleneck: </a:t>
            </a:r>
            <a:r>
              <a:rPr sz="1150">
                <a:solidFill>
                  <a:srgbClr val="282828"/>
                </a:solidFill>
                <a:latin typeface="Arial"/>
              </a:rPr>
              <a:t>Bài toán 4 lớp bệnh đáy mắt đòi hỏi nắm bắt chi tiết vi thể. Mạch 4-qubit nén 4 pixel về 4 số thực qua 1 tầng biến phân bị mất mát độ phân giải.</a:t>
            </a:r>
          </a:p>
          <a:p>
            <a:pPr>
              <a:lnSpc>
                <a:spcPct val="115000"/>
              </a:lnSpc>
              <a:spcAft>
                <a:spcPts val="700"/>
              </a:spcAft>
            </a:pPr>
            <a:r>
              <a:rPr b="1" sz="1150">
                <a:solidFill>
                  <a:srgbClr val="282828"/>
                </a:solidFill>
                <a:latin typeface="Arial"/>
              </a:rPr>
              <a:t>• Head cổ điển nhỏ: </a:t>
            </a:r>
            <a:r>
              <a:rPr sz="1150">
                <a:solidFill>
                  <a:srgbClr val="282828"/>
                </a:solidFill>
                <a:latin typeface="Arial"/>
              </a:rPr>
              <a:t>Linear(784 → 4) chỉ có 3,140 tham số, không đủ dung lượng bù đắp mất mát đặc trưng.</a:t>
            </a:r>
          </a:p>
          <a:p>
            <a:pPr>
              <a:lnSpc>
                <a:spcPct val="115000"/>
              </a:lnSpc>
              <a:spcAft>
                <a:spcPts val="700"/>
              </a:spcAft>
            </a:pPr>
            <a:r>
              <a:rPr b="1" sz="1150">
                <a:solidFill>
                  <a:srgbClr val="282828"/>
                </a:solidFill>
                <a:latin typeface="Arial"/>
              </a:rPr>
              <a:t>• Minh chứng cho 'Power of Data': </a:t>
            </a:r>
            <a:r>
              <a:rPr sz="1150">
                <a:solidFill>
                  <a:srgbClr val="282828"/>
                </a:solidFill>
                <a:latin typeface="Arial"/>
              </a:rPr>
              <a:t>Khi dữ liệu đủ lớn (5,000 ảnh), mô hình cổ điển tối ưu sẽ vượt trội mô hình lượng tử nông.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So sánh nội bộ OCTMNIST: Tự học vượt mạch tĩnh cùng họ nhưng chỉ hòa với Quán quân tĩnh</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12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Tự học vs Mạch tĩnh trong Cùng Họ (Strongly)</a:t>
            </a:r>
          </a:p>
          <a:p>
            <a:pPr>
              <a:lnSpc>
                <a:spcPct val="115000"/>
              </a:lnSpc>
              <a:spcAft>
                <a:spcPts val="700"/>
              </a:spcAft>
            </a:pPr>
            <a:r>
              <a:rPr b="1" sz="1150">
                <a:solidFill>
                  <a:srgbClr val="282828"/>
                </a:solidFill>
                <a:latin typeface="Arial"/>
              </a:rPr>
              <a:t>• Ưu thế vi phân lượng tử nội bộ: </a:t>
            </a:r>
            <a:r>
              <a:rPr sz="1150">
                <a:solidFill>
                  <a:srgbClr val="282828"/>
                </a:solidFill>
                <a:latin typeface="Arial"/>
              </a:rPr>
              <a:t>Khi giữ nguyên cấu trúc Strongly, việc cập nhật góc θ giúp mô hình thích nghi tốt hơn với dữ liệu đa lớp.</a:t>
            </a:r>
          </a:p>
          <a:p>
            <a:pPr>
              <a:lnSpc>
                <a:spcPct val="115000"/>
              </a:lnSpc>
              <a:spcAft>
                <a:spcPts val="700"/>
              </a:spcAft>
            </a:pPr>
            <a:r>
              <a:rPr b="1" sz="1150">
                <a:solidFill>
                  <a:srgbClr val="282828"/>
                </a:solidFill>
                <a:latin typeface="Arial"/>
              </a:rPr>
              <a:t>• So sánh số liệu (Bảng 4.3): </a:t>
            </a:r>
            <a:r>
              <a:rPr sz="1150">
                <a:solidFill>
                  <a:srgbClr val="282828"/>
                </a:solidFill>
                <a:latin typeface="Arial"/>
              </a:rPr>
              <a:t>Trainable Strongly đạt ROC-AUC 0.6922 ± 0.0199 so với 0.6690 ± 0.0055 của Fixed Strongly.</a:t>
            </a:r>
          </a:p>
          <a:p>
            <a:pPr>
              <a:lnSpc>
                <a:spcPct val="115000"/>
              </a:lnSpc>
              <a:spcAft>
                <a:spcPts val="700"/>
              </a:spcAft>
            </a:pPr>
            <a:r>
              <a:rPr b="1" sz="1150">
                <a:solidFill>
                  <a:srgbClr val="282828"/>
                </a:solidFill>
                <a:latin typeface="Arial"/>
              </a:rPr>
              <a:t>• Ý nghĩa thống kê: </a:t>
            </a:r>
            <a:r>
              <a:rPr sz="1150">
                <a:solidFill>
                  <a:srgbClr val="282828"/>
                </a:solidFill>
                <a:latin typeface="Arial"/>
              </a:rPr>
              <a:t>Mức cải thiện Δ = +0.0232 có ý nghĩa thống kê rõ rệt (p_wilcoxon = 0.0098, Cohen's d = +1.050).</a:t>
            </a:r>
          </a:p>
          <a:p>
            <a:pPr>
              <a:lnSpc>
                <a:spcPct val="115000"/>
              </a:lnSpc>
              <a:spcAft>
                <a:spcPts val="700"/>
              </a:spcAft>
            </a:pPr>
            <a:r>
              <a:rPr b="1" sz="1150">
                <a:solidFill>
                  <a:srgbClr val="282828"/>
                </a:solidFill>
                <a:latin typeface="Arial"/>
              </a:rPr>
              <a:t>• Đánh đổi tính toán: </a:t>
            </a:r>
            <a:r>
              <a:rPr sz="1150">
                <a:solidFill>
                  <a:srgbClr val="282828"/>
                </a:solidFill>
                <a:latin typeface="Arial"/>
              </a:rPr>
              <a:t>Đổi lại là chi phí tính toán tăng hơn 100 lần trong quá trình huấn luyện do phải backprop qua mạch lượng tử.</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Trainable Strongly vs Quán quân Tĩnh random_L1</a:t>
            </a:r>
          </a:p>
          <a:p>
            <a:pPr>
              <a:lnSpc>
                <a:spcPct val="115000"/>
              </a:lnSpc>
              <a:spcAft>
                <a:spcPts val="700"/>
              </a:spcAft>
            </a:pPr>
            <a:r>
              <a:rPr b="1" sz="1150">
                <a:solidFill>
                  <a:srgbClr val="282828"/>
                </a:solidFill>
                <a:latin typeface="Arial"/>
              </a:rPr>
              <a:t>• Quán quân tĩnh từ khảo sát GĐ2: </a:t>
            </a:r>
            <a:r>
              <a:rPr sz="1150">
                <a:solidFill>
                  <a:srgbClr val="282828"/>
                </a:solidFill>
                <a:latin typeface="Arial"/>
              </a:rPr>
              <a:t>Cấu hình random_L1 (0 tham số học) được chọn từ giai đoạn ablation đưa vào ma trận đối chứng.</a:t>
            </a:r>
          </a:p>
          <a:p>
            <a:pPr>
              <a:lnSpc>
                <a:spcPct val="115000"/>
              </a:lnSpc>
              <a:spcAft>
                <a:spcPts val="700"/>
              </a:spcAft>
            </a:pPr>
            <a:r>
              <a:rPr b="1" sz="1150">
                <a:solidFill>
                  <a:srgbClr val="282828"/>
                </a:solidFill>
                <a:latin typeface="Arial"/>
              </a:rPr>
              <a:t>• Kết quả so sánh trực diện: </a:t>
            </a:r>
            <a:r>
              <a:rPr sz="1150">
                <a:solidFill>
                  <a:srgbClr val="282828"/>
                </a:solidFill>
                <a:latin typeface="Arial"/>
              </a:rPr>
              <a:t>Trainable Strongly (0.6922 ± 0.0199) so với Quán quân tĩnh random_L1 (0.6912 ± 0.0071).</a:t>
            </a:r>
          </a:p>
          <a:p>
            <a:pPr>
              <a:lnSpc>
                <a:spcPct val="115000"/>
              </a:lnSpc>
              <a:spcAft>
                <a:spcPts val="700"/>
              </a:spcAft>
            </a:pPr>
            <a:r>
              <a:rPr b="1" sz="1150">
                <a:solidFill>
                  <a:srgbClr val="282828"/>
                </a:solidFill>
                <a:latin typeface="Arial"/>
              </a:rPr>
              <a:t>• Khác biệt không có ý nghĩa: </a:t>
            </a:r>
            <a:r>
              <a:rPr sz="1150">
                <a:solidFill>
                  <a:srgbClr val="282828"/>
                </a:solidFill>
                <a:latin typeface="Arial"/>
              </a:rPr>
              <a:t>Khoảng cách chỉ là Δ = +0.0010 (p_ttest = 0.8875, Cohen's d = +0.046 — mức ảnh hưởng không đáng kể).</a:t>
            </a:r>
          </a:p>
          <a:p>
            <a:pPr>
              <a:lnSpc>
                <a:spcPct val="115000"/>
              </a:lnSpc>
              <a:spcAft>
                <a:spcPts val="700"/>
              </a:spcAft>
            </a:pPr>
            <a:r>
              <a:rPr b="1" sz="1150">
                <a:solidFill>
                  <a:srgbClr val="282828"/>
                </a:solidFill>
                <a:latin typeface="Arial"/>
              </a:rPr>
              <a:t>• Độ ổn định vượt trội: </a:t>
            </a:r>
            <a:r>
              <a:rPr sz="1150">
                <a:solidFill>
                  <a:srgbClr val="282828"/>
                </a:solidFill>
                <a:latin typeface="Arial"/>
              </a:rPr>
              <a:t>Phương sai của random_L1 nhỏ hơn Trainable Strongly gần 3 lần (0.0071 so với 0.0199).</a:t>
            </a:r>
          </a:p>
          <a:p>
            <a:pPr>
              <a:lnSpc>
                <a:spcPct val="115000"/>
              </a:lnSpc>
              <a:spcAft>
                <a:spcPts val="700"/>
              </a:spcAft>
            </a:pPr>
            <a:r>
              <a:rPr b="1" sz="1150">
                <a:solidFill>
                  <a:srgbClr val="282828"/>
                </a:solidFill>
                <a:latin typeface="Arial"/>
              </a:rPr>
              <a:t>• Bài học thiết kế: </a:t>
            </a:r>
            <a:r>
              <a:rPr sz="1150">
                <a:solidFill>
                  <a:srgbClr val="282828"/>
                </a:solidFill>
                <a:latin typeface="Arial"/>
              </a:rPr>
              <a:t>Chọn cấu trúc mạch tĩnh tối ưu mang lại hiệu năng tương đương tự học nhưng tiết kiệm hàng trăm lần chi phí.</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Động học gradient ổn định 0.2–0.5 và quỹ đạo góc trơn tru loại trừ nguy cơ Barren Plateaus</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13 / 22</a:t>
            </a:r>
          </a:p>
        </p:txBody>
      </p:sp>
      <p:pic>
        <p:nvPicPr>
          <p:cNvPr id="8" name="Picture 7" descr="Fig4c_theta_trajectories.png"/>
          <p:cNvPicPr>
            <a:picLocks noChangeAspect="1"/>
          </p:cNvPicPr>
          <p:nvPr/>
        </p:nvPicPr>
        <p:blipFill>
          <a:blip r:embed="rId2"/>
          <a:stretch>
            <a:fillRect/>
          </a:stretch>
        </p:blipFill>
        <p:spPr>
          <a:xfrm>
            <a:off x="731520" y="1417320"/>
            <a:ext cx="5212080" cy="2158835"/>
          </a:xfrm>
          <a:prstGeom prst="rect">
            <a:avLst/>
          </a:prstGeom>
        </p:spPr>
      </p:pic>
      <p:pic>
        <p:nvPicPr>
          <p:cNvPr id="9" name="Picture 8" descr="Fig4d_gradient_norms.png"/>
          <p:cNvPicPr>
            <a:picLocks noChangeAspect="1"/>
          </p:cNvPicPr>
          <p:nvPr/>
        </p:nvPicPr>
        <p:blipFill>
          <a:blip r:embed="rId3"/>
          <a:stretch>
            <a:fillRect/>
          </a:stretch>
        </p:blipFill>
        <p:spPr>
          <a:xfrm>
            <a:off x="6217920" y="1417320"/>
            <a:ext cx="5242255" cy="2773680"/>
          </a:xfrm>
          <a:prstGeom prst="rect">
            <a:avLst/>
          </a:prstGeom>
        </p:spPr>
      </p:pic>
      <p:sp>
        <p:nvSpPr>
          <p:cNvPr id="10" name="Rounded Rectangle 9"/>
          <p:cNvSpPr/>
          <p:nvPr/>
        </p:nvSpPr>
        <p:spPr>
          <a:xfrm>
            <a:off x="731520" y="4800600"/>
            <a:ext cx="10728655" cy="1325880"/>
          </a:xfrm>
          <a:prstGeom prst="roundRect">
            <a:avLst/>
          </a:prstGeom>
          <a:solidFill>
            <a:srgbClr val="EBF7EE"/>
          </a:solidFill>
          <a:ln w="1524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001768"/>
            <a:ext cx="10271455" cy="92354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luận Động học Tối ưu</a:t>
            </a:r>
          </a:p>
          <a:p>
            <a:pPr>
              <a:lnSpc>
                <a:spcPct val="115000"/>
              </a:lnSpc>
              <a:spcAft>
                <a:spcPts val="700"/>
              </a:spcAft>
            </a:pPr>
            <a:r>
              <a:rPr b="1" sz="1150">
                <a:solidFill>
                  <a:srgbClr val="282828"/>
                </a:solidFill>
                <a:latin typeface="Arial"/>
              </a:rPr>
              <a:t>• Quỹ đạo góc quay θ(t) (Trái): </a:t>
            </a:r>
            <a:r>
              <a:rPr sz="1150">
                <a:solidFill>
                  <a:srgbClr val="282828"/>
                </a:solidFill>
                <a:latin typeface="Arial"/>
              </a:rPr>
              <a:t>Theo dõi 24 góc lượng tử qua 20 epochs; góc di chuyển có trật tự trong 10 epochs đầu và ổn định tại cực tiểu địa phương, không bị kẹt cứng hay dao động hỗn loạn.</a:t>
            </a:r>
          </a:p>
          <a:p>
            <a:pPr>
              <a:lnSpc>
                <a:spcPct val="115000"/>
              </a:lnSpc>
              <a:spcAft>
                <a:spcPts val="700"/>
              </a:spcAft>
            </a:pPr>
            <a:r>
              <a:rPr b="1" sz="1150">
                <a:solidFill>
                  <a:srgbClr val="282828"/>
                </a:solidFill>
                <a:latin typeface="Arial"/>
              </a:rPr>
              <a:t>• Chuẩn Gradient L2 (Phải): </a:t>
            </a:r>
            <a:r>
              <a:rPr sz="1150">
                <a:solidFill>
                  <a:srgbClr val="282828"/>
                </a:solidFill>
                <a:latin typeface="Arial"/>
              </a:rPr>
              <a:t>Chuẩn L2 trung bình duy trì quanh 0.2–0.5 (đỉnh từng seed đạt ~1.3), hoàn toàn cách xa ngưỡng suy biến gradient 10⁻⁵ đến 10⁻⁷, bác bỏ giả thuyết Barren Plateaus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3: KẾT QUẢ THỰC NGHIỆM &amp; ĐÁNH GIÁ</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Khảo sát Ablation 6 cấu hình và phân tích chi phí: Precompute giúp tăng tốc 100 lần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14 / 22</a:t>
            </a:r>
          </a:p>
        </p:txBody>
      </p:sp>
      <p:pic>
        <p:nvPicPr>
          <p:cNvPr id="8" name="Picture 7" descr="circuit_ablation_breastmnist.png"/>
          <p:cNvPicPr>
            <a:picLocks noChangeAspect="1"/>
          </p:cNvPicPr>
          <p:nvPr/>
        </p:nvPicPr>
        <p:blipFill>
          <a:blip r:embed="rId2"/>
          <a:stretch>
            <a:fillRect/>
          </a:stretch>
        </p:blipFill>
        <p:spPr>
          <a:xfrm>
            <a:off x="731520" y="1508760"/>
            <a:ext cx="5120640" cy="2902453"/>
          </a:xfrm>
          <a:prstGeom prst="rect">
            <a:avLst/>
          </a:prstGeom>
        </p:spPr>
      </p:pic>
      <p:sp>
        <p:nvSpPr>
          <p:cNvPr id="9" name="Rounded Rectangle 8"/>
          <p:cNvSpPr/>
          <p:nvPr/>
        </p:nvSpPr>
        <p:spPr>
          <a:xfrm>
            <a:off x="6126480" y="1417320"/>
            <a:ext cx="533369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18488"/>
            <a:ext cx="487649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tích Chi phí Phần cứng (Bảng 4.5)</a:t>
            </a:r>
          </a:p>
          <a:p>
            <a:pPr>
              <a:lnSpc>
                <a:spcPct val="115000"/>
              </a:lnSpc>
              <a:spcAft>
                <a:spcPts val="700"/>
              </a:spcAft>
            </a:pPr>
            <a:r>
              <a:rPr b="1" sz="1150">
                <a:solidFill>
                  <a:srgbClr val="282828"/>
                </a:solidFill>
                <a:latin typeface="Arial"/>
              </a:rPr>
              <a:t>• Độ trễ suy luận CPU (Intel): </a:t>
            </a:r>
            <a:r>
              <a:rPr sz="1150">
                <a:solidFill>
                  <a:srgbClr val="282828"/>
                </a:solidFill>
                <a:latin typeface="Arial"/>
              </a:rPr>
              <a:t>Conv cổ điển: 0.31 ms / ảnh; Quanvolution: 220 ms / ảnh (chênh lệch ~700 lần do phải mô phỏng 196 statevector mỗi ảnh).</a:t>
            </a:r>
          </a:p>
          <a:p>
            <a:pPr>
              <a:lnSpc>
                <a:spcPct val="115000"/>
              </a:lnSpc>
              <a:spcAft>
                <a:spcPts val="700"/>
              </a:spcAft>
            </a:pPr>
            <a:r>
              <a:rPr b="1" sz="1150">
                <a:solidFill>
                  <a:srgbClr val="282828"/>
                </a:solidFill>
                <a:latin typeface="Arial"/>
              </a:rPr>
              <a:t>• Nghẽn mô phỏng (Simulation Bottleneck): </a:t>
            </a:r>
            <a:r>
              <a:rPr sz="1150">
                <a:solidFill>
                  <a:srgbClr val="282828"/>
                </a:solidFill>
                <a:latin typeface="Arial"/>
              </a:rPr>
              <a:t>Khoảng 99.98% tổng thời gian huấn luyện tiêu tốn vào việc mô phỏng mạch lượng tử trên CPU.</a:t>
            </a:r>
          </a:p>
          <a:p>
            <a:pPr>
              <a:lnSpc>
                <a:spcPct val="115000"/>
              </a:lnSpc>
              <a:spcAft>
                <a:spcPts val="700"/>
              </a:spcAft>
            </a:pPr>
            <a:r>
              <a:rPr b="1" sz="1150">
                <a:solidFill>
                  <a:srgbClr val="282828"/>
                </a:solidFill>
                <a:latin typeface="Arial"/>
              </a:rPr>
              <a:t>• Giải pháp Precompute cho Mạch tĩnh: </a:t>
            </a:r>
            <a:r>
              <a:rPr sz="1150">
                <a:solidFill>
                  <a:srgbClr val="282828"/>
                </a:solidFill>
                <a:latin typeface="Arial"/>
              </a:rPr>
              <a:t>Bản đồ đặc trưng được tính toán trước 1 lần duy nhất và lưu cache. Thời gian huấn luyện 10 seeds head phân loại giảm xuống chỉ còn ~18 giây!</a:t>
            </a:r>
          </a:p>
          <a:p>
            <a:pPr>
              <a:lnSpc>
                <a:spcPct val="115000"/>
              </a:lnSpc>
              <a:spcAft>
                <a:spcPts val="700"/>
              </a:spcAft>
            </a:pPr>
            <a:r>
              <a:rPr b="1" sz="1150">
                <a:solidFill>
                  <a:srgbClr val="282828"/>
                </a:solidFill>
                <a:latin typeface="Arial"/>
              </a:rPr>
              <a:t>• Kết luận từ Ablation GĐ2: </a:t>
            </a:r>
            <a:r>
              <a:rPr sz="1150">
                <a:solidFill>
                  <a:srgbClr val="282828"/>
                </a:solidFill>
                <a:latin typeface="Arial"/>
              </a:rPr>
              <a:t>Trên dữ liệu nhỏ (Breast), mạch đơn giản basic_L2 (0.8508) vượt trội strongly (0.8104–0.8322). Ngược lại trên dữ liệu lớn (OCT), random_L1 đa dạng chiếu đặc trưng dẫn đầu (0.6905).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4: KẾT LUẬN &amp; ĐÓNG GÓP</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Ba kết luận khoa học đúc kết ranh giới hiệu quả thực nghiệm của Mạng Quanvolution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15 / 22</a:t>
            </a:r>
          </a:p>
        </p:txBody>
      </p:sp>
      <p:sp>
        <p:nvSpPr>
          <p:cNvPr id="8" name="Rounded Rectangle 7"/>
          <p:cNvSpPr/>
          <p:nvPr/>
        </p:nvSpPr>
        <p:spPr>
          <a:xfrm>
            <a:off x="731520" y="1417320"/>
            <a:ext cx="3328416" cy="466344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1. Phụ thuộc Chế độ Dữ liệu</a:t>
            </a:r>
          </a:p>
          <a:p>
            <a:pPr>
              <a:lnSpc>
                <a:spcPct val="115000"/>
              </a:lnSpc>
              <a:spcAft>
                <a:spcPts val="700"/>
              </a:spcAft>
            </a:pPr>
            <a:r>
              <a:rPr b="1" sz="1150">
                <a:solidFill>
                  <a:srgbClr val="282828"/>
                </a:solidFill>
                <a:latin typeface="Arial"/>
              </a:rPr>
              <a:t>• Định đề 'Power of Data': </a:t>
            </a:r>
            <a:r>
              <a:rPr sz="1150">
                <a:solidFill>
                  <a:srgbClr val="282828"/>
                </a:solidFill>
                <a:latin typeface="Arial"/>
              </a:rPr>
              <a:t>Hiệu quả mô hình lượng tử phụ thuộc chặt vào kích thước và độ phức tạp phân lớp của dữ liệu.</a:t>
            </a:r>
          </a:p>
          <a:p>
            <a:pPr>
              <a:lnSpc>
                <a:spcPct val="115000"/>
              </a:lnSpc>
              <a:spcAft>
                <a:spcPts val="700"/>
              </a:spcAft>
            </a:pPr>
            <a:r>
              <a:rPr b="1" sz="1150">
                <a:solidFill>
                  <a:srgbClr val="282828"/>
                </a:solidFill>
                <a:latin typeface="Arial"/>
              </a:rPr>
              <a:t>• Thắng thế rõ rệt: </a:t>
            </a:r>
            <a:r>
              <a:rPr sz="1150">
                <a:solidFill>
                  <a:srgbClr val="282828"/>
                </a:solidFill>
                <a:latin typeface="Arial"/>
              </a:rPr>
              <a:t>Trên dữ liệu nhỏ, lệch lớp (BreastMNIST), mạch lượng tử tĩnh vượt trội Classical CNN cả về ROC-AUC, PR-AUC và độ ổn định.</a:t>
            </a:r>
          </a:p>
          <a:p>
            <a:pPr>
              <a:lnSpc>
                <a:spcPct val="115000"/>
              </a:lnSpc>
              <a:spcAft>
                <a:spcPts val="700"/>
              </a:spcAft>
            </a:pPr>
            <a:r>
              <a:rPr b="1" sz="1150">
                <a:solidFill>
                  <a:srgbClr val="282828"/>
                </a:solidFill>
                <a:latin typeface="Arial"/>
              </a:rPr>
              <a:t>• Chạm trần biểu diễn: </a:t>
            </a:r>
            <a:r>
              <a:rPr sz="1150">
                <a:solidFill>
                  <a:srgbClr val="282828"/>
                </a:solidFill>
                <a:latin typeface="Arial"/>
              </a:rPr>
              <a:t>Trên dữ liệu lớn đa lớp (OCTMNIST), Classical CNN áp đảo tuyệt đối (Δ = +0.0583, d = +2.108).</a:t>
            </a:r>
          </a:p>
        </p:txBody>
      </p:sp>
      <p:sp>
        <p:nvSpPr>
          <p:cNvPr id="10" name="Rounded Rectangle 9"/>
          <p:cNvSpPr/>
          <p:nvPr/>
        </p:nvSpPr>
        <p:spPr>
          <a:xfrm>
            <a:off x="4425696" y="1417320"/>
            <a:ext cx="3328416" cy="466344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2. Vai trò Bộ Điều hòa Cấu trúc</a:t>
            </a:r>
          </a:p>
          <a:p>
            <a:pPr>
              <a:lnSpc>
                <a:spcPct val="115000"/>
              </a:lnSpc>
              <a:spcAft>
                <a:spcPts val="700"/>
              </a:spcAft>
            </a:pPr>
            <a:r>
              <a:rPr b="1" sz="1150">
                <a:solidFill>
                  <a:srgbClr val="282828"/>
                </a:solidFill>
                <a:latin typeface="Arial"/>
              </a:rPr>
              <a:t>• Mạch tĩnh 0 tham số: </a:t>
            </a:r>
            <a:r>
              <a:rPr sz="1150">
                <a:solidFill>
                  <a:srgbClr val="282828"/>
                </a:solidFill>
                <a:latin typeface="Arial"/>
              </a:rPr>
              <a:t>Kernel lượng tử cố định không tạo thêm bậc tự do, hạn chế tình trạng head khớp vào nhiễu hạt ảnh y tế.</a:t>
            </a:r>
          </a:p>
          <a:p>
            <a:pPr>
              <a:lnSpc>
                <a:spcPct val="115000"/>
              </a:lnSpc>
              <a:spcAft>
                <a:spcPts val="700"/>
              </a:spcAft>
            </a:pPr>
            <a:r>
              <a:rPr b="1" sz="1150">
                <a:solidFill>
                  <a:srgbClr val="282828"/>
                </a:solidFill>
                <a:latin typeface="Arial"/>
              </a:rPr>
              <a:t>• Ổn định phương sai ~2.7 lần: </a:t>
            </a:r>
            <a:r>
              <a:rPr sz="1150">
                <a:solidFill>
                  <a:srgbClr val="282828"/>
                </a:solidFill>
                <a:latin typeface="Arial"/>
              </a:rPr>
              <a:t>Độ lệch chuẩn ROC-AUC giảm từ 0.0259 xuống 0.0095.</a:t>
            </a:r>
          </a:p>
          <a:p>
            <a:pPr>
              <a:lnSpc>
                <a:spcPct val="115000"/>
              </a:lnSpc>
              <a:spcAft>
                <a:spcPts val="700"/>
              </a:spcAft>
            </a:pPr>
            <a:r>
              <a:rPr b="1" sz="1150">
                <a:solidFill>
                  <a:srgbClr val="282828"/>
                </a:solidFill>
                <a:latin typeface="Arial"/>
              </a:rPr>
              <a:t>• Tối ưu hóa PR-AUC lâm sàng: </a:t>
            </a:r>
            <a:r>
              <a:rPr sz="1150">
                <a:solidFill>
                  <a:srgbClr val="282828"/>
                </a:solidFill>
                <a:latin typeface="Arial"/>
              </a:rPr>
              <a:t>Không gian vướng víu giữ vững thứ tự phân loại các ca bệnh ác tính hiếm gặp mà không tốn chi phí học.</a:t>
            </a:r>
          </a:p>
        </p:txBody>
      </p:sp>
      <p:sp>
        <p:nvSpPr>
          <p:cNvPr id="12" name="Rounded Rectangle 11"/>
          <p:cNvSpPr/>
          <p:nvPr/>
        </p:nvSpPr>
        <p:spPr>
          <a:xfrm>
            <a:off x="8119872" y="1417320"/>
            <a:ext cx="3328416" cy="466344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1618488"/>
            <a:ext cx="2871216"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3. Giới hạn của Tự học Vi phân</a:t>
            </a:r>
          </a:p>
          <a:p>
            <a:pPr>
              <a:lnSpc>
                <a:spcPct val="115000"/>
              </a:lnSpc>
              <a:spcAft>
                <a:spcPts val="700"/>
              </a:spcAft>
            </a:pPr>
            <a:r>
              <a:rPr b="1" sz="1150">
                <a:solidFill>
                  <a:srgbClr val="282828"/>
                </a:solidFill>
                <a:latin typeface="Arial"/>
              </a:rPr>
              <a:t>• Cải thiện cục bộ: </a:t>
            </a:r>
            <a:r>
              <a:rPr sz="1150">
                <a:solidFill>
                  <a:srgbClr val="282828"/>
                </a:solidFill>
                <a:latin typeface="Arial"/>
              </a:rPr>
              <a:t>Trong cùng họ mạch strongly, tối ưu hóa góc quay cải thiện ROC-AUC từ 0.6690 lên 0.6922 trên OCTMNIST.</a:t>
            </a:r>
          </a:p>
          <a:p>
            <a:pPr>
              <a:lnSpc>
                <a:spcPct val="115000"/>
              </a:lnSpc>
              <a:spcAft>
                <a:spcPts val="700"/>
              </a:spcAft>
            </a:pPr>
            <a:r>
              <a:rPr b="1" sz="1150">
                <a:solidFill>
                  <a:srgbClr val="282828"/>
                </a:solidFill>
                <a:latin typeface="Arial"/>
              </a:rPr>
              <a:t>• Không vượt mạch tĩnh tối ưu: </a:t>
            </a:r>
            <a:r>
              <a:rPr sz="1150">
                <a:solidFill>
                  <a:srgbClr val="282828"/>
                </a:solidFill>
                <a:latin typeface="Arial"/>
              </a:rPr>
              <a:t>Trainable chỉ hòa với Quán quân tĩnh random_L1 (0.6912, p = 0.8875, d = +0.046).</a:t>
            </a:r>
          </a:p>
          <a:p>
            <a:pPr>
              <a:lnSpc>
                <a:spcPct val="115000"/>
              </a:lnSpc>
              <a:spcAft>
                <a:spcPts val="700"/>
              </a:spcAft>
            </a:pPr>
            <a:r>
              <a:rPr b="1" sz="1150">
                <a:solidFill>
                  <a:srgbClr val="282828"/>
                </a:solidFill>
                <a:latin typeface="Arial"/>
              </a:rPr>
              <a:t>• Đánh đổi thực tiễn: </a:t>
            </a:r>
            <a:r>
              <a:rPr sz="1150">
                <a:solidFill>
                  <a:srgbClr val="282828"/>
                </a:solidFill>
                <a:latin typeface="Arial"/>
              </a:rPr>
              <a:t>Ablation chọn mạch tĩnh là giải pháp tối ưu chi phí tính toán cho ứng dụng thực tế.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4: KẾT LUẬN &amp; ĐÓNG GÓP</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Bốn đóng góp mới của đề tài và vị thế công bố khoa học quốc tế tại SOICT 2026</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16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Ba Đóng góp Phương pháp luận &amp; Thực nghiệm</a:t>
            </a:r>
          </a:p>
          <a:p>
            <a:pPr>
              <a:lnSpc>
                <a:spcPct val="115000"/>
              </a:lnSpc>
              <a:spcAft>
                <a:spcPts val="700"/>
              </a:spcAft>
            </a:pPr>
            <a:r>
              <a:rPr b="1" sz="1150">
                <a:solidFill>
                  <a:srgbClr val="282828"/>
                </a:solidFill>
                <a:latin typeface="Arial"/>
              </a:rPr>
              <a:t>• C1. Khung Benchmark Đối xứng 1:1: </a:t>
            </a:r>
            <a:r>
              <a:rPr sz="1150">
                <a:solidFill>
                  <a:srgbClr val="282828"/>
                </a:solidFill>
                <a:latin typeface="Arial"/>
              </a:rPr>
              <a:t>Khắc phục triệt để 3 khoảng trống L1–L3 của literature; chuẩn hóa dung lượng tham số và kiểm định kép Paired t-test + Wilcoxon trên 10 seeds.</a:t>
            </a:r>
          </a:p>
          <a:p>
            <a:pPr>
              <a:lnSpc>
                <a:spcPct val="115000"/>
              </a:lnSpc>
              <a:spcAft>
                <a:spcPts val="700"/>
              </a:spcAft>
            </a:pPr>
            <a:r>
              <a:rPr b="1" sz="1150">
                <a:solidFill>
                  <a:srgbClr val="282828"/>
                </a:solidFill>
                <a:latin typeface="Arial"/>
              </a:rPr>
              <a:t>• C2. Bản đồ Phân định Data-Regime: </a:t>
            </a:r>
            <a:r>
              <a:rPr sz="1150">
                <a:solidFill>
                  <a:srgbClr val="282828"/>
                </a:solidFill>
                <a:latin typeface="Arial"/>
              </a:rPr>
              <a:t>Cung cấp bằng chứng thực nghiệm minh bạch đầu tiên về điểm mạnh (dữ liệu nhỏ lệch lớp) và điểm nghẽn biểu diễn (dữ liệu lớn đa lớp) của quanvolution 4-qubit.</a:t>
            </a:r>
          </a:p>
          <a:p>
            <a:pPr>
              <a:lnSpc>
                <a:spcPct val="115000"/>
              </a:lnSpc>
              <a:spcAft>
                <a:spcPts val="700"/>
              </a:spcAft>
            </a:pPr>
            <a:r>
              <a:rPr b="1" sz="1150">
                <a:solidFill>
                  <a:srgbClr val="282828"/>
                </a:solidFill>
                <a:latin typeface="Arial"/>
              </a:rPr>
              <a:t>• C3. Hệ thống Tái lập Hoàn toàn &amp; Demo: </a:t>
            </a:r>
            <a:r>
              <a:rPr sz="1150">
                <a:solidFill>
                  <a:srgbClr val="282828"/>
                </a:solidFill>
                <a:latin typeface="Arial"/>
              </a:rPr>
              <a:t>Mã nguồn mở chuẩn hóa gắn git tag soict-submission-v4, đối chứng đạo hàm &lt; 4.1e-8, và notebook demo chạy live sai lệch chỉ 1.47e-8.</a:t>
            </a:r>
          </a:p>
        </p:txBody>
      </p:sp>
      <p:sp>
        <p:nvSpPr>
          <p:cNvPr id="10" name="Rounded Rectangle 9"/>
          <p:cNvSpPr/>
          <p:nvPr/>
        </p:nvSpPr>
        <p:spPr>
          <a:xfrm>
            <a:off x="6217920" y="1417320"/>
            <a:ext cx="5242255" cy="4663440"/>
          </a:xfrm>
          <a:prstGeom prst="roundRect">
            <a:avLst/>
          </a:prstGeom>
          <a:solidFill>
            <a:srgbClr val="FEFAEB"/>
          </a:solidFill>
          <a:ln w="15240">
            <a:solidFill>
              <a:srgbClr val="E6B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C4. Bài báo Khoa học Quốc tế (Đã nộp &amp; Đang bình duyệt)</a:t>
            </a:r>
          </a:p>
          <a:p>
            <a:pPr>
              <a:lnSpc>
                <a:spcPct val="115000"/>
              </a:lnSpc>
              <a:spcAft>
                <a:spcPts val="700"/>
              </a:spcAft>
            </a:pPr>
            <a:r>
              <a:rPr b="1" sz="1150">
                <a:solidFill>
                  <a:srgbClr val="282828"/>
                </a:solidFill>
                <a:latin typeface="Arial"/>
              </a:rPr>
              <a:t>• Tên bài báo khoa học: </a:t>
            </a:r>
            <a:r>
              <a:rPr sz="1150">
                <a:solidFill>
                  <a:srgbClr val="282828"/>
                </a:solidFill>
                <a:latin typeface="Arial"/>
              </a:rPr>
              <a:t>'Symmetrical Empirical Evaluation of Trainable versus Fixed Quanvolutional Filters in Medical Image Classification: A Rigorous, Reproducible Benchmark on MedMNIST'.</a:t>
            </a:r>
          </a:p>
          <a:p>
            <a:pPr>
              <a:lnSpc>
                <a:spcPct val="115000"/>
              </a:lnSpc>
              <a:spcAft>
                <a:spcPts val="700"/>
              </a:spcAft>
            </a:pPr>
            <a:r>
              <a:rPr b="1" sz="1150">
                <a:solidFill>
                  <a:srgbClr val="282828"/>
                </a:solidFill>
                <a:latin typeface="Arial"/>
              </a:rPr>
              <a:t>• Hội nghị nộp: </a:t>
            </a:r>
            <a:r>
              <a:rPr sz="1150">
                <a:solidFill>
                  <a:srgbClr val="282828"/>
                </a:solidFill>
                <a:latin typeface="Arial"/>
              </a:rPr>
              <a:t>Hội nghị Quốc tế SOICT 2026 (The 13th International Symposium on Information and Communication Technology).</a:t>
            </a:r>
          </a:p>
          <a:p>
            <a:pPr>
              <a:lnSpc>
                <a:spcPct val="115000"/>
              </a:lnSpc>
              <a:spcAft>
                <a:spcPts val="700"/>
              </a:spcAft>
            </a:pPr>
            <a:r>
              <a:rPr b="1" sz="1150">
                <a:solidFill>
                  <a:srgbClr val="282828"/>
                </a:solidFill>
                <a:latin typeface="Arial"/>
              </a:rPr>
              <a:t>• Ấn phẩm xuất bản: </a:t>
            </a:r>
            <a:r>
              <a:rPr sz="1150">
                <a:solidFill>
                  <a:srgbClr val="282828"/>
                </a:solidFill>
                <a:latin typeface="Arial"/>
              </a:rPr>
              <a:t>Kỷ yếu Springer CCIS (Communications in Computer and Information Science).</a:t>
            </a:r>
          </a:p>
          <a:p>
            <a:pPr>
              <a:lnSpc>
                <a:spcPct val="115000"/>
              </a:lnSpc>
              <a:spcAft>
                <a:spcPts val="700"/>
              </a:spcAft>
            </a:pPr>
            <a:r>
              <a:rPr b="1" sz="1150">
                <a:solidFill>
                  <a:srgbClr val="282828"/>
                </a:solidFill>
                <a:latin typeface="Arial"/>
              </a:rPr>
              <a:t>• Quy cách &amp; Tính toàn vẹn: </a:t>
            </a:r>
            <a:r>
              <a:rPr sz="1150">
                <a:solidFill>
                  <a:srgbClr val="282828"/>
                </a:solidFill>
                <a:latin typeface="Arial"/>
              </a:rPr>
              <a:t>Bài báo dài 13 trang định dạng chuẩn Springer llncs; bản PDF nộp được đóng băng tại git tag soict-submission-v4 và mã băm SHA-256 xác thực c8d5d093...</a:t>
            </a:r>
          </a:p>
          <a:p>
            <a:pPr>
              <a:lnSpc>
                <a:spcPct val="115000"/>
              </a:lnSpc>
              <a:spcAft>
                <a:spcPts val="700"/>
              </a:spcAft>
            </a:pPr>
            <a:r>
              <a:rPr b="1" sz="1150">
                <a:solidFill>
                  <a:srgbClr val="282828"/>
                </a:solidFill>
                <a:latin typeface="Arial"/>
              </a:rPr>
              <a:t>• Trạng thái hiện tại: </a:t>
            </a:r>
            <a:r>
              <a:rPr sz="1150">
                <a:solidFill>
                  <a:srgbClr val="282828"/>
                </a:solidFill>
                <a:latin typeface="Arial"/>
              </a:rPr>
              <a:t>Đã nộp thành công qua EasyChair và đang trong quá trình bình duyệt đồng đẳng (Peer 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4: KẾT LUẬN &amp; ĐÓNG GÓP</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Bốn hướng phát triển tiếp theo nhằm mở rộng quy mô và kiểm thử phần cứng vật lý</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Trường ĐH Công nghệ Thông tin - ĐHQG-HCM</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17 / 22</a:t>
            </a:r>
          </a:p>
        </p:txBody>
      </p:sp>
      <p:sp>
        <p:nvSpPr>
          <p:cNvPr id="8" name="Rounded Rectangle 7"/>
          <p:cNvSpPr/>
          <p:nvPr/>
        </p:nvSpPr>
        <p:spPr>
          <a:xfrm>
            <a:off x="7315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1. Tăng tốc GPU</a:t>
            </a:r>
          </a:p>
          <a:p>
            <a:pPr>
              <a:lnSpc>
                <a:spcPct val="115000"/>
              </a:lnSpc>
              <a:spcAft>
                <a:spcPts val="700"/>
              </a:spcAft>
            </a:pPr>
            <a:r>
              <a:rPr b="1" sz="1150">
                <a:solidFill>
                  <a:srgbClr val="282828"/>
                </a:solidFill>
                <a:latin typeface="Arial"/>
              </a:rPr>
              <a:t>• Mục tiêu: </a:t>
            </a:r>
            <a:r>
              <a:rPr sz="1150">
                <a:solidFill>
                  <a:srgbClr val="282828"/>
                </a:solidFill>
                <a:latin typeface="Arial"/>
              </a:rPr>
              <a:t>Vượt qua rào cản tốc độ mô phỏng CPU.</a:t>
            </a:r>
          </a:p>
          <a:p>
            <a:pPr>
              <a:lnSpc>
                <a:spcPct val="115000"/>
              </a:lnSpc>
              <a:spcAft>
                <a:spcPts val="700"/>
              </a:spcAft>
            </a:pPr>
            <a:r>
              <a:rPr b="1" sz="1150">
                <a:solidFill>
                  <a:srgbClr val="282828"/>
                </a:solidFill>
                <a:latin typeface="Arial"/>
              </a:rPr>
              <a:t>• Giải pháp: </a:t>
            </a:r>
            <a:r>
              <a:rPr sz="1150">
                <a:solidFill>
                  <a:srgbClr val="282828"/>
                </a:solidFill>
                <a:latin typeface="Arial"/>
              </a:rPr>
              <a:t>Tích hợp backend NVIDIA cuQuantum và PennyLane-Lightning-GPU.</a:t>
            </a:r>
          </a:p>
          <a:p>
            <a:pPr>
              <a:lnSpc>
                <a:spcPct val="115000"/>
              </a:lnSpc>
              <a:spcAft>
                <a:spcPts val="700"/>
              </a:spcAft>
            </a:pPr>
            <a:r>
              <a:rPr b="1" sz="1150">
                <a:solidFill>
                  <a:srgbClr val="282828"/>
                </a:solidFill>
                <a:latin typeface="Arial"/>
              </a:rPr>
              <a:t>• Mở rộng: </a:t>
            </a:r>
            <a:r>
              <a:rPr sz="1150">
                <a:solidFill>
                  <a:srgbClr val="282828"/>
                </a:solidFill>
                <a:latin typeface="Arial"/>
              </a:rPr>
              <a:t>Mở rộng kernel lên 3×3 (9-qubit) và 4×4 (16-qubit) kiểm tra khả năng vượt qua expressibility bottleneck trên OCT.</a:t>
            </a:r>
          </a:p>
        </p:txBody>
      </p:sp>
      <p:sp>
        <p:nvSpPr>
          <p:cNvPr id="10" name="Rounded Rectangle 9"/>
          <p:cNvSpPr/>
          <p:nvPr/>
        </p:nvSpPr>
        <p:spPr>
          <a:xfrm>
            <a:off x="34747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2. Kiểm thử NISQ Thực tế</a:t>
            </a:r>
          </a:p>
          <a:p>
            <a:pPr>
              <a:lnSpc>
                <a:spcPct val="115000"/>
              </a:lnSpc>
              <a:spcAft>
                <a:spcPts val="700"/>
              </a:spcAft>
            </a:pPr>
            <a:r>
              <a:rPr b="1" sz="1150">
                <a:solidFill>
                  <a:srgbClr val="282828"/>
                </a:solidFill>
                <a:latin typeface="Arial"/>
              </a:rPr>
              <a:t>• Mục tiêu: </a:t>
            </a:r>
            <a:r>
              <a:rPr sz="1150">
                <a:solidFill>
                  <a:srgbClr val="282828"/>
                </a:solidFill>
                <a:latin typeface="Arial"/>
              </a:rPr>
              <a:t>Đánh giá mô hình dưới tác động của nhiễu vật lý.</a:t>
            </a:r>
          </a:p>
          <a:p>
            <a:pPr>
              <a:lnSpc>
                <a:spcPct val="115000"/>
              </a:lnSpc>
              <a:spcAft>
                <a:spcPts val="700"/>
              </a:spcAft>
            </a:pPr>
            <a:r>
              <a:rPr b="1" sz="1150">
                <a:solidFill>
                  <a:srgbClr val="282828"/>
                </a:solidFill>
                <a:latin typeface="Arial"/>
              </a:rPr>
              <a:t>• Giải pháp: </a:t>
            </a:r>
            <a:r>
              <a:rPr sz="1150">
                <a:solidFill>
                  <a:srgbClr val="282828"/>
                </a:solidFill>
                <a:latin typeface="Arial"/>
              </a:rPr>
              <a:t>Triển khai mạch trên bộ xử lý thực IBM Quantum (Eagle/Heron).</a:t>
            </a:r>
          </a:p>
          <a:p>
            <a:pPr>
              <a:lnSpc>
                <a:spcPct val="115000"/>
              </a:lnSpc>
              <a:spcAft>
                <a:spcPts val="700"/>
              </a:spcAft>
            </a:pPr>
            <a:r>
              <a:rPr b="1" sz="1150">
                <a:solidFill>
                  <a:srgbClr val="282828"/>
                </a:solidFill>
                <a:latin typeface="Arial"/>
              </a:rPr>
              <a:t>• Giảm thiểu lỗi (QEM): </a:t>
            </a:r>
            <a:r>
              <a:rPr sz="1150">
                <a:solidFill>
                  <a:srgbClr val="282828"/>
                </a:solidFill>
                <a:latin typeface="Arial"/>
              </a:rPr>
              <a:t>Ứng dụng Zero-Noise Extrapolation (ZNE) bảo toàn chất lượng feature map trước nhiễu depolarizing và readout.</a:t>
            </a:r>
          </a:p>
        </p:txBody>
      </p:sp>
      <p:sp>
        <p:nvSpPr>
          <p:cNvPr id="12" name="Rounded Rectangle 11"/>
          <p:cNvSpPr/>
          <p:nvPr/>
        </p:nvSpPr>
        <p:spPr>
          <a:xfrm>
            <a:off x="62179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3. Mở rộng MedMNIST</a:t>
            </a:r>
          </a:p>
          <a:p>
            <a:pPr>
              <a:lnSpc>
                <a:spcPct val="115000"/>
              </a:lnSpc>
              <a:spcAft>
                <a:spcPts val="700"/>
              </a:spcAft>
            </a:pPr>
            <a:r>
              <a:rPr b="1" sz="1150">
                <a:solidFill>
                  <a:srgbClr val="282828"/>
                </a:solidFill>
                <a:latin typeface="Arial"/>
              </a:rPr>
              <a:t>• Mục tiêu: </a:t>
            </a:r>
            <a:r>
              <a:rPr sz="1150">
                <a:solidFill>
                  <a:srgbClr val="282828"/>
                </a:solidFill>
                <a:latin typeface="Arial"/>
              </a:rPr>
              <a:t>Khảo sát phổ dữ liệu y sinh toàn diện.</a:t>
            </a:r>
          </a:p>
          <a:p>
            <a:pPr>
              <a:lnSpc>
                <a:spcPct val="115000"/>
              </a:lnSpc>
              <a:spcAft>
                <a:spcPts val="700"/>
              </a:spcAft>
            </a:pPr>
            <a:r>
              <a:rPr b="1" sz="1150">
                <a:solidFill>
                  <a:srgbClr val="282828"/>
                </a:solidFill>
                <a:latin typeface="Arial"/>
              </a:rPr>
              <a:t>• Giải pháp: </a:t>
            </a:r>
            <a:r>
              <a:rPr sz="1150">
                <a:solidFill>
                  <a:srgbClr val="282828"/>
                </a:solidFill>
                <a:latin typeface="Arial"/>
              </a:rPr>
              <a:t>Mở rộng benchmark sang toàn bộ 12 datasets 2D (Pneumonia, Path, Derma...).</a:t>
            </a:r>
          </a:p>
          <a:p>
            <a:pPr>
              <a:lnSpc>
                <a:spcPct val="115000"/>
              </a:lnSpc>
              <a:spcAft>
                <a:spcPts val="700"/>
              </a:spcAft>
            </a:pPr>
            <a:r>
              <a:rPr b="1" sz="1150">
                <a:solidFill>
                  <a:srgbClr val="282828"/>
                </a:solidFill>
                <a:latin typeface="Arial"/>
              </a:rPr>
              <a:t>• Dữ liệu 3D: </a:t>
            </a:r>
            <a:r>
              <a:rPr sz="1150">
                <a:solidFill>
                  <a:srgbClr val="282828"/>
                </a:solidFill>
                <a:latin typeface="Arial"/>
              </a:rPr>
              <a:t>Khảo sát trên ảnh cắt lớp thể tích 3D (OrganMNIST3D, NoduleMNIST3D) với kernel lượng tử 3 chiều.</a:t>
            </a:r>
          </a:p>
        </p:txBody>
      </p:sp>
      <p:sp>
        <p:nvSpPr>
          <p:cNvPr id="14" name="Rounded Rectangle 13"/>
          <p:cNvSpPr/>
          <p:nvPr/>
        </p:nvSpPr>
        <p:spPr>
          <a:xfrm>
            <a:off x="8961120" y="1417320"/>
            <a:ext cx="24688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1618488"/>
            <a:ext cx="20116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4. Kiến trúc Lai Tiên tiến</a:t>
            </a:r>
          </a:p>
          <a:p>
            <a:pPr>
              <a:lnSpc>
                <a:spcPct val="115000"/>
              </a:lnSpc>
              <a:spcAft>
                <a:spcPts val="700"/>
              </a:spcAft>
            </a:pPr>
            <a:r>
              <a:rPr b="1" sz="1150">
                <a:solidFill>
                  <a:srgbClr val="282828"/>
                </a:solidFill>
                <a:latin typeface="Arial"/>
              </a:rPr>
              <a:t>• Mục tiêu: </a:t>
            </a:r>
            <a:r>
              <a:rPr sz="1150">
                <a:solidFill>
                  <a:srgbClr val="282828"/>
                </a:solidFill>
                <a:latin typeface="Arial"/>
              </a:rPr>
              <a:t>Nâng cao tính biểu đạt và tương thích sâu.</a:t>
            </a:r>
          </a:p>
          <a:p>
            <a:pPr>
              <a:lnSpc>
                <a:spcPct val="115000"/>
              </a:lnSpc>
              <a:spcAft>
                <a:spcPts val="700"/>
              </a:spcAft>
            </a:pPr>
            <a:r>
              <a:rPr b="1" sz="1150">
                <a:solidFill>
                  <a:srgbClr val="282828"/>
                </a:solidFill>
                <a:latin typeface="Arial"/>
              </a:rPr>
              <a:t>• Giải pháp: </a:t>
            </a:r>
            <a:r>
              <a:rPr sz="1150">
                <a:solidFill>
                  <a:srgbClr val="282828"/>
                </a:solidFill>
                <a:latin typeface="Arial"/>
              </a:rPr>
              <a:t>Nghiên cứu cơ chế mã hóa Haar-random (HUAR) hoặc Hamiltonian encoding.</a:t>
            </a:r>
          </a:p>
          <a:p>
            <a:pPr>
              <a:lnSpc>
                <a:spcPct val="115000"/>
              </a:lnSpc>
              <a:spcAft>
                <a:spcPts val="700"/>
              </a:spcAft>
            </a:pPr>
            <a:r>
              <a:rPr b="1" sz="1150">
                <a:solidFill>
                  <a:srgbClr val="282828"/>
                </a:solidFill>
                <a:latin typeface="Arial"/>
              </a:rPr>
              <a:t>• Cơ chế thích ứng: </a:t>
            </a:r>
            <a:r>
              <a:rPr sz="1150">
                <a:solidFill>
                  <a:srgbClr val="282828"/>
                </a:solidFill>
                <a:latin typeface="Arial"/>
              </a:rPr>
              <a:t>Tích hợp Quantum Attention và Adaptive Quantum Gating để tự động điều tiết tỷ trọng đặc trưng lượng tử.</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PHẦN 5: TỔNG KẾT &amp; BẢO VỆ</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Khóa luận hoàn thành toàn diện 4 mục tiêu nghiên cứu với cam kết liêm chính học thuật cao nhất</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Phiên thảo luận &amp; Hỏi đáp (Q&amp;A)</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18 / 22</a:t>
            </a:r>
          </a:p>
        </p:txBody>
      </p:sp>
      <p:sp>
        <p:nvSpPr>
          <p:cNvPr id="8" name="Rounded Rectangle 7"/>
          <p:cNvSpPr/>
          <p:nvPr/>
        </p:nvSpPr>
        <p:spPr>
          <a:xfrm>
            <a:off x="731520" y="1417320"/>
            <a:ext cx="3328416" cy="292608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2871216" cy="2523744"/>
          </a:xfrm>
          <a:prstGeom prst="rect">
            <a:avLst/>
          </a:prstGeom>
          <a:noFill/>
        </p:spPr>
        <p:txBody>
          <a:bodyPr wrap="square" lIns="0" rIns="0" tIns="0" bIns="0">
            <a:spAutoFit/>
          </a:bodyPr>
          <a:lstStyle/>
          <a:p>
            <a:pPr>
              <a:spcAft>
                <a:spcPts val="1000"/>
              </a:spcAft>
              <a:defRPr sz="1300" b="1">
                <a:solidFill>
                  <a:srgbClr val="1F4E79"/>
                </a:solidFill>
                <a:latin typeface="Arial"/>
              </a:defRPr>
            </a:pPr>
            <a:r>
              <a:t>Symmetrical Benchmark</a:t>
            </a:r>
          </a:p>
          <a:p>
            <a:pPr>
              <a:lnSpc>
                <a:spcPct val="115000"/>
              </a:lnSpc>
              <a:spcAft>
                <a:spcPts val="700"/>
              </a:spcAft>
            </a:pPr>
            <a:r>
              <a:rPr b="1" sz="1150">
                <a:solidFill>
                  <a:srgbClr val="282828"/>
                </a:solidFill>
                <a:latin typeface="Arial"/>
              </a:rPr>
              <a:t>• Thiết kế 1:1 chuẩn tắc: </a:t>
            </a:r>
            <a:r>
              <a:rPr sz="1150">
                <a:solidFill>
                  <a:srgbClr val="282828"/>
                </a:solidFill>
                <a:latin typeface="Arial"/>
              </a:rPr>
              <a:t>Cố định classifier head, chuẩn hóa dung lượng tham số chênh lệch đúng 20 params conv cổ điển.</a:t>
            </a:r>
          </a:p>
          <a:p>
            <a:pPr>
              <a:lnSpc>
                <a:spcPct val="115000"/>
              </a:lnSpc>
              <a:spcAft>
                <a:spcPts val="700"/>
              </a:spcAft>
            </a:pPr>
            <a:r>
              <a:rPr b="1" sz="1150">
                <a:solidFill>
                  <a:srgbClr val="282828"/>
                </a:solidFill>
                <a:latin typeface="Arial"/>
              </a:rPr>
              <a:t>• Đánh giá khắt khe: </a:t>
            </a:r>
            <a:r>
              <a:rPr sz="1150">
                <a:solidFill>
                  <a:srgbClr val="282828"/>
                </a:solidFill>
                <a:latin typeface="Arial"/>
              </a:rPr>
              <a:t>10 seeds độc lập, kiểm định thống kê kép t-test + Wilcoxon, CI 95% và Cohen's d.</a:t>
            </a:r>
          </a:p>
        </p:txBody>
      </p:sp>
      <p:sp>
        <p:nvSpPr>
          <p:cNvPr id="10" name="Rounded Rectangle 9"/>
          <p:cNvSpPr/>
          <p:nvPr/>
        </p:nvSpPr>
        <p:spPr>
          <a:xfrm>
            <a:off x="4425696" y="1417320"/>
            <a:ext cx="3328416" cy="292608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1618488"/>
            <a:ext cx="2871216" cy="2523744"/>
          </a:xfrm>
          <a:prstGeom prst="rect">
            <a:avLst/>
          </a:prstGeom>
          <a:noFill/>
        </p:spPr>
        <p:txBody>
          <a:bodyPr wrap="square" lIns="0" rIns="0" tIns="0" bIns="0">
            <a:spAutoFit/>
          </a:bodyPr>
          <a:lstStyle/>
          <a:p>
            <a:pPr>
              <a:spcAft>
                <a:spcPts val="1000"/>
              </a:spcAft>
              <a:defRPr sz="1300" b="1">
                <a:solidFill>
                  <a:srgbClr val="1F4E79"/>
                </a:solidFill>
                <a:latin typeface="Arial"/>
              </a:defRPr>
            </a:pPr>
            <a:r>
              <a:t>Empirical Boundary</a:t>
            </a:r>
          </a:p>
          <a:p>
            <a:pPr>
              <a:lnSpc>
                <a:spcPct val="115000"/>
              </a:lnSpc>
              <a:spcAft>
                <a:spcPts val="700"/>
              </a:spcAft>
            </a:pPr>
            <a:r>
              <a:rPr b="1" sz="1150">
                <a:solidFill>
                  <a:srgbClr val="282828"/>
                </a:solidFill>
                <a:latin typeface="Arial"/>
              </a:rPr>
              <a:t>• Thắng lợi rõ rệt: </a:t>
            </a:r>
            <a:r>
              <a:rPr sz="1150">
                <a:solidFill>
                  <a:srgbClr val="282828"/>
                </a:solidFill>
                <a:latin typeface="Arial"/>
              </a:rPr>
              <a:t>Mạch tĩnh vượt Classical CNN trên dữ liệu nhỏ lệch lớp BreastMNIST (ROC-AUC 0.8521, PR-AUC 0.9182, std giảm 2.7×).</a:t>
            </a:r>
          </a:p>
          <a:p>
            <a:pPr>
              <a:lnSpc>
                <a:spcPct val="115000"/>
              </a:lnSpc>
              <a:spcAft>
                <a:spcPts val="700"/>
              </a:spcAft>
            </a:pPr>
            <a:r>
              <a:rPr b="1" sz="1150">
                <a:solidFill>
                  <a:srgbClr val="282828"/>
                </a:solidFill>
                <a:latin typeface="Arial"/>
              </a:rPr>
              <a:t>• Điểm nghẽn biểu diễn: </a:t>
            </a:r>
            <a:r>
              <a:rPr sz="1150">
                <a:solidFill>
                  <a:srgbClr val="282828"/>
                </a:solidFill>
                <a:latin typeface="Arial"/>
              </a:rPr>
              <a:t>CNN áp đảo trên dữ liệu lớn OCTMNIST (Δ = +0.0583, d = +2.108).</a:t>
            </a:r>
          </a:p>
        </p:txBody>
      </p:sp>
      <p:sp>
        <p:nvSpPr>
          <p:cNvPr id="12" name="Rounded Rectangle 11"/>
          <p:cNvSpPr/>
          <p:nvPr/>
        </p:nvSpPr>
        <p:spPr>
          <a:xfrm>
            <a:off x="8119872" y="1417320"/>
            <a:ext cx="3328416" cy="2926080"/>
          </a:xfrm>
          <a:prstGeom prst="roundRect">
            <a:avLst/>
          </a:prstGeom>
          <a:solidFill>
            <a:srgbClr val="F6F9FC"/>
          </a:solidFill>
          <a:ln w="1524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1618488"/>
            <a:ext cx="2871216" cy="2523744"/>
          </a:xfrm>
          <a:prstGeom prst="rect">
            <a:avLst/>
          </a:prstGeom>
          <a:noFill/>
        </p:spPr>
        <p:txBody>
          <a:bodyPr wrap="square" lIns="0" rIns="0" tIns="0" bIns="0">
            <a:spAutoFit/>
          </a:bodyPr>
          <a:lstStyle/>
          <a:p>
            <a:pPr>
              <a:spcAft>
                <a:spcPts val="1000"/>
              </a:spcAft>
              <a:defRPr sz="1300" b="1">
                <a:solidFill>
                  <a:srgbClr val="1F4E79"/>
                </a:solidFill>
                <a:latin typeface="Arial"/>
              </a:defRPr>
            </a:pPr>
            <a:r>
              <a:t>Reproducible Artifacts</a:t>
            </a:r>
          </a:p>
          <a:p>
            <a:pPr>
              <a:lnSpc>
                <a:spcPct val="115000"/>
              </a:lnSpc>
              <a:spcAft>
                <a:spcPts val="700"/>
              </a:spcAft>
            </a:pPr>
            <a:r>
              <a:rPr b="1" sz="1150">
                <a:solidFill>
                  <a:srgbClr val="282828"/>
                </a:solidFill>
                <a:latin typeface="Arial"/>
              </a:rPr>
              <a:t>• Mã nguồn &amp; Dữ liệu: </a:t>
            </a:r>
            <a:r>
              <a:rPr sz="1150">
                <a:solidFill>
                  <a:srgbClr val="282828"/>
                </a:solidFill>
                <a:latin typeface="Arial"/>
              </a:rPr>
              <a:t>100% tái lập được với seed cố định, tag soict-submission-v4.</a:t>
            </a:r>
          </a:p>
          <a:p>
            <a:pPr>
              <a:lnSpc>
                <a:spcPct val="115000"/>
              </a:lnSpc>
              <a:spcAft>
                <a:spcPts val="700"/>
              </a:spcAft>
            </a:pPr>
            <a:r>
              <a:rPr b="1" sz="1150">
                <a:solidFill>
                  <a:srgbClr val="282828"/>
                </a:solidFill>
                <a:latin typeface="Arial"/>
              </a:rPr>
              <a:t>• Bài báo Quốc tế: </a:t>
            </a:r>
            <a:r>
              <a:rPr sz="1150">
                <a:solidFill>
                  <a:srgbClr val="282828"/>
                </a:solidFill>
                <a:latin typeface="Arial"/>
              </a:rPr>
              <a:t>13 trang Springer CCIS nộp tại SOICT 2026.</a:t>
            </a:r>
          </a:p>
          <a:p>
            <a:pPr>
              <a:lnSpc>
                <a:spcPct val="115000"/>
              </a:lnSpc>
              <a:spcAft>
                <a:spcPts val="700"/>
              </a:spcAft>
            </a:pPr>
            <a:r>
              <a:rPr b="1" sz="1150">
                <a:solidFill>
                  <a:srgbClr val="282828"/>
                </a:solidFill>
                <a:latin typeface="Arial"/>
              </a:rPr>
              <a:t>• Hệ thống Demo: </a:t>
            </a:r>
            <a:r>
              <a:rPr sz="1150">
                <a:solidFill>
                  <a:srgbClr val="282828"/>
                </a:solidFill>
                <a:latin typeface="Arial"/>
              </a:rPr>
              <a:t>Live notebook kiểm thử tức thì với độ sai lệch 1.47e-8.</a:t>
            </a:r>
          </a:p>
        </p:txBody>
      </p:sp>
      <p:sp>
        <p:nvSpPr>
          <p:cNvPr id="14" name="Rounded Rectangle 13"/>
          <p:cNvSpPr/>
          <p:nvPr/>
        </p:nvSpPr>
        <p:spPr>
          <a:xfrm>
            <a:off x="731520" y="4526280"/>
            <a:ext cx="10728655" cy="1554480"/>
          </a:xfrm>
          <a:prstGeom prst="roundRect">
            <a:avLst/>
          </a:prstGeom>
          <a:solidFill>
            <a:srgbClr val="FEFAEB"/>
          </a:solidFill>
          <a:ln w="15240">
            <a:solidFill>
              <a:srgbClr val="E6B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727448"/>
            <a:ext cx="10271455" cy="1152144"/>
          </a:xfrm>
          <a:prstGeom prst="rect">
            <a:avLst/>
          </a:prstGeom>
          <a:noFill/>
        </p:spPr>
        <p:txBody>
          <a:bodyPr wrap="square" lIns="0" rIns="0" tIns="0" bIns="0">
            <a:spAutoFit/>
          </a:bodyPr>
          <a:lstStyle/>
          <a:p>
            <a:pPr>
              <a:spcAft>
                <a:spcPts val="1000"/>
              </a:spcAft>
              <a:defRPr sz="1300" b="1">
                <a:solidFill>
                  <a:srgbClr val="1F4E79"/>
                </a:solidFill>
                <a:latin typeface="Arial"/>
              </a:defRPr>
            </a:pPr>
            <a:r>
              <a:t>Thông tin Lưu trữ &amp; Mã nguồn Dự án</a:t>
            </a:r>
          </a:p>
          <a:p>
            <a:pPr>
              <a:lnSpc>
                <a:spcPct val="115000"/>
              </a:lnSpc>
              <a:spcAft>
                <a:spcPts val="700"/>
              </a:spcAft>
            </a:pPr>
            <a:r>
              <a:rPr b="1" sz="1150">
                <a:solidFill>
                  <a:srgbClr val="282828"/>
                </a:solidFill>
                <a:latin typeface="Arial"/>
              </a:rPr>
              <a:t>• Kho lưu trữ GitHub chính thức: </a:t>
            </a:r>
            <a:r>
              <a:rPr sz="1150">
                <a:solidFill>
                  <a:srgbClr val="282828"/>
                </a:solidFill>
                <a:latin typeface="Arial"/>
              </a:rPr>
              <a:t>https://github.com/NamIsStudyingCE/Quanvolution (Gắn tag phiên bản: soict-submission-v4)</a:t>
            </a:r>
          </a:p>
          <a:p>
            <a:pPr>
              <a:lnSpc>
                <a:spcPct val="115000"/>
              </a:lnSpc>
              <a:spcAft>
                <a:spcPts val="700"/>
              </a:spcAft>
            </a:pPr>
            <a:r>
              <a:rPr b="1" sz="1150">
                <a:solidFill>
                  <a:srgbClr val="282828"/>
                </a:solidFill>
                <a:latin typeface="Arial"/>
              </a:rPr>
              <a:t>• Bộ tài liệu nghiệm thu: </a:t>
            </a:r>
            <a:r>
              <a:rPr sz="1150">
                <a:solidFill>
                  <a:srgbClr val="282828"/>
                </a:solidFill>
                <a:latin typeface="Arial"/>
              </a:rPr>
              <a:t>Luận văn 58 trang (KLTN_draft_full.docx), Bảng số liệu Canonical (reconciliation_canonical.json), Video demo bảo vệ 104s.</a:t>
            </a:r>
          </a:p>
          <a:p>
            <a:pPr>
              <a:lnSpc>
                <a:spcPct val="115000"/>
              </a:lnSpc>
              <a:spcAft>
                <a:spcPts val="700"/>
              </a:spcAft>
            </a:pPr>
            <a:r>
              <a:rPr b="1" sz="1150">
                <a:solidFill>
                  <a:srgbClr val="282828"/>
                </a:solidFill>
                <a:latin typeface="Arial"/>
              </a:rPr>
              <a:t>• Lời cảm ơn: </a:t>
            </a:r>
            <a:r>
              <a:rPr sz="1150">
                <a:solidFill>
                  <a:srgbClr val="282828"/>
                </a:solidFill>
                <a:latin typeface="Arial"/>
              </a:rPr>
              <a:t>Chân thành cảm ơn TS. Nguyễn Duy Xuân Bách và Quý Thầy Cô Khoa Kỹ thuật Máy tính đã tận tình hướng dẫn và định hướng nghiên cứu.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1: THỐNG KÊ &amp; KIỂM ĐỊNH GIẢ THUYẾT</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Ma trận kiểm định thống kê kép và kích thước hiệu ứng Cohen's d cho các cặp so sánh then chốt</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1)</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19 / 22</a:t>
            </a:r>
          </a:p>
        </p:txBody>
      </p:sp>
      <p:sp>
        <p:nvSpPr>
          <p:cNvPr id="8" name="Rounded Rectangle 7"/>
          <p:cNvSpPr/>
          <p:nvPr/>
        </p:nvSpPr>
        <p:spPr>
          <a:xfrm>
            <a:off x="731520" y="1417320"/>
            <a:ext cx="107286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102714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Chi tiết Bảng Kiểm định Thống kê (Bảng 4.3 Canonical)</a:t>
            </a:r>
          </a:p>
          <a:p>
            <a:pPr>
              <a:lnSpc>
                <a:spcPct val="115000"/>
              </a:lnSpc>
              <a:spcAft>
                <a:spcPts val="700"/>
              </a:spcAft>
            </a:pPr>
            <a:r>
              <a:rPr b="1" sz="1150">
                <a:solidFill>
                  <a:srgbClr val="282828"/>
                </a:solidFill>
                <a:latin typeface="Arial"/>
              </a:rPr>
              <a:t>• 1. Breast: Classical CNN vs Fixed Basic (AUC): </a:t>
            </a:r>
            <a:r>
              <a:rPr sz="1150">
                <a:solidFill>
                  <a:srgbClr val="282828"/>
                </a:solidFill>
                <a:latin typeface="Arial"/>
              </a:rPr>
              <a:t>Δ = −0.0186 | p_ttest = 0.0298 | p_wilcoxon = 0.0254 | Cohen's d = −0.815 (Fixed Basic thắng có ý nghĩa thống kê, hiệu ứng lớn).</a:t>
            </a:r>
          </a:p>
          <a:p>
            <a:pPr>
              <a:lnSpc>
                <a:spcPct val="115000"/>
              </a:lnSpc>
              <a:spcAft>
                <a:spcPts val="700"/>
              </a:spcAft>
            </a:pPr>
            <a:r>
              <a:rPr b="1" sz="1150">
                <a:solidFill>
                  <a:srgbClr val="282828"/>
                </a:solidFill>
                <a:latin typeface="Arial"/>
              </a:rPr>
              <a:t>• 2. Breast: Classical CNN vs Fixed Strongly (PR): </a:t>
            </a:r>
            <a:r>
              <a:rPr sz="1150">
                <a:solidFill>
                  <a:srgbClr val="282828"/>
                </a:solidFill>
                <a:latin typeface="Arial"/>
              </a:rPr>
              <a:t>Δ = −0.0140 | p_ttest = 0.0023 | p_wilcoxon = 0.0059 | Cohen's d = −1.332 (Fixed Strongly thắng áp đảo ở PR-AUC, hiệu ứng rất lớn).</a:t>
            </a:r>
          </a:p>
          <a:p>
            <a:pPr>
              <a:lnSpc>
                <a:spcPct val="115000"/>
              </a:lnSpc>
              <a:spcAft>
                <a:spcPts val="700"/>
              </a:spcAft>
            </a:pPr>
            <a:r>
              <a:rPr b="1" sz="1150">
                <a:solidFill>
                  <a:srgbClr val="282828"/>
                </a:solidFill>
                <a:latin typeface="Arial"/>
              </a:rPr>
              <a:t>• 3. Breast: Fixed Strongly vs Trainable Strongly (BAcc): </a:t>
            </a:r>
            <a:r>
              <a:rPr sz="1150">
                <a:solidFill>
                  <a:srgbClr val="282828"/>
                </a:solidFill>
                <a:latin typeface="Arial"/>
              </a:rPr>
              <a:t>Δ = −0.0344 | p_ttest = 0.0611 | p_wilcoxon = 0.0879 | Cohen's d = −0.677 (Mức xu hướng, chưa đạt p &lt; 0.05).</a:t>
            </a:r>
          </a:p>
          <a:p>
            <a:pPr>
              <a:lnSpc>
                <a:spcPct val="115000"/>
              </a:lnSpc>
              <a:spcAft>
                <a:spcPts val="700"/>
              </a:spcAft>
            </a:pPr>
            <a:r>
              <a:rPr b="1" sz="1150">
                <a:solidFill>
                  <a:srgbClr val="282828"/>
                </a:solidFill>
                <a:latin typeface="Arial"/>
              </a:rPr>
              <a:t>• 4. OCT: Classical CNN vs Trainable Strongly (AUC): </a:t>
            </a:r>
            <a:r>
              <a:rPr sz="1150">
                <a:solidFill>
                  <a:srgbClr val="282828"/>
                </a:solidFill>
                <a:latin typeface="Arial"/>
              </a:rPr>
              <a:t>Δ = +0.0583 | p_ttest = 0.0001 | p_wilcoxon = 0.0020 | Cohen's d = +2.108 (CNN cổ điển áp đảo tuyệt đối, hiệu ứng khổng lồ).</a:t>
            </a:r>
          </a:p>
          <a:p>
            <a:pPr>
              <a:lnSpc>
                <a:spcPct val="115000"/>
              </a:lnSpc>
              <a:spcAft>
                <a:spcPts val="700"/>
              </a:spcAft>
            </a:pPr>
            <a:r>
              <a:rPr b="1" sz="1150">
                <a:solidFill>
                  <a:srgbClr val="282828"/>
                </a:solidFill>
                <a:latin typeface="Arial"/>
              </a:rPr>
              <a:t>• 5. OCT: Trainable Strongly vs Fixed Strongly (AUC): </a:t>
            </a:r>
            <a:r>
              <a:rPr sz="1150">
                <a:solidFill>
                  <a:srgbClr val="282828"/>
                </a:solidFill>
                <a:latin typeface="Arial"/>
              </a:rPr>
              <a:t>Δ = +0.0232 | p_ttest = 0.0090 | p_wilcoxon = 0.0098 | Cohen's d = +1.050 (Tự học cải thiện có ý nghĩa so với mạch tĩnh cùng họ).</a:t>
            </a:r>
          </a:p>
          <a:p>
            <a:pPr>
              <a:lnSpc>
                <a:spcPct val="115000"/>
              </a:lnSpc>
              <a:spcAft>
                <a:spcPts val="700"/>
              </a:spcAft>
            </a:pPr>
            <a:r>
              <a:rPr b="1" sz="1150">
                <a:solidFill>
                  <a:srgbClr val="282828"/>
                </a:solidFill>
                <a:latin typeface="Arial"/>
              </a:rPr>
              <a:t>• 6. OCT: Trainable Strongly vs Quán quân tĩnh random_L1 (AUC): </a:t>
            </a:r>
            <a:r>
              <a:rPr sz="1150">
                <a:solidFill>
                  <a:srgbClr val="282828"/>
                </a:solidFill>
                <a:latin typeface="Arial"/>
              </a:rPr>
              <a:t>Δ = +0.0010 | p_ttest = 0.8875 | p_wilcoxon = 0.6250 | Cohen's d = +0.046 (Khác biệt hoàn toàn không đáng kể, p = 0.8875).</a:t>
            </a:r>
          </a:p>
          <a:p>
            <a:pPr>
              <a:lnSpc>
                <a:spcPct val="115000"/>
              </a:lnSpc>
              <a:spcAft>
                <a:spcPts val="700"/>
              </a:spcAft>
            </a:pPr>
            <a:r>
              <a:rPr b="1" sz="1150">
                <a:solidFill>
                  <a:srgbClr val="282828"/>
                </a:solidFill>
                <a:latin typeface="Arial"/>
              </a:rPr>
              <a:t>• Lưu ý về ngưỡng p-value Wilcoxon (n=10): </a:t>
            </a:r>
            <a:r>
              <a:rPr sz="1150">
                <a:solidFill>
                  <a:srgbClr val="282828"/>
                </a:solidFill>
                <a:latin typeface="Arial"/>
              </a:rPr>
              <a:t>Phân phối Wilcoxon signed-rank rời rạc với n=10 có mức tối thiểu lý thuyết là 1 / 2⁹ ≈ 0.00195. Mức p ≈ 0.0020 là mức ý nghĩa tối đa có thể đạt được.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2: PHÂN RÃ THAM SỐ MÔ HÌNH</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Chứng minh toán học về tính đối xứng 1:1 giữa Classical CNN và Quanvolution</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2)</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20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rã Tham số BreastMNIST (K=2)</a:t>
            </a:r>
          </a:p>
          <a:p>
            <a:pPr>
              <a:lnSpc>
                <a:spcPct val="115000"/>
              </a:lnSpc>
              <a:spcAft>
                <a:spcPts val="700"/>
              </a:spcAft>
            </a:pPr>
            <a:r>
              <a:rPr b="1" sz="1150">
                <a:solidFill>
                  <a:srgbClr val="282828"/>
                </a:solidFill>
                <a:latin typeface="Arial"/>
              </a:rPr>
              <a:t>• Classifier Head chung: </a:t>
            </a:r>
            <a:r>
              <a:rPr sz="1150">
                <a:solidFill>
                  <a:srgbClr val="282828"/>
                </a:solidFill>
                <a:latin typeface="Arial"/>
              </a:rPr>
              <a:t>Linear(784 → 2) có 784 × 2 weights + 2 biases = 1,570 tham số. BatchNorm2d(4) có 8 tham số. Tổng Head = 1,578 tham số.</a:t>
            </a:r>
          </a:p>
          <a:p>
            <a:pPr>
              <a:lnSpc>
                <a:spcPct val="115000"/>
              </a:lnSpc>
              <a:spcAft>
                <a:spcPts val="700"/>
              </a:spcAft>
            </a:pPr>
            <a:r>
              <a:rPr b="1" sz="1150">
                <a:solidFill>
                  <a:srgbClr val="282828"/>
                </a:solidFill>
                <a:latin typeface="Arial"/>
              </a:rPr>
              <a:t>• Mô hình Classical CNN: </a:t>
            </a:r>
            <a:r>
              <a:rPr sz="1150">
                <a:solidFill>
                  <a:srgbClr val="282828"/>
                </a:solidFill>
                <a:latin typeface="Arial"/>
              </a:rPr>
              <a:t>Lớp Conv2D(1→4, 2×2, bias) có (1×2×2 + 1) × 4 = 20 tham số. Tổng toàn mạng = 20 + 1,578 = 1,598 tham số.</a:t>
            </a:r>
          </a:p>
          <a:p>
            <a:pPr>
              <a:lnSpc>
                <a:spcPct val="115000"/>
              </a:lnSpc>
              <a:spcAft>
                <a:spcPts val="700"/>
              </a:spcAft>
            </a:pPr>
            <a:r>
              <a:rPr b="1" sz="1150">
                <a:solidFill>
                  <a:srgbClr val="282828"/>
                </a:solidFill>
                <a:latin typeface="Arial"/>
              </a:rPr>
              <a:t>• Mô hình Quanvolution Tĩnh: </a:t>
            </a:r>
            <a:r>
              <a:rPr sz="1150">
                <a:solidFill>
                  <a:srgbClr val="282828"/>
                </a:solidFill>
                <a:latin typeface="Arial"/>
              </a:rPr>
              <a:t>Kernel lượng tử = 0 tham số. Tổng toàn mạng = 1,578 tham số. Chênh lệch đúng 20 tham số của lớp Conv2D.</a:t>
            </a:r>
          </a:p>
          <a:p>
            <a:pPr>
              <a:lnSpc>
                <a:spcPct val="115000"/>
              </a:lnSpc>
              <a:spcAft>
                <a:spcPts val="700"/>
              </a:spcAft>
            </a:pPr>
            <a:r>
              <a:rPr b="1" sz="1150">
                <a:solidFill>
                  <a:srgbClr val="282828"/>
                </a:solidFill>
                <a:latin typeface="Arial"/>
              </a:rPr>
              <a:t>• Mô hình Quanvolution Tự học: </a:t>
            </a:r>
            <a:r>
              <a:rPr sz="1150">
                <a:solidFill>
                  <a:srgbClr val="282828"/>
                </a:solidFill>
                <a:latin typeface="Arial"/>
              </a:rPr>
              <a:t>Basic_L2 có 8 tham số góc (Tổng 1,586); Strongly_L2 có 24 tham số góc (Tổng 1,602 tham số).</a:t>
            </a:r>
          </a:p>
          <a:p>
            <a:pPr>
              <a:lnSpc>
                <a:spcPct val="115000"/>
              </a:lnSpc>
              <a:spcAft>
                <a:spcPts val="700"/>
              </a:spcAft>
            </a:pPr>
            <a:r>
              <a:rPr b="1" sz="1150">
                <a:solidFill>
                  <a:srgbClr val="282828"/>
                </a:solidFill>
                <a:latin typeface="Arial"/>
              </a:rPr>
              <a:t>• Độ chênh lệch tối đa: </a:t>
            </a:r>
            <a:r>
              <a:rPr sz="1150">
                <a:solidFill>
                  <a:srgbClr val="282828"/>
                </a:solidFill>
                <a:latin typeface="Arial"/>
              </a:rPr>
              <a:t>Không vượt quá 24 tham số so với toàn mạng ~1,600 tham số (&lt; 1.5%).</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Phân rã Tham số OCTMNIST (K=4)</a:t>
            </a:r>
          </a:p>
          <a:p>
            <a:pPr>
              <a:lnSpc>
                <a:spcPct val="115000"/>
              </a:lnSpc>
              <a:spcAft>
                <a:spcPts val="700"/>
              </a:spcAft>
            </a:pPr>
            <a:r>
              <a:rPr b="1" sz="1150">
                <a:solidFill>
                  <a:srgbClr val="282828"/>
                </a:solidFill>
                <a:latin typeface="Arial"/>
              </a:rPr>
              <a:t>• Classifier Head chung: </a:t>
            </a:r>
            <a:r>
              <a:rPr sz="1150">
                <a:solidFill>
                  <a:srgbClr val="282828"/>
                </a:solidFill>
                <a:latin typeface="Arial"/>
              </a:rPr>
              <a:t>Linear(784 → 4) có 784 × 4 weights + 4 biases = 3,140 tham số. BatchNorm2d(4) có 8 tham số. Tổng Head = 3,148 tham số.</a:t>
            </a:r>
          </a:p>
          <a:p>
            <a:pPr>
              <a:lnSpc>
                <a:spcPct val="115000"/>
              </a:lnSpc>
              <a:spcAft>
                <a:spcPts val="700"/>
              </a:spcAft>
            </a:pPr>
            <a:r>
              <a:rPr b="1" sz="1150">
                <a:solidFill>
                  <a:srgbClr val="282828"/>
                </a:solidFill>
                <a:latin typeface="Arial"/>
              </a:rPr>
              <a:t>• Mô hình Classical CNN: </a:t>
            </a:r>
            <a:r>
              <a:rPr sz="1150">
                <a:solidFill>
                  <a:srgbClr val="282828"/>
                </a:solidFill>
                <a:latin typeface="Arial"/>
              </a:rPr>
              <a:t>Lớp Conv2D(1→4, 2×2, bias) có 20 tham số. Tổng toàn mạng = 20 + 3,148 = 3,168 tham số.</a:t>
            </a:r>
          </a:p>
          <a:p>
            <a:pPr>
              <a:lnSpc>
                <a:spcPct val="115000"/>
              </a:lnSpc>
              <a:spcAft>
                <a:spcPts val="700"/>
              </a:spcAft>
            </a:pPr>
            <a:r>
              <a:rPr b="1" sz="1150">
                <a:solidFill>
                  <a:srgbClr val="282828"/>
                </a:solidFill>
                <a:latin typeface="Arial"/>
              </a:rPr>
              <a:t>• Mô hình Quanvolution Tĩnh: </a:t>
            </a:r>
            <a:r>
              <a:rPr sz="1150">
                <a:solidFill>
                  <a:srgbClr val="282828"/>
                </a:solidFill>
                <a:latin typeface="Arial"/>
              </a:rPr>
              <a:t>Kernel lượng tử = 0 tham số. Tổng toàn mạng = 3,148 tham số. Chênh lệch đúng 20 tham số.</a:t>
            </a:r>
          </a:p>
          <a:p>
            <a:pPr>
              <a:lnSpc>
                <a:spcPct val="115000"/>
              </a:lnSpc>
              <a:spcAft>
                <a:spcPts val="700"/>
              </a:spcAft>
            </a:pPr>
            <a:r>
              <a:rPr b="1" sz="1150">
                <a:solidFill>
                  <a:srgbClr val="282828"/>
                </a:solidFill>
                <a:latin typeface="Arial"/>
              </a:rPr>
              <a:t>• Mô hình Quanvolution Tự học: </a:t>
            </a:r>
            <a:r>
              <a:rPr sz="1150">
                <a:solidFill>
                  <a:srgbClr val="282828"/>
                </a:solidFill>
                <a:latin typeface="Arial"/>
              </a:rPr>
              <a:t>Basic_L1 có 4 tham số góc (Tổng 3,152); Strongly_L1 có 12 tham số góc (Tổng 3,160 tham số).</a:t>
            </a:r>
          </a:p>
          <a:p>
            <a:pPr>
              <a:lnSpc>
                <a:spcPct val="115000"/>
              </a:lnSpc>
              <a:spcAft>
                <a:spcPts val="700"/>
              </a:spcAft>
            </a:pPr>
            <a:r>
              <a:rPr b="1" sz="1150">
                <a:solidFill>
                  <a:srgbClr val="282828"/>
                </a:solidFill>
                <a:latin typeface="Arial"/>
              </a:rPr>
              <a:t>• Quy chuẩn nghiêm ngặt: </a:t>
            </a:r>
            <a:r>
              <a:rPr sz="1150">
                <a:solidFill>
                  <a:srgbClr val="282828"/>
                </a:solidFill>
                <a:latin typeface="Arial"/>
              </a:rPr>
              <a:t>TUYỆT ĐỐI không có sự nhầm lẫn giữa 1,570 tham số (K=2) và 3,140 tham số (K=4).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3: KIỂM CHỨNG ĐẠO HÀM LƯỢNG TỬ</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Chứng minh tính tương đương vật lý giữa Statevector Backpropagation và Parameter-Shift Rule</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3)</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21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Cơ sở Toán học &amp; Hai Đường Tính Gradient</a:t>
            </a:r>
          </a:p>
          <a:p>
            <a:pPr>
              <a:lnSpc>
                <a:spcPct val="115000"/>
              </a:lnSpc>
              <a:spcAft>
                <a:spcPts val="700"/>
              </a:spcAft>
            </a:pPr>
            <a:r>
              <a:rPr b="1" sz="1150">
                <a:solidFill>
                  <a:srgbClr val="282828"/>
                </a:solidFill>
                <a:latin typeface="Arial"/>
              </a:rPr>
              <a:t>• 1. Đạo hàm giải tích Statevector (PyTorch): </a:t>
            </a:r>
            <a:r>
              <a:rPr sz="1150">
                <a:solidFill>
                  <a:srgbClr val="282828"/>
                </a:solidFill>
                <a:latin typeface="Arial"/>
              </a:rPr>
              <a:t>Sử dụng engine lan truyền ngược PyTorch tích hợp PennyLane (Bergholm et al. 2018) trên không gian vector trạng thái mô phỏng.</a:t>
            </a:r>
          </a:p>
          <a:p>
            <a:pPr>
              <a:lnSpc>
                <a:spcPct val="115000"/>
              </a:lnSpc>
              <a:spcAft>
                <a:spcPts val="700"/>
              </a:spcAft>
            </a:pPr>
            <a:r>
              <a:rPr b="1" sz="1150">
                <a:solidFill>
                  <a:srgbClr val="282828"/>
                </a:solidFill>
                <a:latin typeface="Arial"/>
              </a:rPr>
              <a:t>• 2. Parameter-Shift Rule (Schuld et al. 2019): </a:t>
            </a:r>
            <a:r>
              <a:rPr sz="1150">
                <a:solidFill>
                  <a:srgbClr val="282828"/>
                </a:solidFill>
                <a:latin typeface="Arial"/>
              </a:rPr>
              <a:t>Công thức đạo hàm giải tích trên phần cứng lượng tử thực tế mà không cần xấp xỉ sai phân hữu hạn:</a:t>
            </a:r>
          </a:p>
          <a:p>
            <a:pPr>
              <a:lnSpc>
                <a:spcPct val="115000"/>
              </a:lnSpc>
              <a:spcAft>
                <a:spcPts val="700"/>
              </a:spcAft>
            </a:pPr>
            <a:r>
              <a:rPr b="1" sz="1150">
                <a:solidFill>
                  <a:srgbClr val="282828"/>
                </a:solidFill>
                <a:latin typeface="Arial"/>
              </a:rPr>
              <a:t>• Công thức Shift-Rule: </a:t>
            </a:r>
            <a:r>
              <a:rPr sz="1150">
                <a:solidFill>
                  <a:srgbClr val="282828"/>
                </a:solidFill>
                <a:latin typeface="Arial"/>
              </a:rPr>
              <a:t>∂⟨M⟩ / ∂θ_j = [⟨M⟩(θ_j + s) − ⟨M⟩(θ_j − s)] / (2 sin s) với bước dịch chuyển s = π/2.</a:t>
            </a:r>
          </a:p>
          <a:p>
            <a:pPr>
              <a:lnSpc>
                <a:spcPct val="115000"/>
              </a:lnSpc>
              <a:spcAft>
                <a:spcPts val="700"/>
              </a:spcAft>
            </a:pPr>
            <a:r>
              <a:rPr b="1" sz="1150">
                <a:solidFill>
                  <a:srgbClr val="282828"/>
                </a:solidFill>
                <a:latin typeface="Arial"/>
              </a:rPr>
              <a:t>• Bản chất vật lý: </a:t>
            </a:r>
            <a:r>
              <a:rPr sz="1150">
                <a:solidFill>
                  <a:srgbClr val="282828"/>
                </a:solidFill>
                <a:latin typeface="Arial"/>
              </a:rPr>
              <a:t>Parameter-Shift Rule là chuẩn vàng thực nghiệm trên máy lượng tử thật.</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Kết quả Đo lường Thực nghiệm &amp; Kết luận</a:t>
            </a:r>
          </a:p>
          <a:p>
            <a:pPr>
              <a:lnSpc>
                <a:spcPct val="115000"/>
              </a:lnSpc>
              <a:spcAft>
                <a:spcPts val="700"/>
              </a:spcAft>
            </a:pPr>
            <a:r>
              <a:rPr b="1" sz="1150">
                <a:solidFill>
                  <a:srgbClr val="282828"/>
                </a:solidFill>
                <a:latin typeface="Arial"/>
              </a:rPr>
              <a:t>• Thiết lập kiểm thử đối chứng: </a:t>
            </a:r>
            <a:r>
              <a:rPr sz="1150">
                <a:solidFill>
                  <a:srgbClr val="282828"/>
                </a:solidFill>
                <a:latin typeface="Arial"/>
              </a:rPr>
              <a:t>Khởi tạo ngẫu nhiên góc θ, nạp các patch ảnh thực tế từ BreastMNIST và OCTMNIST, tính song song ma trận Jacobian bằng cả hai phương pháp.</a:t>
            </a:r>
          </a:p>
          <a:p>
            <a:pPr>
              <a:lnSpc>
                <a:spcPct val="115000"/>
              </a:lnSpc>
              <a:spcAft>
                <a:spcPts val="700"/>
              </a:spcAft>
            </a:pPr>
            <a:r>
              <a:rPr b="1" sz="1150">
                <a:solidFill>
                  <a:srgbClr val="282828"/>
                </a:solidFill>
                <a:latin typeface="Arial"/>
              </a:rPr>
              <a:t>• Sai lệch tuyệt đối đo được: </a:t>
            </a:r>
            <a:r>
              <a:rPr sz="1150">
                <a:solidFill>
                  <a:srgbClr val="282828"/>
                </a:solidFill>
                <a:latin typeface="Arial"/>
              </a:rPr>
              <a:t>|Δ| = |g_backprop − g_shift| &lt; 4.1 × 10⁻⁸ trên toàn bộ các thành phần gradient.</a:t>
            </a:r>
          </a:p>
          <a:p>
            <a:pPr>
              <a:lnSpc>
                <a:spcPct val="115000"/>
              </a:lnSpc>
              <a:spcAft>
                <a:spcPts val="700"/>
              </a:spcAft>
            </a:pPr>
            <a:r>
              <a:rPr b="1" sz="1150">
                <a:solidFill>
                  <a:srgbClr val="282828"/>
                </a:solidFill>
                <a:latin typeface="Arial"/>
              </a:rPr>
              <a:t>• Phân tích sai số: </a:t>
            </a:r>
            <a:r>
              <a:rPr sz="1150">
                <a:solidFill>
                  <a:srgbClr val="282828"/>
                </a:solidFill>
                <a:latin typeface="Arial"/>
              </a:rPr>
              <a:t>Sai lệch hoàn toàn nằm trong giới hạn sai số làm tròn số học dấu phẩy động (float32/64).</a:t>
            </a:r>
          </a:p>
          <a:p>
            <a:pPr>
              <a:lnSpc>
                <a:spcPct val="115000"/>
              </a:lnSpc>
              <a:spcAft>
                <a:spcPts val="700"/>
              </a:spcAft>
            </a:pPr>
            <a:r>
              <a:rPr b="1" sz="1150">
                <a:solidFill>
                  <a:srgbClr val="282828"/>
                </a:solidFill>
                <a:latin typeface="Arial"/>
              </a:rPr>
              <a:t>• Kết luận thẩm định: </a:t>
            </a:r>
            <a:r>
              <a:rPr sz="1150">
                <a:solidFill>
                  <a:srgbClr val="282828"/>
                </a:solidFill>
                <a:latin typeface="Arial"/>
              </a:rPr>
              <a:t>Khẳng định thuật toán lan truyền ngược mô phỏng phản ánh chính xác 100% động học vật lý lượng tử trước khi huấn luyện.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47472"/>
            <a:ext cx="10728655" cy="228600"/>
          </a:xfrm>
          <a:prstGeom prst="rect">
            <a:avLst/>
          </a:prstGeom>
          <a:noFill/>
        </p:spPr>
        <p:txBody>
          <a:bodyPr wrap="square" lIns="0" rIns="0" tIns="0" bIns="0">
            <a:spAutoFit/>
          </a:bodyPr>
          <a:lstStyle/>
          <a:p>
            <a:pPr>
              <a:defRPr sz="1000" b="1">
                <a:solidFill>
                  <a:srgbClr val="2E75B6"/>
                </a:solidFill>
                <a:latin typeface="Arial"/>
              </a:defRPr>
            </a:pPr>
            <a:r>
              <a:t>PHỤ LỤC PHÒNG VỆ 4: HỆ THỐNG DEMO TRỰC QUAN</a:t>
            </a:r>
          </a:p>
        </p:txBody>
      </p:sp>
      <p:sp>
        <p:nvSpPr>
          <p:cNvPr id="3" name="TextBox 2"/>
          <p:cNvSpPr txBox="1"/>
          <p:nvPr/>
        </p:nvSpPr>
        <p:spPr>
          <a:xfrm>
            <a:off x="731520" y="585216"/>
            <a:ext cx="10728655" cy="548640"/>
          </a:xfrm>
          <a:prstGeom prst="rect">
            <a:avLst/>
          </a:prstGeom>
          <a:noFill/>
        </p:spPr>
        <p:txBody>
          <a:bodyPr wrap="square" lIns="0" rIns="0" tIns="0" bIns="0">
            <a:spAutoFit/>
          </a:bodyPr>
          <a:lstStyle/>
          <a:p>
            <a:pPr>
              <a:defRPr sz="2000" b="1">
                <a:solidFill>
                  <a:srgbClr val="1F4E79"/>
                </a:solidFill>
                <a:latin typeface="Arial"/>
              </a:defRPr>
            </a:pPr>
            <a:r>
              <a:t>Hồ sơ hệ thống chạy demo trực tiếp (gd4_defense_demo.ipynb) và video dự phòng 104 giây</a:t>
            </a:r>
          </a:p>
        </p:txBody>
      </p:sp>
      <p:sp>
        <p:nvSpPr>
          <p:cNvPr id="4" name="Rectangle 3"/>
          <p:cNvSpPr/>
          <p:nvPr/>
        </p:nvSpPr>
        <p:spPr>
          <a:xfrm>
            <a:off x="731520" y="1188720"/>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3716"/>
          </a:xfrm>
          <a:prstGeom prst="rect">
            <a:avLst/>
          </a:prstGeom>
          <a:solidFill>
            <a:srgbClr val="DAE2EC"/>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229600" cy="274320"/>
          </a:xfrm>
          <a:prstGeom prst="rect">
            <a:avLst/>
          </a:prstGeom>
          <a:noFill/>
        </p:spPr>
        <p:txBody>
          <a:bodyPr wrap="none" lIns="0" rIns="0" tIns="0" bIns="0">
            <a:spAutoFit/>
          </a:bodyPr>
          <a:lstStyle/>
          <a:p>
            <a:pPr>
              <a:defRPr sz="950">
                <a:solidFill>
                  <a:srgbClr val="6E737D"/>
                </a:solidFill>
                <a:latin typeface="Arial"/>
              </a:defRPr>
            </a:pPr>
            <a:r>
              <a:t>Khóa luận Tốt nghiệp Kỹ sư Kỹ thuật Máy tính | Slide Phụ trợ Trả lời Phản biện (Backup Slide 4)</a:t>
            </a:r>
          </a:p>
        </p:txBody>
      </p:sp>
      <p:sp>
        <p:nvSpPr>
          <p:cNvPr id="7" name="TextBox 6"/>
          <p:cNvSpPr txBox="1"/>
          <p:nvPr/>
        </p:nvSpPr>
        <p:spPr>
          <a:xfrm>
            <a:off x="9601200" y="6382512"/>
            <a:ext cx="1858975" cy="274320"/>
          </a:xfrm>
          <a:prstGeom prst="rect">
            <a:avLst/>
          </a:prstGeom>
          <a:noFill/>
        </p:spPr>
        <p:txBody>
          <a:bodyPr wrap="none" lIns="0" rIns="0" tIns="0" bIns="0">
            <a:spAutoFit/>
          </a:bodyPr>
          <a:lstStyle/>
          <a:p>
            <a:pPr algn="r">
              <a:defRPr sz="1000" b="1">
                <a:solidFill>
                  <a:srgbClr val="1F4E79"/>
                </a:solidFill>
                <a:latin typeface="Arial"/>
              </a:defRPr>
            </a:pPr>
            <a:r>
              <a:t>22 / 22</a:t>
            </a:r>
          </a:p>
        </p:txBody>
      </p:sp>
      <p:sp>
        <p:nvSpPr>
          <p:cNvPr id="8" name="Rounded Rectangle 7"/>
          <p:cNvSpPr/>
          <p:nvPr/>
        </p:nvSpPr>
        <p:spPr>
          <a:xfrm>
            <a:off x="731520" y="1417320"/>
            <a:ext cx="5212080"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18488"/>
            <a:ext cx="4754880"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Cấu trúc Notebook Demo (gd4_defense_demo.ipynb)</a:t>
            </a:r>
          </a:p>
          <a:p>
            <a:pPr>
              <a:lnSpc>
                <a:spcPct val="115000"/>
              </a:lnSpc>
              <a:spcAft>
                <a:spcPts val="700"/>
              </a:spcAft>
            </a:pPr>
            <a:r>
              <a:rPr b="1" sz="1150">
                <a:solidFill>
                  <a:srgbClr val="282828"/>
                </a:solidFill>
                <a:latin typeface="Arial"/>
              </a:rPr>
              <a:t>• Tác vụ thực hiện: </a:t>
            </a:r>
            <a:r>
              <a:rPr sz="1150">
                <a:solidFill>
                  <a:srgbClr val="282828"/>
                </a:solidFill>
                <a:latin typeface="Arial"/>
              </a:rPr>
              <a:t>Nạp trực tiếp một ảnh siêu âm vú từ test set, trích xuất feature map LIVE bằng 3 mạch lượng tử (basic_L2, strongly_L2, random_L2).</a:t>
            </a:r>
          </a:p>
          <a:p>
            <a:pPr>
              <a:lnSpc>
                <a:spcPct val="115000"/>
              </a:lnSpc>
              <a:spcAft>
                <a:spcPts val="700"/>
              </a:spcAft>
            </a:pPr>
            <a:r>
              <a:rPr b="1" sz="1150">
                <a:solidFill>
                  <a:srgbClr val="282828"/>
                </a:solidFill>
                <a:latin typeface="Arial"/>
              </a:rPr>
              <a:t>• Huấn luyện đối xứng: </a:t>
            </a:r>
            <a:r>
              <a:rPr sz="1150">
                <a:solidFill>
                  <a:srgbClr val="282828"/>
                </a:solidFill>
                <a:latin typeface="Arial"/>
              </a:rPr>
              <a:t>Huấn luyện classifier head đối xứng ngay trong notebook (20 epochs, ~1.3 giây trên đặc trưng precompute).</a:t>
            </a:r>
          </a:p>
          <a:p>
            <a:pPr>
              <a:lnSpc>
                <a:spcPct val="115000"/>
              </a:lnSpc>
              <a:spcAft>
                <a:spcPts val="700"/>
              </a:spcAft>
            </a:pPr>
            <a:r>
              <a:rPr b="1" sz="1150">
                <a:solidFill>
                  <a:srgbClr val="282828"/>
                </a:solidFill>
                <a:latin typeface="Arial"/>
              </a:rPr>
              <a:t>• Dự đoán &amp; Chi phí: </a:t>
            </a:r>
            <a:r>
              <a:rPr sz="1150">
                <a:solidFill>
                  <a:srgbClr val="282828"/>
                </a:solidFill>
                <a:latin typeface="Arial"/>
              </a:rPr>
              <a:t>Xuất xác suất dự đoán ung thư vú và biểu đồ so sánh chi phí suy luận CPU giữa Classical CNN và Quanvolution.</a:t>
            </a:r>
          </a:p>
          <a:p>
            <a:pPr>
              <a:lnSpc>
                <a:spcPct val="115000"/>
              </a:lnSpc>
              <a:spcAft>
                <a:spcPts val="700"/>
              </a:spcAft>
            </a:pPr>
            <a:r>
              <a:rPr b="1" sz="1150">
                <a:solidFill>
                  <a:srgbClr val="282828"/>
                </a:solidFill>
                <a:latin typeface="Arial"/>
              </a:rPr>
              <a:t>• Mẫu thử nghiệm công khai: </a:t>
            </a:r>
            <a:r>
              <a:rPr sz="1150">
                <a:solidFill>
                  <a:srgbClr val="282828"/>
                </a:solidFill>
                <a:latin typeface="Arial"/>
              </a:rPr>
              <a:t>Ảnh kiểm thử được chọn theo tiêu chí khách quan in rõ trong notebook: trường hợp ác tính được phân loại đúng với độ tin cậy cao nhất (idx 6, p = 0.884).</a:t>
            </a:r>
          </a:p>
          <a:p>
            <a:pPr>
              <a:lnSpc>
                <a:spcPct val="115000"/>
              </a:lnSpc>
              <a:spcAft>
                <a:spcPts val="700"/>
              </a:spcAft>
            </a:pPr>
            <a:r>
              <a:rPr b="1" sz="1150">
                <a:solidFill>
                  <a:srgbClr val="282828"/>
                </a:solidFill>
                <a:latin typeface="Arial"/>
              </a:rPr>
              <a:t>• Độ trung thực tính toán: </a:t>
            </a:r>
            <a:r>
              <a:rPr sz="1150">
                <a:solidFill>
                  <a:srgbClr val="282828"/>
                </a:solidFill>
                <a:latin typeface="Arial"/>
              </a:rPr>
              <a:t>Sai lệch giữa đặc trưng trích xuất LIVE và tensor precompute: tối đa 1.47 × 10⁻⁸.</a:t>
            </a:r>
          </a:p>
        </p:txBody>
      </p:sp>
      <p:sp>
        <p:nvSpPr>
          <p:cNvPr id="10" name="Rounded Rectangle 9"/>
          <p:cNvSpPr/>
          <p:nvPr/>
        </p:nvSpPr>
        <p:spPr>
          <a:xfrm>
            <a:off x="6217920" y="1417320"/>
            <a:ext cx="5242255" cy="4663440"/>
          </a:xfrm>
          <a:prstGeom prst="roundRect">
            <a:avLst/>
          </a:prstGeom>
          <a:solidFill>
            <a:srgbClr val="F6F9FC"/>
          </a:solidFill>
          <a:ln w="15240">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18488"/>
            <a:ext cx="4785055" cy="4261104"/>
          </a:xfrm>
          <a:prstGeom prst="rect">
            <a:avLst/>
          </a:prstGeom>
          <a:noFill/>
        </p:spPr>
        <p:txBody>
          <a:bodyPr wrap="square" lIns="0" rIns="0" tIns="0" bIns="0">
            <a:spAutoFit/>
          </a:bodyPr>
          <a:lstStyle/>
          <a:p>
            <a:pPr>
              <a:spcAft>
                <a:spcPts val="1000"/>
              </a:spcAft>
              <a:defRPr sz="1300" b="1">
                <a:solidFill>
                  <a:srgbClr val="1F4E79"/>
                </a:solidFill>
                <a:latin typeface="Arial"/>
              </a:defRPr>
            </a:pPr>
            <a:r>
              <a:t>Video Dự phòng &amp; Khả năng Chuyển giao</a:t>
            </a:r>
          </a:p>
          <a:p>
            <a:pPr>
              <a:lnSpc>
                <a:spcPct val="115000"/>
              </a:lnSpc>
              <a:spcAft>
                <a:spcPts val="700"/>
              </a:spcAft>
            </a:pPr>
            <a:r>
              <a:rPr b="1" sz="1150">
                <a:solidFill>
                  <a:srgbClr val="282828"/>
                </a:solidFill>
                <a:latin typeface="Arial"/>
              </a:rPr>
              <a:t>• Video minh họa (demo_defense_backup.mp4): </a:t>
            </a:r>
            <a:r>
              <a:rPr sz="1150">
                <a:solidFill>
                  <a:srgbClr val="282828"/>
                </a:solidFill>
                <a:latin typeface="Arial"/>
              </a:rPr>
              <a:t>Thời lượng đúng 104 giây, độ phân giải nét cao, có phụ đề tiếng Việt rõ ràng, phòng ngừa sự cố mạng hoặc gián đoạn kỹ thuật tại phòng bảo vệ.</a:t>
            </a:r>
          </a:p>
          <a:p>
            <a:pPr>
              <a:lnSpc>
                <a:spcPct val="115000"/>
              </a:lnSpc>
              <a:spcAft>
                <a:spcPts val="700"/>
              </a:spcAft>
            </a:pPr>
            <a:r>
              <a:rPr b="1" sz="1150">
                <a:solidFill>
                  <a:srgbClr val="282828"/>
                </a:solidFill>
                <a:latin typeface="Arial"/>
              </a:rPr>
              <a:t>• Script tái tạo (render_demo_video.py): </a:t>
            </a:r>
            <a:r>
              <a:rPr sz="1150">
                <a:solidFill>
                  <a:srgbClr val="282828"/>
                </a:solidFill>
                <a:latin typeface="Arial"/>
              </a:rPr>
              <a:t>Tự động render lại video từ đầu khi có bất kỳ thay đổi nào trong mã nguồn pipeline.</a:t>
            </a:r>
          </a:p>
          <a:p>
            <a:pPr>
              <a:lnSpc>
                <a:spcPct val="115000"/>
              </a:lnSpc>
              <a:spcAft>
                <a:spcPts val="700"/>
              </a:spcAft>
            </a:pPr>
            <a:r>
              <a:rPr b="1" sz="1150">
                <a:solidFill>
                  <a:srgbClr val="282828"/>
                </a:solidFill>
                <a:latin typeface="Arial"/>
              </a:rPr>
              <a:t>• Mã nguồn mở độc lập: </a:t>
            </a:r>
            <a:r>
              <a:rPr sz="1150">
                <a:solidFill>
                  <a:srgbClr val="282828"/>
                </a:solidFill>
                <a:latin typeface="Arial"/>
              </a:rPr>
              <a:t>Toàn bộ tài nguyên demo nằm trong thư mục notebooks/ của repository GitHub, có thể clone và chạy lại trên bất kỳ máy tính nào có Python 3.10.</a:t>
            </a:r>
          </a:p>
          <a:p>
            <a:pPr>
              <a:lnSpc>
                <a:spcPct val="115000"/>
              </a:lnSpc>
              <a:spcAft>
                <a:spcPts val="700"/>
              </a:spcAft>
            </a:pPr>
            <a:r>
              <a:rPr b="1" sz="1150">
                <a:solidFill>
                  <a:srgbClr val="282828"/>
                </a:solidFill>
                <a:latin typeface="Arial"/>
              </a:rPr>
              <a:t>• Tính tương thích phần mềm: </a:t>
            </a:r>
            <a:r>
              <a:rPr sz="1150">
                <a:solidFill>
                  <a:srgbClr val="282828"/>
                </a:solidFill>
                <a:latin typeface="Arial"/>
              </a:rPr>
              <a:t>Được kiểm thử thành công trên cả môi trường JupyterLab, VSCode Notebook và terminal console.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